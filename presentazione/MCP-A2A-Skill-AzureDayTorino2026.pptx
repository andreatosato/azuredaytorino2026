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Obiettivo: distinguere strumento, delega e procedura. BASIC mostra tre esempi isolati; ADVANCE li combina in un caso Commerce. Tutto e implementato in C# con Microsoft Agent Framework e Aspire locale. Nessun benchmark o promessa di risparmio.
Fonti:
https://modelcontextprotocol.io/docs/learn/architecture
https://a2a-protocol.org/latest/specification/
https://agentskills.io/specification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MCP: quale strumento uso? A2A: a quale agente delego? Skill: quale procedura seguo? Non sono tre sostituti. In BASIC si osservano separatamente; in ADVANCE collaborano.
Fonti:
https://modelcontextprotocol.io/docs/learn/architecture
https://a2a-protocol.org/latest/specification/
https://agentskills.io/specification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Due gruppi indipendenti nella solution: Basic e Advance. BASIC contiene Basic.McpServer, Basic.A2A, Basic.Skill e Basic.Orchestrator: il suo unico dato meteo e Torino/pioggia/14 C. Basic.AppHost avvia tre processi, senza Commerce. Advance.AppHost avvia UI Commerce, agente logistico, server MCP e API mock. Le due dashboard sono localhost:15018 e localhost:15019; le UI sono localhost:5074 e localhost:5159. Shared.Hosting e Shared.ServiceDefaults contengono solo infrastruttura comune, non dati o logica delle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MCP e un protocollo per esporre e invocare strumenti. Il server meteo e codice C#, senza modello. In BASIC il client effettua discovery e seleziona get_weather. L agente usa il tool sul server HTTP reale. Il mock conosce soltanto Torino: una citta sconosciuta produce un errore esplicito.
Fonti:
https://modelcontextprotocol.io/docs/learn/architecture
https://learn.microsoft.com/agent-framework/agents/tools/local-mcp-tools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Avvia Basic.AppHost, apri localhost:5074 e scegli MCP. Mostra Basic.Orchestrator\McpDemo.cs e Basic.McpServer\WeatherTools.cs. Il client scopre un solo tool, get_weather. Il server usa Basic.Data\WeatherTool.cs, con Torino/pioggia/14 C in memoria. Nessun modello nel server e nessuna API 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A2A e un protocollo fra agenti. Il pattern scelto e delega con ritorno, non handoff o routing intelligente. Il principale legge la Agent Card, invia una richiesta allo specialista e presenta il risultato. In BASIC lo specialista di viaggio usa un tool meteo locale; in ADVANCE lo specialista logistico usa MCP.
Fonti:
https://a2a-protocol.org/latest/specification/
https://learn.microsoft.com/agent-framework/hosting/self-hosting/a2a/dotnet
https://learn.microsoft.com/agent-framework/migration-guide/agent-to-agent-sdk-v1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BASIC scegli A2A. Mostra Basic.Orchestrator\A2ADemo.cs, Basic.A2A\TravelTipsAgent.cs e Basic.A2A\Program.cs. La card travel e localhost:5131/cards/travel. Lo specialista usa il meteo locale in memoria: nessun client MCP e nessun Commerce. Il principale riceve il risultato e risponde.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Una Skill e una cartella con SKILL.md, metadati name e description e istruzioni Markdown. AgentSkillsProvider scopre i metadati e consente al modello di caricare la procedura. Nessun server Skill o script executor. Il caricamento del Markdown locale fidato e autorizzato nel codice. Una Skill guida ma non inventa i fatti.
Fonti:
https://learn.microsoft.com/agent-framework/agents/skills
https://agentskills.io/specification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BASIC scegli Skill e chiedi un briefing per Torino senza fornire il meteo. Mostra Basic.Skill\SkillDemo.cs, skills\base\city-briefing\SKILL.md e CityBriefingTools.cs. AgentSkillsProvider carica il Markdown; il modello segue la procedura e chiama get_weather, get_packing_list e get_travel_alerts, registrati come funzioni C# locali. Meteo, due cose da portare e una precauzione sono mock in memoria. La Skill non esegue codice e non e un server MCP o agente A2A. La sequenza e guidata dal modello, non imposta da una pipeline C#. Se manca la citta la procedura chiede di specificarla; solo Torino e supportata.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Passa ad ADVANCE su http://localhost:5159. Invia il prompt precompilato per ORD-1042. Il clock dello scenario resta fisso al 5 ottobre 2026 alle 09:00 UTC+02:00, indipendentemente dalla data del PC. Le chiamate usano il modello reale e consumano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mock Commerce espone soltanto GET /orders/{id} e GET /delivery-options?orderId=... . Il server MCP espone get_order e get_delivery_options; lo specialista A2A li invoca tramite MCP. ORD-1042 e in ritardo. Deposito gratuito oggi 14-18 con documento; punto di ritiro domani 16-18 a 4 EUR, oltre la scadenza. Nessuna prenotazione.
Fonti:
https://modelcontextprotocol.io/docs/learn/architecture
https://learn.microsoft.com/agent-framework/agents/tools/local-mcp-tools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principale deve riferire i fatti letti dallo specialista, proporre il deposito gratuito entro la scadenza e chiedere se il cliente puo raggiungerlo. Non deve dichiarare prenotazioni, conferme o modifiche. Le API sono di sola lettura. Errori e dati mancanti non autorizzano a inventare alternative.
Fonti:
https://modelcontextprotocol.io/docs/learn/architecture
https://learn.microsoft.com/agent-framework/agents/skills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Questo e il terzo ruolo del percorso ADVANCE, non una demo Commerce separata. LogisticsAgent espone get_order e get_delivery_options al suo modello; i wrapper usano il client MCP ufficiale per invocare i tool remoti. Il server legge le due API mock. In BASIC il client effettua anche discovery dei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Questo e il secondo ruolo del percorso ADVANCE. CommerceDemo espone delegate_logistics come tool al modello principale. La Skill gli indica di usarlo. Il tool legge cards/logistics e usa il client A2A ufficiale. LogisticsAgent esegue le letture MCP e restituisce i fatti al principale.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Questo e il primo ruolo del percorso ADVANCE. AgentSkillsProvider scopre commerce-assistance e il modello carica SKILL.md. La procedura gli indica di delegare, trattare il risultato come dati e non prenotare. Se manca il numero di ordine, puo chiederlo senza delegare. Il principale non possiede i tool del mock.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Riepilogo di una sola esecuzione ADVANCE. MCP fornisce strumenti di lettura allo specialista. A2A collega principale e specialista. Skill fornisce la procedura al principale. La risposta finale e sempre del principale. Non sono tre varianti alternative di 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VS Code usa F5 BASIC - Aspire oppure ADVANCE - Aspire. BASIC avvia soltanto Basic.Orchestrator, Basic.McpServer e Basic.A2A; Skill e caricata nello stesso processo del principale. ADVANCE avvia Advance.Commerce, Advance.A2A, Advance.McpServer e Advance.MockApi. Le due dashboard hanno porte differenti e i gruppi possono essere avviati insieme. I diagrammi della UI sono esplicativi, non tracce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Controllare input, dipendenze e configurazione senza allargare la demo. Gli ingressi validano richieste non vuote fino a 2000 caratteri. Errori HTTP e ProblemDetails sono visibili nella UI; i log Aspire includono il traceId. La risorsa Foundry usa Entra con AzureCliCredential: niente chiavi o token nel repository. GPT-6 SOL usa reasoning_effort=none per i tool su Chat Completions.
Fonti:
https://modelcontextprotocol.io/docs/learn/architecture
https://learn.microsoft.com/agent-framework/agents/skills
https://aspire.dev/fundamentals/telemetry/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Chiudi ricordando le due pagine: BASIC per isolare le tre tecnologie, ADVANCE per combinarle. Le demo sono implementate. La UI usa ASP.NET Core con HTML/CSS/JavaScript del browser, senza Node, npm o frontend separato. Le richieste sono indipendenti e le API sono di sola lettura.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Fonti ufficiali consultate il 5 ottobre 2026. Le demo BASIC e ADVANCE sono implementate e la presentazione e stata riallineata il 6 ottobre. Per comandi di avvio e file effettivi seguire README.md della solution. Non si riportano benchmark del modello.
Fonti:
https://modelcontextprotocol.io/docs/learn/architecture
https://learn.microsoft.com/agent-framework/agents/tools/local-mcp-tools
https://a2a-protocol.org/latest/specification/
https://learn.microsoft.com/agent-framework/hosting/self-hosting/a2a/dotnet
https://learn.microsoft.com/agent-framework/migration-guide/agent-to-agent-sdk-v1
https://learn.microsoft.com/agent-framework/agents/skills
https://agentskills.io/specification
https://aspire.dev/fundamentals/telemetry/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docs/learn/architecture" TargetMode="External"/><Relationship Id="rId2" Type="http://schemas.openxmlformats.org/officeDocument/2006/relationships/hyperlink" Target="https://a2a-protocol.org/latest/specification/" TargetMode="External"/><Relationship Id="rId3" Type="http://schemas.openxmlformats.org/officeDocument/2006/relationships/hyperlink" Target="https://agentskills.io/specification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docs/learn/architecture" TargetMode="External"/><Relationship Id="rId2" Type="http://schemas.openxmlformats.org/officeDocument/2006/relationships/hyperlink" Target="https://a2a-protocol.org/latest/specification/" TargetMode="External"/><Relationship Id="rId3" Type="http://schemas.openxmlformats.org/officeDocument/2006/relationships/hyperlink" Target="https://agentskills.io/specification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spire.dev/fundamentals/telemetry/" TargetMode="External"/><Relationship Id="rId2" Type="http://schemas.openxmlformats.org/officeDocument/2006/relationships/hyperlink" Target="https://learn.microsoft.com/agent-framework/hosting/self-hosting/a2a/dotnet" TargetMode="External"/><Relationship Id="rId3" Type="http://schemas.openxmlformats.org/officeDocument/2006/relationships/hyperlink" Target="https://learn.microsoft.com/agent-framework/agents/skill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docs/learn/architecture" TargetMode="External"/><Relationship Id="rId2" Type="http://schemas.openxmlformats.org/officeDocument/2006/relationships/hyperlink" Target="https://learn.microsoft.com/agent-framework/agents/tools/local-mcp-tool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docs/learn/architecture" TargetMode="External"/><Relationship Id="rId2" Type="http://schemas.openxmlformats.org/officeDocument/2006/relationships/hyperlink" Target="https://learn.microsoft.com/agent-framework/agents/tools/local-mcp-tool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2a-protocol.org/latest/specification/" TargetMode="External"/><Relationship Id="rId2" Type="http://schemas.openxmlformats.org/officeDocument/2006/relationships/hyperlink" Target="https://learn.microsoft.com/agent-framework/hosting/self-hosting/a2a/dotnet" TargetMode="External"/><Relationship Id="rId3" Type="http://schemas.openxmlformats.org/officeDocument/2006/relationships/hyperlink" Target="https://learn.microsoft.com/agent-framework/migration-guide/agent-to-agent-sdk-v1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2a-protocol.org/latest/specification/" TargetMode="External"/><Relationship Id="rId2" Type="http://schemas.openxmlformats.org/officeDocument/2006/relationships/hyperlink" Target="https://learn.microsoft.com/agent-framework/hosting/self-hosting/a2a/dotne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agent-framework/agents/skills" TargetMode="External"/><Relationship Id="rId2" Type="http://schemas.openxmlformats.org/officeDocument/2006/relationships/hyperlink" Target="https://agentskills.io/specificati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agent-framework/agents/skills" TargetMode="External"/><Relationship Id="rId2" Type="http://schemas.openxmlformats.org/officeDocument/2006/relationships/hyperlink" Target="https://agentskills.io/specificati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docs/learn/architecture" TargetMode="External"/><Relationship Id="rId2" Type="http://schemas.openxmlformats.org/officeDocument/2006/relationships/hyperlink" Target="https://a2a-protocol.org/latest/specification/" TargetMode="External"/><Relationship Id="rId3" Type="http://schemas.openxmlformats.org/officeDocument/2006/relationships/hyperlink" Target="https://learn.microsoft.com/agent-framework/agents/skill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docs/learn/architecture" TargetMode="External"/><Relationship Id="rId2" Type="http://schemas.openxmlformats.org/officeDocument/2006/relationships/hyperlink" Target="https://learn.microsoft.com/agent-framework/agents/tools/local-mcp-tool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docs/learn/architecture" TargetMode="External"/><Relationship Id="rId2" Type="http://schemas.openxmlformats.org/officeDocument/2006/relationships/hyperlink" Target="https://learn.microsoft.com/agent-framework/agents/skill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docs/learn/architecture" TargetMode="External"/><Relationship Id="rId2" Type="http://schemas.openxmlformats.org/officeDocument/2006/relationships/hyperlink" Target="https://learn.microsoft.com/agent-framework/agents/tools/local-mcp-tool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a2a-protocol.org/latest/specification/" TargetMode="External"/><Relationship Id="rId2" Type="http://schemas.openxmlformats.org/officeDocument/2006/relationships/hyperlink" Target="https://learn.microsoft.com/agent-framework/hosting/self-hosting/a2a/dotne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agent-framework/agents/skills" TargetMode="External"/><Relationship Id="rId2" Type="http://schemas.openxmlformats.org/officeDocument/2006/relationships/hyperlink" Target="https://agentskills.io/specificati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docs/learn/architecture" TargetMode="External"/><Relationship Id="rId2" Type="http://schemas.openxmlformats.org/officeDocument/2006/relationships/hyperlink" Target="https://a2a-protocol.org/latest/specification/" TargetMode="External"/><Relationship Id="rId3" Type="http://schemas.openxmlformats.org/officeDocument/2006/relationships/hyperlink" Target="https://learn.microsoft.com/agent-framework/agents/skill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aspire.dev/fundamentals/telemetry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docs/learn/architecture" TargetMode="External"/><Relationship Id="rId2" Type="http://schemas.openxmlformats.org/officeDocument/2006/relationships/hyperlink" Target="https://learn.microsoft.com/agent-framework/agents/skills" TargetMode="External"/><Relationship Id="rId3" Type="http://schemas.openxmlformats.org/officeDocument/2006/relationships/hyperlink" Target="https://aspire.dev/fundamentals/telemetry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docs/learn/architecture" TargetMode="External"/><Relationship Id="rId2" Type="http://schemas.openxmlformats.org/officeDocument/2006/relationships/hyperlink" Target="https://a2a-protocol.org/latest/specification/" TargetMode="External"/><Relationship Id="rId3" Type="http://schemas.openxmlformats.org/officeDocument/2006/relationships/hyperlink" Target="https://learn.microsoft.com/agent-framework/agents/skill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docs/learn/architecture" TargetMode="External"/><Relationship Id="rId2" Type="http://schemas.openxmlformats.org/officeDocument/2006/relationships/hyperlink" Target="https://learn.microsoft.com/agent-framework/agents/tools/local-mcp-tools" TargetMode="External"/><Relationship Id="rId3" Type="http://schemas.openxmlformats.org/officeDocument/2006/relationships/hyperlink" Target="https://a2a-protocol.org/latest/specification/" TargetMode="External"/><Relationship Id="rId4" Type="http://schemas.openxmlformats.org/officeDocument/2006/relationships/hyperlink" Target="https://modelcontextprotocol.io/docs/learn/architecture" TargetMode="External"/><Relationship Id="rId5" Type="http://schemas.openxmlformats.org/officeDocument/2006/relationships/hyperlink" Target="https://modelcontextprotocol.io/docs/learn/architecture" TargetMode="External"/><Relationship Id="rId6" Type="http://schemas.openxmlformats.org/officeDocument/2006/relationships/hyperlink" Target="https://learn.microsoft.com/agent-framework/agents/tools/local-mcp-tools" TargetMode="External"/><Relationship Id="rId7" Type="http://schemas.openxmlformats.org/officeDocument/2006/relationships/hyperlink" Target="https://learn.microsoft.com/agent-framework/agents/tools/local-mcp-tools" TargetMode="External"/><Relationship Id="rId8" Type="http://schemas.openxmlformats.org/officeDocument/2006/relationships/hyperlink" Target="https://a2a-protocol.org/latest/specification/" TargetMode="External"/><Relationship Id="rId9" Type="http://schemas.openxmlformats.org/officeDocument/2006/relationships/hyperlink" Target="https://a2a-protocol.org/latest/specification/" TargetMode="External"/><Relationship Id="rId10" Type="http://schemas.openxmlformats.org/officeDocument/2006/relationships/hyperlink" Target="https://learn.microsoft.com/agent-framework/hosting/self-hosting/a2a/dotnet" TargetMode="External"/><Relationship Id="rId11" Type="http://schemas.openxmlformats.org/officeDocument/2006/relationships/hyperlink" Target="https://learn.microsoft.com/agent-framework/hosting/self-hosting/a2a/dotnet" TargetMode="External"/><Relationship Id="rId12" Type="http://schemas.openxmlformats.org/officeDocument/2006/relationships/hyperlink" Target="https://learn.microsoft.com/agent-framework/migration-guide/agent-to-agent-sdk-v1" TargetMode="External"/><Relationship Id="rId13" Type="http://schemas.openxmlformats.org/officeDocument/2006/relationships/hyperlink" Target="https://learn.microsoft.com/agent-framework/migration-guide/agent-to-agent-sdk-v1" TargetMode="External"/><Relationship Id="rId14" Type="http://schemas.openxmlformats.org/officeDocument/2006/relationships/hyperlink" Target="https://learn.microsoft.com/agent-framework/agents/skills" TargetMode="External"/><Relationship Id="rId15" Type="http://schemas.openxmlformats.org/officeDocument/2006/relationships/hyperlink" Target="https://learn.microsoft.com/agent-framework/agents/skills" TargetMode="External"/><Relationship Id="rId16" Type="http://schemas.openxmlformats.org/officeDocument/2006/relationships/hyperlink" Target="https://agentskills.io/specification" TargetMode="External"/><Relationship Id="rId17" Type="http://schemas.openxmlformats.org/officeDocument/2006/relationships/hyperlink" Target="https://agentskills.io/specification" TargetMode="External"/><Relationship Id="rId18" Type="http://schemas.openxmlformats.org/officeDocument/2006/relationships/hyperlink" Target="https://aspire.dev/fundamentals/telemetry/" TargetMode="External"/><Relationship Id="rId19" Type="http://schemas.openxmlformats.org/officeDocument/2006/relationships/hyperlink" Target="https://aspire.dev/fundamentals/telemetry/" TargetMode="External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" name="Shape 1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4" name="Text 2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5" name="Text 3">
            <a:hlinkClick r:id="rId1" tooltip=""/>
          </p:cNvPr>
          <p:cNvSpPr/>
          <p:nvPr>
          </p:nvPr>
        </p:nvSpPr>
        <p:spPr>
          <a:xfrm>
            <a:off x="361188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· architettura ↗</a:t>
            </a:r>
            <a:endParaRPr lang="en-US" sz="940" dirty="0"/>
          </a:p>
        </p:txBody>
      </p:sp>
      <p:sp>
        <p:nvSpPr>
          <p:cNvPr id="6" name="Text 4">
            <a:hlinkClick r:id="rId2" tooltip=""/>
          </p:cNvPr>
          <p:cNvSpPr/>
          <p:nvPr>
          </p:nvPr>
        </p:nvSpPr>
        <p:spPr>
          <a:xfrm>
            <a:off x="598932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A2A · specifica ↗</a:t>
            </a:r>
            <a:endParaRPr lang="en-US" sz="940" dirty="0"/>
          </a:p>
        </p:txBody>
      </p:sp>
      <p:sp>
        <p:nvSpPr>
          <p:cNvPr id="7" name="Text 5">
            <a:hlinkClick r:id="rId3" tooltip=""/>
          </p:cNvPr>
          <p:cNvSpPr/>
          <p:nvPr>
          </p:nvPr>
        </p:nvSpPr>
        <p:spPr>
          <a:xfrm>
            <a:off x="836676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Skills · specifica ↗</a:t>
            </a:r>
            <a:endParaRPr lang="en-US" sz="940" dirty="0"/>
          </a:p>
        </p:txBody>
      </p:sp>
      <p:sp>
        <p:nvSpPr>
          <p:cNvPr id="8" name="Text 6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20</a:t>
            </a:r>
            <a:endParaRPr lang="en-US" sz="950" dirty="0"/>
          </a:p>
        </p:txBody>
      </p:sp>
      <p:sp>
        <p:nvSpPr>
          <p:cNvPr id="10" name="Text 7">
          </p:cNvPr>
          <p:cNvSpPr/>
          <p:nvPr>
          </p:nvPr>
        </p:nvSpPr>
        <p:spPr>
          <a:xfrm>
            <a:off x="594360" y="411480"/>
            <a:ext cx="9601200" cy="27432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 · BASIC + ADVANCE</a:t>
            </a:r>
            <a:endParaRPr lang="en-US" sz="1250" dirty="0"/>
          </a:p>
        </p:txBody>
      </p:sp>
      <p:sp>
        <p:nvSpPr>
          <p:cNvPr id="11" name="Text 8">
          </p:cNvPr>
          <p:cNvSpPr/>
          <p:nvPr>
          </p:nvPr>
        </p:nvSpPr>
        <p:spPr>
          <a:xfrm>
            <a:off x="594360" y="1124712"/>
            <a:ext cx="11003280" cy="82296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server, A2A, Skill,</a:t>
            </a:r>
            <a:endParaRPr lang="en-US" sz="4300" dirty="0"/>
          </a:p>
        </p:txBody>
      </p:sp>
      <p:sp>
        <p:nvSpPr>
          <p:cNvPr id="12" name="Text 9">
          </p:cNvPr>
          <p:cNvSpPr/>
          <p:nvPr>
          </p:nvPr>
        </p:nvSpPr>
        <p:spPr>
          <a:xfrm>
            <a:off x="594360" y="2039112"/>
            <a:ext cx="11003280" cy="84124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mamma mia che</a:t>
            </a:r>
            <a:endParaRPr lang="en-US" sz="4800" dirty="0"/>
          </a:p>
        </p:txBody>
      </p:sp>
      <p:sp>
        <p:nvSpPr>
          <p:cNvPr id="13" name="Text 10">
          </p:cNvPr>
          <p:cNvSpPr/>
          <p:nvPr>
          </p:nvPr>
        </p:nvSpPr>
        <p:spPr>
          <a:xfrm>
            <a:off x="594360" y="2926080"/>
            <a:ext cx="11003280" cy="94183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58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 di testAI!</a:t>
            </a:r>
            <a:endParaRPr lang="en-US" sz="5800" dirty="0"/>
          </a:p>
        </p:txBody>
      </p:sp>
      <p:sp>
        <p:nvSpPr>
          <p:cNvPr id="14" name="Text 11">
          </p:cNvPr>
          <p:cNvSpPr/>
          <p:nvPr>
          </p:nvPr>
        </p:nvSpPr>
        <p:spPr>
          <a:xfrm>
            <a:off x="594360" y="4251960"/>
            <a:ext cx="10789920" cy="51206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demo, un concetto, pochi file</a:t>
            </a:r>
            <a:endParaRPr lang="en-US" sz="2200" dirty="0"/>
          </a:p>
        </p:txBody>
      </p:sp>
      <p:sp>
        <p:nvSpPr>
          <p:cNvPr id="15" name="Shape 12">
          </p:cNvPr>
          <p:cNvSpPr/>
          <p:nvPr>
          </p:nvPr>
        </p:nvSpPr>
        <p:spPr>
          <a:xfrm>
            <a:off x="594360" y="5166360"/>
            <a:ext cx="2542032" cy="585216"/>
          </a:xfrm>
          <a:prstGeom prst="roundRect">
            <a:avLst>
              <a:gd name="adj" fmla="val 20313"/>
            </a:avLst>
          </a:prstGeom>
          <a:solidFill>
            <a:srgbClr val="151F35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16" name="Text 13">
          </p:cNvPr>
          <p:cNvSpPr/>
          <p:nvPr>
          </p:nvPr>
        </p:nvSpPr>
        <p:spPr>
          <a:xfrm>
            <a:off x="758952" y="5312664"/>
            <a:ext cx="221284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· ACCEDE</a:t>
            </a:r>
            <a:endParaRPr lang="en-US" sz="1500" dirty="0"/>
          </a:p>
        </p:txBody>
      </p:sp>
      <p:sp>
        <p:nvSpPr>
          <p:cNvPr id="17" name="Shape 14">
          </p:cNvPr>
          <p:cNvSpPr/>
          <p:nvPr>
          </p:nvPr>
        </p:nvSpPr>
        <p:spPr>
          <a:xfrm>
            <a:off x="3392424" y="5166360"/>
            <a:ext cx="2542032" cy="585216"/>
          </a:xfrm>
          <a:prstGeom prst="roundRect">
            <a:avLst>
              <a:gd name="adj" fmla="val 20313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18" name="Text 15">
          </p:cNvPr>
          <p:cNvSpPr/>
          <p:nvPr>
          </p:nvPr>
        </p:nvSpPr>
        <p:spPr>
          <a:xfrm>
            <a:off x="3557016" y="5312664"/>
            <a:ext cx="221284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A2A · DELEGA</a:t>
            </a:r>
            <a:endParaRPr lang="en-US" sz="1500" dirty="0"/>
          </a:p>
        </p:txBody>
      </p:sp>
      <p:sp>
        <p:nvSpPr>
          <p:cNvPr id="19" name="Shape 16">
          </p:cNvPr>
          <p:cNvSpPr/>
          <p:nvPr>
          </p:nvPr>
        </p:nvSpPr>
        <p:spPr>
          <a:xfrm>
            <a:off x="6190488" y="5166360"/>
            <a:ext cx="2542032" cy="585216"/>
          </a:xfrm>
          <a:prstGeom prst="roundRect">
            <a:avLst>
              <a:gd name="adj" fmla="val 20313"/>
            </a:avLst>
          </a:prstGeom>
          <a:solidFill>
            <a:srgbClr val="151F35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20" name="Text 17">
          </p:cNvPr>
          <p:cNvSpPr/>
          <p:nvPr>
          </p:nvPr>
        </p:nvSpPr>
        <p:spPr>
          <a:xfrm>
            <a:off x="6355080" y="5312664"/>
            <a:ext cx="221284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 · GUIDA</a:t>
            </a:r>
            <a:endParaRPr lang="en-US" sz="1500" dirty="0"/>
          </a:p>
        </p:txBody>
      </p:sp>
      <p:sp>
        <p:nvSpPr>
          <p:cNvPr id="21" name="Text 18">
          </p:cNvPr>
          <p:cNvSpPr/>
          <p:nvPr>
          </p:nvPr>
        </p:nvSpPr>
        <p:spPr>
          <a:xfrm>
            <a:off x="594360" y="5998464"/>
            <a:ext cx="11003280" cy="22860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Framework C#  ·  ASP.NET Core  ·  Aspire locale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BUSSOLA</a:t>
            </a:r>
            <a:endParaRPr lang="en-US" sz="1100" dirty="0"/>
          </a:p>
        </p:txBody>
      </p:sp>
      <p:sp>
        <p:nvSpPr>
          <p:cNvPr id="4" name="Text 2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Strumento, delega, procedura</a:t>
            </a:r>
            <a:endParaRPr lang="en-US" sz="3150" dirty="0"/>
          </a:p>
        </p:txBody>
      </p:sp>
      <p:sp>
        <p:nvSpPr>
          <p:cNvPr id="5" name="Text 3">
          </p:cNvPr>
          <p:cNvSpPr/>
          <p:nvPr>
          </p:nvPr>
        </p:nvSpPr>
        <p:spPr>
          <a:xfrm>
            <a:off x="594360" y="1362456"/>
            <a:ext cx="11003280" cy="38404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 domande diverse. Non tre sostituti.</a:t>
            </a:r>
            <a:endParaRPr lang="en-US" sz="1730" dirty="0"/>
          </a:p>
        </p:txBody>
      </p:sp>
      <p:sp>
        <p:nvSpPr>
          <p:cNvPr id="6" name="Shape 4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7" name="Text 5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8" name="Text 6">
            <a:hlinkClick r:id="rId1" tooltip=""/>
          </p:cNvPr>
          <p:cNvSpPr/>
          <p:nvPr>
          </p:nvPr>
        </p:nvSpPr>
        <p:spPr>
          <a:xfrm>
            <a:off x="361188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· architettura ↗</a:t>
            </a:r>
            <a:endParaRPr lang="en-US" sz="940" dirty="0"/>
          </a:p>
        </p:txBody>
      </p:sp>
      <p:sp>
        <p:nvSpPr>
          <p:cNvPr id="9" name="Text 7">
            <a:hlinkClick r:id="rId2" tooltip=""/>
          </p:cNvPr>
          <p:cNvSpPr/>
          <p:nvPr>
          </p:nvPr>
        </p:nvSpPr>
        <p:spPr>
          <a:xfrm>
            <a:off x="598932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A2A · specifica ↗</a:t>
            </a:r>
            <a:endParaRPr lang="en-US" sz="940" dirty="0"/>
          </a:p>
        </p:txBody>
      </p:sp>
      <p:sp>
        <p:nvSpPr>
          <p:cNvPr id="10" name="Text 8">
            <a:hlinkClick r:id="rId3" tooltip=""/>
          </p:cNvPr>
          <p:cNvSpPr/>
          <p:nvPr>
          </p:nvPr>
        </p:nvSpPr>
        <p:spPr>
          <a:xfrm>
            <a:off x="836676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Skills · specifica ↗</a:t>
            </a:r>
            <a:endParaRPr lang="en-US" sz="940" dirty="0"/>
          </a:p>
        </p:txBody>
      </p:sp>
      <p:sp>
        <p:nvSpPr>
          <p:cNvPr id="11" name="Text 9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20</a:t>
            </a:r>
            <a:endParaRPr lang="en-US" sz="950" dirty="0"/>
          </a:p>
        </p:txBody>
      </p:sp>
      <p:sp>
        <p:nvSpPr>
          <p:cNvPr id="13" name="Shape 10">
          </p:cNvPr>
          <p:cNvSpPr/>
          <p:nvPr>
          </p:nvPr>
        </p:nvSpPr>
        <p:spPr>
          <a:xfrm>
            <a:off x="594360" y="1993392"/>
            <a:ext cx="3503168" cy="3538728"/>
          </a:xfrm>
          <a:prstGeom prst="roundRect">
            <a:avLst>
              <a:gd name="adj" fmla="val 3393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14" name="Shape 11">
          </p:cNvPr>
          <p:cNvSpPr/>
          <p:nvPr>
          </p:nvPr>
        </p:nvSpPr>
        <p:spPr>
          <a:xfrm>
            <a:off x="603504" y="2157984"/>
            <a:ext cx="41148" cy="3209544"/>
          </a:xfrm>
          <a:prstGeom prst="rect">
            <a:avLst>
              <a:gd name="adj" fmla="val 288889"/>
            </a:avLst>
          </a:prstGeom>
          <a:solidFill>
            <a:srgbClr val="FF784F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15" name="Text 12">
          </p:cNvPr>
          <p:cNvSpPr/>
          <p:nvPr>
          </p:nvPr>
        </p:nvSpPr>
        <p:spPr>
          <a:xfrm>
            <a:off x="822960" y="2231136"/>
            <a:ext cx="3045968" cy="26517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80" b="1" spc="110" kern="0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1080" dirty="0"/>
          </a:p>
        </p:txBody>
      </p:sp>
      <p:sp>
        <p:nvSpPr>
          <p:cNvPr id="16" name="Text 13">
          </p:cNvPr>
          <p:cNvSpPr/>
          <p:nvPr>
          </p:nvPr>
        </p:nvSpPr>
        <p:spPr>
          <a:xfrm>
            <a:off x="822960" y="2697480"/>
            <a:ext cx="3045968" cy="52120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Quale tool?</a:t>
            </a:r>
            <a:endParaRPr lang="en-US" sz="2500" dirty="0"/>
          </a:p>
        </p:txBody>
      </p:sp>
      <p:sp>
        <p:nvSpPr>
          <p:cNvPr id="17" name="Text 14">
          </p:cNvPr>
          <p:cNvSpPr/>
          <p:nvPr>
          </p:nvPr>
        </p:nvSpPr>
        <p:spPr>
          <a:xfrm>
            <a:off x="822960" y="3429000"/>
            <a:ext cx="3045968" cy="187452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Scopro una funzione.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invoco.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Leggo il risultato.</a:t>
            </a:r>
            <a:endParaRPr lang="en-US" sz="2000" dirty="0"/>
          </a:p>
        </p:txBody>
      </p:sp>
      <p:sp>
        <p:nvSpPr>
          <p:cNvPr id="18" name="Shape 15">
          </p:cNvPr>
          <p:cNvSpPr/>
          <p:nvPr>
          </p:nvPr>
        </p:nvSpPr>
        <p:spPr>
          <a:xfrm>
            <a:off x="4344416" y="1993392"/>
            <a:ext cx="3503168" cy="3538728"/>
          </a:xfrm>
          <a:prstGeom prst="roundRect">
            <a:avLst>
              <a:gd name="adj" fmla="val 3393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19" name="Shape 16">
          </p:cNvPr>
          <p:cNvSpPr/>
          <p:nvPr>
          </p:nvPr>
        </p:nvSpPr>
        <p:spPr>
          <a:xfrm>
            <a:off x="4353560" y="2157984"/>
            <a:ext cx="41148" cy="3209544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20" name="Text 17">
          </p:cNvPr>
          <p:cNvSpPr/>
          <p:nvPr>
          </p:nvPr>
        </p:nvSpPr>
        <p:spPr>
          <a:xfrm>
            <a:off x="4573016" y="2231136"/>
            <a:ext cx="3045968" cy="26517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80" b="1" spc="11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A2A</a:t>
            </a:r>
            <a:endParaRPr lang="en-US" sz="1080" dirty="0"/>
          </a:p>
        </p:txBody>
      </p:sp>
      <p:sp>
        <p:nvSpPr>
          <p:cNvPr id="21" name="Text 18">
          </p:cNvPr>
          <p:cNvSpPr/>
          <p:nvPr>
          </p:nvPr>
        </p:nvSpPr>
        <p:spPr>
          <a:xfrm>
            <a:off x="4573016" y="2697480"/>
            <a:ext cx="3045968" cy="52120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chi chiedo?</a:t>
            </a:r>
            <a:endParaRPr lang="en-US" sz="2500" dirty="0"/>
          </a:p>
        </p:txBody>
      </p:sp>
      <p:sp>
        <p:nvSpPr>
          <p:cNvPr id="22" name="Text 19">
          </p:cNvPr>
          <p:cNvSpPr/>
          <p:nvPr>
          </p:nvPr>
        </p:nvSpPr>
        <p:spPr>
          <a:xfrm>
            <a:off x="4573016" y="3429000"/>
            <a:ext cx="3045968" cy="187452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Delego a uno specialista.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Ricevo il suo contributo.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Rispondo io all’utente.</a:t>
            </a:r>
            <a:endParaRPr lang="en-US" sz="2000" dirty="0"/>
          </a:p>
        </p:txBody>
      </p:sp>
      <p:sp>
        <p:nvSpPr>
          <p:cNvPr id="23" name="Shape 20">
          </p:cNvPr>
          <p:cNvSpPr/>
          <p:nvPr>
          </p:nvPr>
        </p:nvSpPr>
        <p:spPr>
          <a:xfrm>
            <a:off x="8094472" y="1993392"/>
            <a:ext cx="3503168" cy="3538728"/>
          </a:xfrm>
          <a:prstGeom prst="roundRect">
            <a:avLst>
              <a:gd name="adj" fmla="val 3393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4" name="Shape 21">
          </p:cNvPr>
          <p:cNvSpPr/>
          <p:nvPr>
          </p:nvPr>
        </p:nvSpPr>
        <p:spPr>
          <a:xfrm>
            <a:off x="8103616" y="2157984"/>
            <a:ext cx="41148" cy="3209544"/>
          </a:xfrm>
          <a:prstGeom prst="rect">
            <a:avLst>
              <a:gd name="adj" fmla="val 288889"/>
            </a:avLst>
          </a:prstGeom>
          <a:solidFill>
            <a:srgbClr val="B49AFF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25" name="Text 22">
          </p:cNvPr>
          <p:cNvSpPr/>
          <p:nvPr>
          </p:nvPr>
        </p:nvSpPr>
        <p:spPr>
          <a:xfrm>
            <a:off x="8323072" y="2231136"/>
            <a:ext cx="3045968" cy="26517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80" b="1" spc="110" kern="0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</a:t>
            </a:r>
            <a:endParaRPr lang="en-US" sz="1080" dirty="0"/>
          </a:p>
        </p:txBody>
      </p:sp>
      <p:sp>
        <p:nvSpPr>
          <p:cNvPr id="26" name="Text 23">
          </p:cNvPr>
          <p:cNvSpPr/>
          <p:nvPr>
          </p:nvPr>
        </p:nvSpPr>
        <p:spPr>
          <a:xfrm>
            <a:off x="8323072" y="2697480"/>
            <a:ext cx="3045968" cy="52120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 procedo?</a:t>
            </a:r>
            <a:endParaRPr lang="en-US" sz="2500" dirty="0"/>
          </a:p>
        </p:txBody>
      </p:sp>
      <p:sp>
        <p:nvSpPr>
          <p:cNvPr id="27" name="Text 24">
          </p:cNvPr>
          <p:cNvSpPr/>
          <p:nvPr>
          </p:nvPr>
        </p:nvSpPr>
        <p:spPr>
          <a:xfrm>
            <a:off x="8323072" y="3429000"/>
            <a:ext cx="3045968" cy="187452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Carico istruzioni da file.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applico ai fatti.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 lo stesso agente.</a:t>
            </a:r>
            <a:endParaRPr lang="en-US" sz="2000" dirty="0"/>
          </a:p>
        </p:txBody>
      </p:sp>
      <p:sp>
        <p:nvSpPr>
          <p:cNvPr id="28" name="Shape 25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29" name="Text 26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accede · A2A delega · Skill guida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ASPIRE LOCALE · DUE DEMO WEB</a:t>
            </a:r>
            <a:endParaRPr lang="en-US" sz="1100" dirty="0"/>
          </a:p>
        </p:txBody>
      </p:sp>
      <p:sp>
        <p:nvSpPr>
          <p:cNvPr id="4" name="Text 2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e ADVANCE. Due AppHost.</a:t>
            </a:r>
            <a:endParaRPr lang="en-US" sz="3150" dirty="0"/>
          </a:p>
        </p:txBody>
      </p:sp>
      <p:sp>
        <p:nvSpPr>
          <p:cNvPr id="5" name="Text 3">
          </p:cNvPr>
          <p:cNvSpPr/>
          <p:nvPr>
          </p:nvPr>
        </p:nvSpPr>
        <p:spPr>
          <a:xfrm>
            <a:off x="594360" y="1362456"/>
            <a:ext cx="11003280" cy="38404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gruppi indipendenti: concetti isolati e Commerce integrato.</a:t>
            </a:r>
            <a:endParaRPr lang="en-US" sz="1730" dirty="0"/>
          </a:p>
        </p:txBody>
      </p:sp>
      <p:sp>
        <p:nvSpPr>
          <p:cNvPr id="6" name="Shape 4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7" name="Text 5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8" name="Text 6">
            <a:hlinkClick r:id="rId1" tooltip=""/>
          </p:cNvPr>
          <p:cNvSpPr/>
          <p:nvPr>
          </p:nvPr>
        </p:nvSpPr>
        <p:spPr>
          <a:xfrm>
            <a:off x="361188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Aspire · telemetria ↗</a:t>
            </a:r>
            <a:endParaRPr lang="en-US" sz="940" dirty="0"/>
          </a:p>
        </p:txBody>
      </p:sp>
      <p:sp>
        <p:nvSpPr>
          <p:cNvPr id="9" name="Text 7">
            <a:hlinkClick r:id="rId2" tooltip=""/>
          </p:cNvPr>
          <p:cNvSpPr/>
          <p:nvPr>
          </p:nvPr>
        </p:nvSpPr>
        <p:spPr>
          <a:xfrm>
            <a:off x="598932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hosting A2A ↗</a:t>
            </a:r>
            <a:endParaRPr lang="en-US" sz="940" dirty="0"/>
          </a:p>
        </p:txBody>
      </p:sp>
      <p:sp>
        <p:nvSpPr>
          <p:cNvPr id="10" name="Text 8">
            <a:hlinkClick r:id="rId3" tooltip=""/>
          </p:cNvPr>
          <p:cNvSpPr/>
          <p:nvPr>
          </p:nvPr>
        </p:nvSpPr>
        <p:spPr>
          <a:xfrm>
            <a:off x="836676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Skills ↗</a:t>
            </a:r>
            <a:endParaRPr lang="en-US" sz="940" dirty="0"/>
          </a:p>
        </p:txBody>
      </p:sp>
      <p:sp>
        <p:nvSpPr>
          <p:cNvPr id="11" name="Text 9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20</a:t>
            </a:r>
            <a:endParaRPr lang="en-US" sz="950" dirty="0"/>
          </a:p>
        </p:txBody>
      </p:sp>
      <p:sp>
        <p:nvSpPr>
          <p:cNvPr id="13" name="Shape 10">
          </p:cNvPr>
          <p:cNvSpPr/>
          <p:nvPr>
          </p:nvPr>
        </p:nvSpPr>
        <p:spPr>
          <a:xfrm>
            <a:off x="594360" y="1965960"/>
            <a:ext cx="11003280" cy="585216"/>
          </a:xfrm>
          <a:prstGeom prst="roundRect">
            <a:avLst>
              <a:gd name="adj" fmla="val 20313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14" name="Text 11">
          </p:cNvPr>
          <p:cNvSpPr/>
          <p:nvPr>
          </p:nvPr>
        </p:nvSpPr>
        <p:spPr>
          <a:xfrm>
            <a:off x="795528" y="2075688"/>
            <a:ext cx="10600944" cy="36576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Basic.AppHost / Advance.AppHost</a:t>
            </a:r>
            <a:endParaRPr lang="en-US" sz="2100" dirty="0"/>
          </a:p>
        </p:txBody>
      </p:sp>
      <p:sp>
        <p:nvSpPr>
          <p:cNvPr id="15" name="Shape 12">
          </p:cNvPr>
          <p:cNvSpPr/>
          <p:nvPr>
          </p:nvPr>
        </p:nvSpPr>
        <p:spPr>
          <a:xfrm>
            <a:off x="594360" y="2843784"/>
            <a:ext cx="5364480" cy="1828800"/>
          </a:xfrm>
          <a:prstGeom prst="roundRect">
            <a:avLst>
              <a:gd name="adj" fmla="val 6500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16" name="Text 13">
          </p:cNvPr>
          <p:cNvSpPr/>
          <p:nvPr>
          </p:nvPr>
        </p:nvSpPr>
        <p:spPr>
          <a:xfrm>
            <a:off x="795528" y="3035808"/>
            <a:ext cx="4962144" cy="26517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BASIC: POCHI DATI IN MEMORIA</a:t>
            </a:r>
            <a:endParaRPr lang="en-US" sz="1300" dirty="0"/>
          </a:p>
        </p:txBody>
      </p:sp>
      <p:sp>
        <p:nvSpPr>
          <p:cNvPr id="17" name="Text 14">
          </p:cNvPr>
          <p:cNvSpPr/>
          <p:nvPr>
          </p:nvPr>
        </p:nvSpPr>
        <p:spPr>
          <a:xfrm>
            <a:off x="795528" y="3584448"/>
            <a:ext cx="4962144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/ A2A / Skill / Orchestrator</a:t>
            </a:r>
            <a:endParaRPr lang="en-US" sz="1350" dirty="0"/>
          </a:p>
        </p:txBody>
      </p:sp>
      <p:sp>
        <p:nvSpPr>
          <p:cNvPr id="18" name="Text 15">
          </p:cNvPr>
          <p:cNvSpPr/>
          <p:nvPr>
          </p:nvPr>
        </p:nvSpPr>
        <p:spPr>
          <a:xfrm>
            <a:off x="795528" y="3986784"/>
            <a:ext cx="4962144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tool, un agente, una procedura.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Richiesta modificabile dal browser.</a:t>
            </a:r>
            <a:endParaRPr lang="en-US" sz="1550" dirty="0"/>
          </a:p>
        </p:txBody>
      </p:sp>
      <p:sp>
        <p:nvSpPr>
          <p:cNvPr id="19" name="Shape 16">
          </p:cNvPr>
          <p:cNvSpPr/>
          <p:nvPr>
          </p:nvPr>
        </p:nvSpPr>
        <p:spPr>
          <a:xfrm>
            <a:off x="6233160" y="2843784"/>
            <a:ext cx="5364480" cy="1828800"/>
          </a:xfrm>
          <a:prstGeom prst="roundRect">
            <a:avLst>
              <a:gd name="adj" fmla="val 6500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0" name="Text 17">
          </p:cNvPr>
          <p:cNvSpPr/>
          <p:nvPr>
          </p:nvPr>
        </p:nvSpPr>
        <p:spPr>
          <a:xfrm>
            <a:off x="6434328" y="3035808"/>
            <a:ext cx="4962144" cy="26517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ADVANCE: COMMERCE CON UI</a:t>
            </a:r>
            <a:endParaRPr lang="en-US" sz="1300" dirty="0"/>
          </a:p>
        </p:txBody>
      </p:sp>
      <p:sp>
        <p:nvSpPr>
          <p:cNvPr id="21" name="Text 18">
          </p:cNvPr>
          <p:cNvSpPr/>
          <p:nvPr>
          </p:nvPr>
        </p:nvSpPr>
        <p:spPr>
          <a:xfrm>
            <a:off x="6434328" y="3584448"/>
            <a:ext cx="4962144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Advance.Commerce / A2A / MCP</a:t>
            </a:r>
            <a:endParaRPr lang="en-US" sz="1350" dirty="0"/>
          </a:p>
        </p:txBody>
      </p:sp>
      <p:sp>
        <p:nvSpPr>
          <p:cNvPr id="22" name="Text 19">
          </p:cNvPr>
          <p:cNvSpPr/>
          <p:nvPr>
          </p:nvPr>
        </p:nvSpPr>
        <p:spPr>
          <a:xfrm>
            <a:off x="6434328" y="3986784"/>
            <a:ext cx="4962144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MockApi e dati Commerce separati.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Nessuna dipendenza da BASIC.</a:t>
            </a:r>
            <a:endParaRPr lang="en-US" sz="1550" dirty="0"/>
          </a:p>
        </p:txBody>
      </p:sp>
      <p:sp>
        <p:nvSpPr>
          <p:cNvPr id="23" name="Shape 20">
          </p:cNvPr>
          <p:cNvSpPr/>
          <p:nvPr>
          </p:nvPr>
        </p:nvSpPr>
        <p:spPr>
          <a:xfrm>
            <a:off x="594360" y="4956048"/>
            <a:ext cx="11003280" cy="594360"/>
          </a:xfrm>
          <a:prstGeom prst="roundRect">
            <a:avLst>
              <a:gd name="adj" fmla="val 20000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4" name="Text 21">
          </p:cNvPr>
          <p:cNvSpPr/>
          <p:nvPr>
          </p:nvPr>
        </p:nvSpPr>
        <p:spPr>
          <a:xfrm>
            <a:off x="777240" y="5084064"/>
            <a:ext cx="10637520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Shared.Hosting / Shared.ServiceDefaults: solo infrastruttura, nessun dato business</a:t>
            </a:r>
            <a:endParaRPr lang="en-US" sz="1750" dirty="0"/>
          </a:p>
        </p:txBody>
      </p:sp>
      <p:sp>
        <p:nvSpPr>
          <p:cNvPr id="25" name="Shape 22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26" name="Text 23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IMPLEMENTATA · UI ASP.NET Core, nessun Node o server frontend.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FF784F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CONCETTO · STRUMENTO</a:t>
            </a:r>
            <a:endParaRPr lang="en-US" sz="1100" dirty="0"/>
          </a:p>
        </p:txBody>
      </p:sp>
      <p:sp>
        <p:nvSpPr>
          <p:cNvPr id="4" name="Text 2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MCP: chiamo una funzione remota</a:t>
            </a:r>
            <a:endParaRPr lang="en-US" sz="3150" dirty="0"/>
          </a:p>
        </p:txBody>
      </p:sp>
      <p:sp>
        <p:nvSpPr>
          <p:cNvPr id="5" name="Text 3">
          </p:cNvPr>
          <p:cNvSpPr/>
          <p:nvPr>
          </p:nvPr>
        </p:nvSpPr>
        <p:spPr>
          <a:xfrm>
            <a:off x="594360" y="1362456"/>
            <a:ext cx="11003280" cy="38404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Nome, descrizione e argomenti aiutano l’agente a scegliere.</a:t>
            </a:r>
            <a:endParaRPr lang="en-US" sz="1730" dirty="0"/>
          </a:p>
        </p:txBody>
      </p:sp>
      <p:sp>
        <p:nvSpPr>
          <p:cNvPr id="6" name="Shape 4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7" name="Text 5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8" name="Text 6">
            <a:hlinkClick r:id="rId1" tooltip=""/>
          </p:cNvPr>
          <p:cNvSpPr/>
          <p:nvPr>
          </p:nvPr>
        </p:nvSpPr>
        <p:spPr>
          <a:xfrm>
            <a:off x="36118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· architettura ↗</a:t>
            </a:r>
            <a:endParaRPr lang="en-US" sz="940" dirty="0"/>
          </a:p>
        </p:txBody>
      </p:sp>
      <p:sp>
        <p:nvSpPr>
          <p:cNvPr id="9" name="Text 7">
            <a:hlinkClick r:id="rId2" tooltip=""/>
          </p:cNvPr>
          <p:cNvSpPr/>
          <p:nvPr>
          </p:nvPr>
        </p:nvSpPr>
        <p:spPr>
          <a:xfrm>
            <a:off x="63550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MCP ↗</a:t>
            </a:r>
            <a:endParaRPr lang="en-US" sz="940" dirty="0"/>
          </a:p>
        </p:txBody>
      </p:sp>
      <p:sp>
        <p:nvSpPr>
          <p:cNvPr id="10" name="Text 8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20</a:t>
            </a:r>
            <a:endParaRPr lang="en-US" sz="950" dirty="0"/>
          </a:p>
        </p:txBody>
      </p:sp>
      <p:sp>
        <p:nvSpPr>
          <p:cNvPr id="12" name="Shape 9">
          </p:cNvPr>
          <p:cNvSpPr/>
          <p:nvPr>
          </p:nvPr>
        </p:nvSpPr>
        <p:spPr>
          <a:xfrm>
            <a:off x="59436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13" name="Text 10">
          </p:cNvPr>
          <p:cNvSpPr/>
          <p:nvPr>
          </p:nvPr>
        </p:nvSpPr>
        <p:spPr>
          <a:xfrm>
            <a:off x="75895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MAF C#</a:t>
            </a:r>
            <a:endParaRPr lang="en-US" sz="2000" dirty="0"/>
          </a:p>
        </p:txBody>
      </p:sp>
      <p:sp>
        <p:nvSpPr>
          <p:cNvPr id="14" name="Text 11">
          </p:cNvPr>
          <p:cNvSpPr/>
          <p:nvPr>
          </p:nvPr>
        </p:nvSpPr>
        <p:spPr>
          <a:xfrm>
            <a:off x="72237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MCP</a:t>
            </a:r>
            <a:endParaRPr lang="en-US" sz="1420" dirty="0"/>
          </a:p>
        </p:txBody>
      </p:sp>
      <p:sp>
        <p:nvSpPr>
          <p:cNvPr id="15" name="Shape 12">
          </p:cNvPr>
          <p:cNvSpPr/>
          <p:nvPr>
          </p:nvPr>
        </p:nvSpPr>
        <p:spPr>
          <a:xfrm>
            <a:off x="4021328" y="2532888"/>
            <a:ext cx="329184" cy="0"/>
          </a:xfrm>
          <a:prstGeom prst="line">
            <a:avLst>
            </a:avLst>
          </a:prstGeom>
          <a:noFill/>
          <a:ln w="27940">
            <a:solidFill>
              <a:srgbClr val="FF784F"/>
            </a:solidFill>
            <a:prstDash val="solid"/>
            <a:headEnd type="none"/>
            <a:tailEnd type="triangle"/>
          </a:ln>
        </p:spPr>
      </p:sp>
      <p:sp>
        <p:nvSpPr>
          <p:cNvPr id="16" name="Shape 13">
          </p:cNvPr>
          <p:cNvSpPr/>
          <p:nvPr>
          </p:nvPr>
        </p:nvSpPr>
        <p:spPr>
          <a:xfrm>
            <a:off x="441452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17" name="Text 14">
          </p:cNvPr>
          <p:cNvSpPr/>
          <p:nvPr>
          </p:nvPr>
        </p:nvSpPr>
        <p:spPr>
          <a:xfrm>
            <a:off x="457911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HTTP</a:t>
            </a:r>
            <a:endParaRPr lang="en-US" sz="2000" dirty="0"/>
          </a:p>
        </p:txBody>
      </p:sp>
      <p:sp>
        <p:nvSpPr>
          <p:cNvPr id="18" name="Text 15">
          </p:cNvPr>
          <p:cNvSpPr/>
          <p:nvPr>
          </p:nvPr>
        </p:nvSpPr>
        <p:spPr>
          <a:xfrm>
            <a:off x="454253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get_weather(city)</a:t>
            </a:r>
            <a:endParaRPr lang="en-US" sz="1420" dirty="0"/>
          </a:p>
        </p:txBody>
      </p:sp>
      <p:sp>
        <p:nvSpPr>
          <p:cNvPr id="19" name="Shape 16">
          </p:cNvPr>
          <p:cNvSpPr/>
          <p:nvPr>
          </p:nvPr>
        </p:nvSpPr>
        <p:spPr>
          <a:xfrm>
            <a:off x="7841488" y="2532888"/>
            <a:ext cx="329184" cy="0"/>
          </a:xfrm>
          <a:prstGeom prst="line">
            <a:avLst>
            </a:avLst>
          </a:prstGeom>
          <a:noFill/>
          <a:ln w="27940">
            <a:solidFill>
              <a:srgbClr val="FF784F"/>
            </a:solidFill>
            <a:prstDash val="solid"/>
            <a:headEnd type="none"/>
            <a:tailEnd type="triangle"/>
          </a:ln>
        </p:spPr>
      </p:sp>
      <p:sp>
        <p:nvSpPr>
          <p:cNvPr id="20" name="Shape 17">
          </p:cNvPr>
          <p:cNvSpPr/>
          <p:nvPr>
          </p:nvPr>
        </p:nvSpPr>
        <p:spPr>
          <a:xfrm>
            <a:off x="823468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21" name="Text 18">
          </p:cNvPr>
          <p:cNvSpPr/>
          <p:nvPr>
          </p:nvPr>
        </p:nvSpPr>
        <p:spPr>
          <a:xfrm>
            <a:off x="839927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Codice C#</a:t>
            </a:r>
            <a:endParaRPr lang="en-US" sz="2000" dirty="0"/>
          </a:p>
        </p:txBody>
      </p:sp>
      <p:sp>
        <p:nvSpPr>
          <p:cNvPr id="22" name="Text 19">
          </p:cNvPr>
          <p:cNvSpPr/>
          <p:nvPr>
          </p:nvPr>
        </p:nvSpPr>
        <p:spPr>
          <a:xfrm>
            <a:off x="836269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 sintetico fisso</a:t>
            </a:r>
            <a:endParaRPr lang="en-US" sz="1420" dirty="0"/>
          </a:p>
        </p:txBody>
      </p:sp>
      <p:sp>
        <p:nvSpPr>
          <p:cNvPr id="23" name="Shape 20">
          </p:cNvPr>
          <p:cNvSpPr/>
          <p:nvPr>
          </p:nvPr>
        </p:nvSpPr>
        <p:spPr>
          <a:xfrm>
            <a:off x="594360" y="3410712"/>
            <a:ext cx="5355336" cy="2157984"/>
          </a:xfrm>
          <a:prstGeom prst="roundRect">
            <a:avLst>
              <a:gd name="adj" fmla="val 55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4" name="Text 21">
          </p:cNvPr>
          <p:cNvSpPr/>
          <p:nvPr>
          </p:nvPr>
        </p:nvSpPr>
        <p:spPr>
          <a:xfrm>
            <a:off x="822960" y="360273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Contratto piccolo</a:t>
            </a:r>
            <a:endParaRPr lang="en-US" sz="2200" dirty="0"/>
          </a:p>
        </p:txBody>
      </p:sp>
      <p:sp>
        <p:nvSpPr>
          <p:cNvPr id="25" name="Text 22">
          </p:cNvPr>
          <p:cNvSpPr/>
          <p:nvPr>
          </p:nvPr>
        </p:nvSpPr>
        <p:spPr>
          <a:xfrm>
            <a:off x="822960" y="4133088"/>
            <a:ext cx="4898136" cy="12435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il meteo sintetico di city.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Torino → pioggia, 14 °C.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Città ignota → errore esplicito.</a:t>
            </a:r>
            <a:endParaRPr lang="en-US" sz="1900" dirty="0"/>
          </a:p>
        </p:txBody>
      </p:sp>
      <p:sp>
        <p:nvSpPr>
          <p:cNvPr id="26" name="Shape 23">
          </p:cNvPr>
          <p:cNvSpPr/>
          <p:nvPr>
          </p:nvPr>
        </p:nvSpPr>
        <p:spPr>
          <a:xfrm>
            <a:off x="6242304" y="3410712"/>
            <a:ext cx="5355336" cy="2157984"/>
          </a:xfrm>
          <a:prstGeom prst="roundRect">
            <a:avLst>
              <a:gd name="adj" fmla="val 55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7" name="Text 24">
          </p:cNvPr>
          <p:cNvSpPr/>
          <p:nvPr>
          </p:nvPr>
        </p:nvSpPr>
        <p:spPr>
          <a:xfrm>
            <a:off x="6470904" y="360273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Confine visibile</a:t>
            </a:r>
            <a:endParaRPr lang="en-US" sz="2200" dirty="0"/>
          </a:p>
        </p:txBody>
      </p:sp>
      <p:sp>
        <p:nvSpPr>
          <p:cNvPr id="28" name="Text 25">
          </p:cNvPr>
          <p:cNvSpPr/>
          <p:nvPr>
          </p:nvPr>
        </p:nvSpPr>
        <p:spPr>
          <a:xfrm>
            <a:off x="6470904" y="4133088"/>
            <a:ext cx="4898136" cy="12435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→ invocazione → risultato.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MCP reale, non un finto POST.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 LLM nel server.</a:t>
            </a:r>
            <a:endParaRPr lang="en-US" sz="1900" dirty="0"/>
          </a:p>
        </p:txBody>
      </p:sp>
      <p:sp>
        <p:nvSpPr>
          <p:cNvPr id="29" name="Shape 26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FF784F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30" name="Text 27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servizio remoto non è automaticamente un agente.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FF784F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· MCP</a:t>
            </a:r>
            <a:endParaRPr lang="en-US" sz="1100" dirty="0"/>
          </a:p>
        </p:txBody>
      </p:sp>
      <p:sp>
        <p:nvSpPr>
          <p:cNvPr id="4" name="Shape 2">
          </p:cNvPr>
          <p:cNvSpPr/>
          <p:nvPr>
          </p:nvPr>
        </p:nvSpPr>
        <p:spPr>
          <a:xfrm>
            <a:off x="9966960" y="274320"/>
            <a:ext cx="1618488" cy="274320"/>
          </a:xfrm>
          <a:prstGeom prst="rect">
            <a:avLst>
              <a:gd name="adj" fmla="val 43333"/>
            </a:avLst>
          </a:prstGeom>
          <a:solidFill>
            <a:srgbClr val="FF784F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5" name="Text 3">
          </p:cNvPr>
          <p:cNvSpPr/>
          <p:nvPr>
          </p:nvPr>
        </p:nvSpPr>
        <p:spPr>
          <a:xfrm>
            <a:off x="10058400" y="285293"/>
            <a:ext cx="143560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B1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1050" dirty="0"/>
          </a:p>
        </p:txBody>
      </p:sp>
      <p:sp>
        <p:nvSpPr>
          <p:cNvPr id="6" name="Text 4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Meteo a Torino</a:t>
            </a:r>
            <a:endParaRPr lang="en-US" sz="3150" dirty="0"/>
          </a:p>
        </p:txBody>
      </p:sp>
      <p:sp>
        <p:nvSpPr>
          <p:cNvPr id="7" name="Shape 5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8" name="Text 6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9" name="Text 7">
            <a:hlinkClick r:id="rId1" tooltip=""/>
          </p:cNvPr>
          <p:cNvSpPr/>
          <p:nvPr>
          </p:nvPr>
        </p:nvSpPr>
        <p:spPr>
          <a:xfrm>
            <a:off x="36118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· architettura ↗</a:t>
            </a:r>
            <a:endParaRPr lang="en-US" sz="940" dirty="0"/>
          </a:p>
        </p:txBody>
      </p:sp>
      <p:sp>
        <p:nvSpPr>
          <p:cNvPr id="10" name="Text 8">
            <a:hlinkClick r:id="rId2" tooltip=""/>
          </p:cNvPr>
          <p:cNvSpPr/>
          <p:nvPr>
          </p:nvPr>
        </p:nvSpPr>
        <p:spPr>
          <a:xfrm>
            <a:off x="63550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MCP ↗</a:t>
            </a:r>
            <a:endParaRPr lang="en-US" sz="940" dirty="0"/>
          </a:p>
        </p:txBody>
      </p:sp>
      <p:sp>
        <p:nvSpPr>
          <p:cNvPr id="11" name="Text 9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20</a:t>
            </a:r>
            <a:endParaRPr lang="en-US" sz="950" dirty="0"/>
          </a:p>
        </p:txBody>
      </p:sp>
      <p:sp>
        <p:nvSpPr>
          <p:cNvPr id="13" name="Shape 10">
          </p:cNvPr>
          <p:cNvSpPr/>
          <p:nvPr>
          </p:nvPr>
        </p:nvSpPr>
        <p:spPr>
          <a:xfrm>
            <a:off x="594360" y="1609344"/>
            <a:ext cx="11003280" cy="603504"/>
          </a:xfrm>
          <a:prstGeom prst="rect">
            <a:avLst>
              <a:gd name="adj" fmla="val 19697"/>
            </a:avLst>
          </a:prstGeom>
          <a:solidFill>
            <a:srgbClr val="151F35"/>
          </a:solidFill>
          <a:ln w="7620">
            <a:solidFill>
              <a:srgbClr val="151F35"/>
            </a:solidFill>
            <a:prstDash val="solid"/>
          </a:ln>
        </p:spPr>
      </p:sp>
      <p:sp>
        <p:nvSpPr>
          <p:cNvPr id="14" name="Text 11">
          </p:cNvPr>
          <p:cNvSpPr/>
          <p:nvPr>
          </p:nvPr>
        </p:nvSpPr>
        <p:spPr>
          <a:xfrm>
            <a:off x="786384" y="1719072"/>
            <a:ext cx="10619232" cy="35661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«Che tempo fa a Torino?»</a:t>
            </a:r>
            <a:endParaRPr lang="en-US" sz="1900" dirty="0"/>
          </a:p>
        </p:txBody>
      </p:sp>
      <p:sp>
        <p:nvSpPr>
          <p:cNvPr id="15" name="Shape 12">
          </p:cNvPr>
          <p:cNvSpPr/>
          <p:nvPr>
          </p:nvPr>
        </p:nvSpPr>
        <p:spPr>
          <a:xfrm>
            <a:off x="59436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16" name="Text 13">
          </p:cNvPr>
          <p:cNvSpPr/>
          <p:nvPr>
          </p:nvPr>
        </p:nvSpPr>
        <p:spPr>
          <a:xfrm>
            <a:off x="75895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MAF C#</a:t>
            </a:r>
            <a:endParaRPr lang="en-US" sz="2000" dirty="0"/>
          </a:p>
        </p:txBody>
      </p:sp>
      <p:sp>
        <p:nvSpPr>
          <p:cNvPr id="17" name="Text 14">
          </p:cNvPr>
          <p:cNvSpPr/>
          <p:nvPr>
          </p:nvPr>
        </p:nvSpPr>
        <p:spPr>
          <a:xfrm>
            <a:off x="72237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Scopre e invoca</a:t>
            </a:r>
            <a:endParaRPr lang="en-US" sz="1420" dirty="0"/>
          </a:p>
        </p:txBody>
      </p:sp>
      <p:sp>
        <p:nvSpPr>
          <p:cNvPr id="18" name="Shape 15">
          </p:cNvPr>
          <p:cNvSpPr/>
          <p:nvPr>
          </p:nvPr>
        </p:nvSpPr>
        <p:spPr>
          <a:xfrm>
            <a:off x="4021328" y="3044952"/>
            <a:ext cx="329184" cy="0"/>
          </a:xfrm>
          <a:prstGeom prst="line">
            <a:avLst>
            </a:avLst>
          </a:prstGeom>
          <a:noFill/>
          <a:ln w="27940">
            <a:solidFill>
              <a:srgbClr val="FF784F"/>
            </a:solidFill>
            <a:prstDash val="solid"/>
            <a:headEnd type="none"/>
            <a:tailEnd type="triangle"/>
          </a:ln>
        </p:spPr>
      </p:sp>
      <p:sp>
        <p:nvSpPr>
          <p:cNvPr id="19" name="Shape 16">
          </p:cNvPr>
          <p:cNvSpPr/>
          <p:nvPr>
          </p:nvPr>
        </p:nvSpPr>
        <p:spPr>
          <a:xfrm>
            <a:off x="441452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20" name="Text 17">
          </p:cNvPr>
          <p:cNvSpPr/>
          <p:nvPr>
          </p:nvPr>
        </p:nvSpPr>
        <p:spPr>
          <a:xfrm>
            <a:off x="457911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 HTTP</a:t>
            </a:r>
            <a:endParaRPr lang="en-US" sz="2000" dirty="0"/>
          </a:p>
        </p:txBody>
      </p:sp>
      <p:sp>
        <p:nvSpPr>
          <p:cNvPr id="21" name="Text 18">
          </p:cNvPr>
          <p:cNvSpPr/>
          <p:nvPr>
          </p:nvPr>
        </p:nvSpPr>
        <p:spPr>
          <a:xfrm>
            <a:off x="454253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get_weather("Torino")</a:t>
            </a:r>
            <a:endParaRPr lang="en-US" sz="1420" dirty="0"/>
          </a:p>
        </p:txBody>
      </p:sp>
      <p:sp>
        <p:nvSpPr>
          <p:cNvPr id="22" name="Shape 19">
          </p:cNvPr>
          <p:cNvSpPr/>
          <p:nvPr>
          </p:nvPr>
        </p:nvSpPr>
        <p:spPr>
          <a:xfrm>
            <a:off x="7841488" y="3044952"/>
            <a:ext cx="329184" cy="0"/>
          </a:xfrm>
          <a:prstGeom prst="line">
            <a:avLst>
            </a:avLst>
          </a:prstGeom>
          <a:noFill/>
          <a:ln w="27940">
            <a:solidFill>
              <a:srgbClr val="FF784F"/>
            </a:solidFill>
            <a:prstDash val="solid"/>
            <a:headEnd type="none"/>
            <a:tailEnd type="triangle"/>
          </a:ln>
        </p:spPr>
      </p:sp>
      <p:sp>
        <p:nvSpPr>
          <p:cNvPr id="23" name="Shape 20">
          </p:cNvPr>
          <p:cNvSpPr/>
          <p:nvPr>
          </p:nvPr>
        </p:nvSpPr>
        <p:spPr>
          <a:xfrm>
            <a:off x="823468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24" name="Text 21">
          </p:cNvPr>
          <p:cNvSpPr/>
          <p:nvPr>
          </p:nvPr>
        </p:nvSpPr>
        <p:spPr>
          <a:xfrm>
            <a:off x="839927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Tabella fissa</a:t>
            </a:r>
            <a:endParaRPr lang="en-US" sz="2000" dirty="0"/>
          </a:p>
        </p:txBody>
      </p:sp>
      <p:sp>
        <p:nvSpPr>
          <p:cNvPr id="25" name="Text 22">
          </p:cNvPr>
          <p:cNvSpPr/>
          <p:nvPr>
          </p:nvPr>
        </p:nvSpPr>
        <p:spPr>
          <a:xfrm>
            <a:off x="836269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Pioggia · 14 °C</a:t>
            </a:r>
            <a:endParaRPr lang="en-US" sz="1420" dirty="0"/>
          </a:p>
        </p:txBody>
      </p:sp>
      <p:sp>
        <p:nvSpPr>
          <p:cNvPr id="26" name="Shape 23">
          </p:cNvPr>
          <p:cNvSpPr/>
          <p:nvPr>
          </p:nvPr>
        </p:nvSpPr>
        <p:spPr>
          <a:xfrm>
            <a:off x="594360" y="3831336"/>
            <a:ext cx="5355336" cy="1764792"/>
          </a:xfrm>
          <a:prstGeom prst="roundRect">
            <a:avLst>
              <a:gd name="adj" fmla="val 6736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7" name="Text 24">
          </p:cNvPr>
          <p:cNvSpPr/>
          <p:nvPr>
          </p:nvPr>
        </p:nvSpPr>
        <p:spPr>
          <a:xfrm>
            <a:off x="822960" y="4023360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3 file da mostrare</a:t>
            </a:r>
            <a:endParaRPr lang="en-US" sz="2200" dirty="0"/>
          </a:p>
        </p:txBody>
      </p:sp>
      <p:sp>
        <p:nvSpPr>
          <p:cNvPr id="28" name="Text 25">
          </p:cNvPr>
          <p:cNvSpPr/>
          <p:nvPr>
          </p:nvPr>
        </p:nvSpPr>
        <p:spPr>
          <a:xfrm>
            <a:off x="822960" y="4553712"/>
            <a:ext cx="4898136" cy="8503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Basic.Orchestrator\McpDemo.cs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Basic.McpServer\Program.cs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WeatherTools.cs · tool</a:t>
            </a:r>
            <a:endParaRPr lang="en-US" sz="1540" dirty="0"/>
          </a:p>
        </p:txBody>
      </p:sp>
      <p:sp>
        <p:nvSpPr>
          <p:cNvPr id="29" name="Shape 26">
          </p:cNvPr>
          <p:cNvSpPr/>
          <p:nvPr>
          </p:nvPr>
        </p:nvSpPr>
        <p:spPr>
          <a:xfrm>
            <a:off x="6242304" y="3831336"/>
            <a:ext cx="5355336" cy="1764792"/>
          </a:xfrm>
          <a:prstGeom prst="roundRect">
            <a:avLst>
              <a:gd name="adj" fmla="val 6736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30" name="Text 27">
          </p:cNvPr>
          <p:cNvSpPr/>
          <p:nvPr>
          </p:nvPr>
        </p:nvSpPr>
        <p:spPr>
          <a:xfrm>
            <a:off x="6470904" y="4023360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passaggio visibile</a:t>
            </a:r>
            <a:endParaRPr lang="en-US" sz="2200" dirty="0"/>
          </a:p>
        </p:txBody>
      </p:sp>
      <p:sp>
        <p:nvSpPr>
          <p:cNvPr id="31" name="Text 28">
          </p:cNvPr>
          <p:cNvSpPr/>
          <p:nvPr>
          </p:nvPr>
        </p:nvSpPr>
        <p:spPr>
          <a:xfrm>
            <a:off x="6470904" y="4553712"/>
            <a:ext cx="4898136" cy="8503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Scopri il tool e invocalo.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 il risultato: pioggia, 14 °C.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la risposta del principale.</a:t>
            </a:r>
            <a:endParaRPr lang="en-US" sz="1900" dirty="0"/>
          </a:p>
        </p:txBody>
      </p:sp>
      <p:sp>
        <p:nvSpPr>
          <p:cNvPr id="32" name="Shape 29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FF784F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33" name="Text 30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· Un tool, HTTP MCP reale, nessun LLM nel server.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CONCETTO · DELEGA</a:t>
            </a:r>
            <a:endParaRPr lang="en-US" sz="1100" dirty="0"/>
          </a:p>
        </p:txBody>
      </p:sp>
      <p:sp>
        <p:nvSpPr>
          <p:cNvPr id="4" name="Text 2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A2A: chiedo aiuto a un altro agente</a:t>
            </a:r>
            <a:endParaRPr lang="en-US" sz="3150" dirty="0"/>
          </a:p>
        </p:txBody>
      </p:sp>
      <p:sp>
        <p:nvSpPr>
          <p:cNvPr id="5" name="Text 3">
          </p:cNvPr>
          <p:cNvSpPr/>
          <p:nvPr>
          </p:nvPr>
        </p:nvSpPr>
        <p:spPr>
          <a:xfrm>
            <a:off x="594360" y="1362456"/>
            <a:ext cx="11003280" cy="38404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 esplicita. Il principale conserva la risposta finale.</a:t>
            </a:r>
            <a:endParaRPr lang="en-US" sz="1730" dirty="0"/>
          </a:p>
        </p:txBody>
      </p:sp>
      <p:sp>
        <p:nvSpPr>
          <p:cNvPr id="6" name="Shape 4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7" name="Text 5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8" name="Text 6">
            <a:hlinkClick r:id="rId1" tooltip=""/>
          </p:cNvPr>
          <p:cNvSpPr/>
          <p:nvPr>
          </p:nvPr>
        </p:nvSpPr>
        <p:spPr>
          <a:xfrm>
            <a:off x="361188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A2A · specifica ↗</a:t>
            </a:r>
            <a:endParaRPr lang="en-US" sz="940" dirty="0"/>
          </a:p>
        </p:txBody>
      </p:sp>
      <p:sp>
        <p:nvSpPr>
          <p:cNvPr id="9" name="Text 7">
            <a:hlinkClick r:id="rId2" tooltip=""/>
          </p:cNvPr>
          <p:cNvSpPr/>
          <p:nvPr>
          </p:nvPr>
        </p:nvSpPr>
        <p:spPr>
          <a:xfrm>
            <a:off x="598932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hosting A2A ↗</a:t>
            </a:r>
            <a:endParaRPr lang="en-US" sz="940" dirty="0"/>
          </a:p>
        </p:txBody>
      </p:sp>
      <p:sp>
        <p:nvSpPr>
          <p:cNvPr id="10" name="Text 8">
            <a:hlinkClick r:id="rId3" tooltip=""/>
          </p:cNvPr>
          <p:cNvSpPr/>
          <p:nvPr>
          </p:nvPr>
        </p:nvSpPr>
        <p:spPr>
          <a:xfrm>
            <a:off x="836676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A2A SDK v1 ↗</a:t>
            </a:r>
            <a:endParaRPr lang="en-US" sz="940" dirty="0"/>
          </a:p>
        </p:txBody>
      </p:sp>
      <p:sp>
        <p:nvSpPr>
          <p:cNvPr id="11" name="Text 9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20</a:t>
            </a:r>
            <a:endParaRPr lang="en-US" sz="950" dirty="0"/>
          </a:p>
        </p:txBody>
      </p:sp>
      <p:sp>
        <p:nvSpPr>
          <p:cNvPr id="13" name="Shape 10">
          </p:cNvPr>
          <p:cNvSpPr/>
          <p:nvPr>
          </p:nvPr>
        </p:nvSpPr>
        <p:spPr>
          <a:xfrm>
            <a:off x="59436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14" name="Text 11">
          </p:cNvPr>
          <p:cNvSpPr/>
          <p:nvPr>
          </p:nvPr>
        </p:nvSpPr>
        <p:spPr>
          <a:xfrm>
            <a:off x="75895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Principale MAF C#</a:t>
            </a:r>
            <a:endParaRPr lang="en-US" sz="2000" dirty="0"/>
          </a:p>
        </p:txBody>
      </p:sp>
      <p:sp>
        <p:nvSpPr>
          <p:cNvPr id="15" name="Text 12">
          </p:cNvPr>
          <p:cNvSpPr/>
          <p:nvPr>
          </p:nvPr>
        </p:nvSpPr>
        <p:spPr>
          <a:xfrm>
            <a:off x="72237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Assegna un obiettivo</a:t>
            </a:r>
            <a:endParaRPr lang="en-US" sz="1420" dirty="0"/>
          </a:p>
        </p:txBody>
      </p:sp>
      <p:sp>
        <p:nvSpPr>
          <p:cNvPr id="16" name="Shape 13">
          </p:cNvPr>
          <p:cNvSpPr/>
          <p:nvPr>
          </p:nvPr>
        </p:nvSpPr>
        <p:spPr>
          <a:xfrm>
            <a:off x="4021328" y="2532888"/>
            <a:ext cx="329184" cy="0"/>
          </a:xfrm>
          <a:prstGeom prst="line">
            <a:avLst>
            </a:avLst>
          </a:prstGeom>
          <a:noFill/>
          <a:ln w="27940">
            <a:solidFill>
              <a:srgbClr val="43D9CF"/>
            </a:solidFill>
            <a:prstDash val="solid"/>
            <a:headEnd type="none"/>
            <a:tailEnd type="triangle"/>
          </a:ln>
        </p:spPr>
      </p:sp>
      <p:sp>
        <p:nvSpPr>
          <p:cNvPr id="17" name="Shape 14">
          </p:cNvPr>
          <p:cNvSpPr/>
          <p:nvPr>
          </p:nvPr>
        </p:nvSpPr>
        <p:spPr>
          <a:xfrm>
            <a:off x="441452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18" name="Text 15">
          </p:cNvPr>
          <p:cNvSpPr/>
          <p:nvPr>
          </p:nvPr>
        </p:nvSpPr>
        <p:spPr>
          <a:xfrm>
            <a:off x="457911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A2A + Agent Card</a:t>
            </a:r>
            <a:endParaRPr lang="en-US" sz="2000" dirty="0"/>
          </a:p>
        </p:txBody>
      </p:sp>
      <p:sp>
        <p:nvSpPr>
          <p:cNvPr id="19" name="Text 16">
          </p:cNvPr>
          <p:cNvSpPr/>
          <p:nvPr>
          </p:nvPr>
        </p:nvSpPr>
        <p:spPr>
          <a:xfrm>
            <a:off x="454253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separato</a:t>
            </a:r>
            <a:endParaRPr lang="en-US" sz="1420" dirty="0"/>
          </a:p>
        </p:txBody>
      </p:sp>
      <p:sp>
        <p:nvSpPr>
          <p:cNvPr id="20" name="Shape 17">
          </p:cNvPr>
          <p:cNvSpPr/>
          <p:nvPr>
          </p:nvPr>
        </p:nvSpPr>
        <p:spPr>
          <a:xfrm>
            <a:off x="7841488" y="2532888"/>
            <a:ext cx="329184" cy="0"/>
          </a:xfrm>
          <a:prstGeom prst="line">
            <a:avLst>
            </a:avLst>
          </a:prstGeom>
          <a:noFill/>
          <a:ln w="27940">
            <a:solidFill>
              <a:srgbClr val="43D9CF"/>
            </a:solidFill>
            <a:prstDash val="solid"/>
            <a:headEnd type="none"/>
            <a:tailEnd type="triangle"/>
          </a:ln>
        </p:spPr>
      </p:sp>
      <p:sp>
        <p:nvSpPr>
          <p:cNvPr id="21" name="Shape 18">
          </p:cNvPr>
          <p:cNvSpPr/>
          <p:nvPr>
          </p:nvPr>
        </p:nvSpPr>
        <p:spPr>
          <a:xfrm>
            <a:off x="823468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22" name="Text 19">
          </p:cNvPr>
          <p:cNvSpPr/>
          <p:nvPr>
          </p:nvPr>
        </p:nvSpPr>
        <p:spPr>
          <a:xfrm>
            <a:off x="839927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Specialista MAF C#</a:t>
            </a:r>
            <a:endParaRPr lang="en-US" sz="2000" dirty="0"/>
          </a:p>
        </p:txBody>
      </p:sp>
      <p:sp>
        <p:nvSpPr>
          <p:cNvPr id="23" name="Text 20">
          </p:cNvPr>
          <p:cNvSpPr/>
          <p:nvPr>
          </p:nvPr>
        </p:nvSpPr>
        <p:spPr>
          <a:xfrm>
            <a:off x="836269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 i propri tool</a:t>
            </a:r>
            <a:endParaRPr lang="en-US" sz="1420" dirty="0"/>
          </a:p>
        </p:txBody>
      </p:sp>
      <p:sp>
        <p:nvSpPr>
          <p:cNvPr id="24" name="Shape 21">
          </p:cNvPr>
          <p:cNvSpPr/>
          <p:nvPr>
          </p:nvPr>
        </p:nvSpPr>
        <p:spPr>
          <a:xfrm>
            <a:off x="594360" y="3410712"/>
            <a:ext cx="5355336" cy="2157984"/>
          </a:xfrm>
          <a:prstGeom prst="roundRect">
            <a:avLst>
              <a:gd name="adj" fmla="val 55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5" name="Text 22">
          </p:cNvPr>
          <p:cNvSpPr/>
          <p:nvPr>
          </p:nvPr>
        </p:nvSpPr>
        <p:spPr>
          <a:xfrm>
            <a:off x="822960" y="360273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Protocollo</a:t>
            </a:r>
            <a:endParaRPr lang="en-US" sz="2200" dirty="0"/>
          </a:p>
        </p:txBody>
      </p:sp>
      <p:sp>
        <p:nvSpPr>
          <p:cNvPr id="26" name="Text 23">
          </p:cNvPr>
          <p:cNvSpPr/>
          <p:nvPr>
          </p:nvPr>
        </p:nvSpPr>
        <p:spPr>
          <a:xfrm>
            <a:off x="822960" y="4133088"/>
            <a:ext cx="4898136" cy="12435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A2A collega principale e specialista.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Card descrive le capacità.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tool interni restano privati.</a:t>
            </a:r>
            <a:endParaRPr lang="en-US" sz="1900" dirty="0"/>
          </a:p>
        </p:txBody>
      </p:sp>
      <p:sp>
        <p:nvSpPr>
          <p:cNvPr id="27" name="Shape 24">
          </p:cNvPr>
          <p:cNvSpPr/>
          <p:nvPr>
          </p:nvPr>
        </p:nvSpPr>
        <p:spPr>
          <a:xfrm>
            <a:off x="6242304" y="3410712"/>
            <a:ext cx="5355336" cy="2157984"/>
          </a:xfrm>
          <a:prstGeom prst="roundRect">
            <a:avLst>
              <a:gd name="adj" fmla="val 55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8" name="Text 25">
          </p:cNvPr>
          <p:cNvSpPr/>
          <p:nvPr>
          </p:nvPr>
        </p:nvSpPr>
        <p:spPr>
          <a:xfrm>
            <a:off x="6470904" y="360273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scelto</a:t>
            </a:r>
            <a:endParaRPr lang="en-US" sz="2200" dirty="0"/>
          </a:p>
        </p:txBody>
      </p:sp>
      <p:sp>
        <p:nvSpPr>
          <p:cNvPr id="29" name="Text 26">
          </p:cNvPr>
          <p:cNvSpPr/>
          <p:nvPr>
          </p:nvPr>
        </p:nvSpPr>
        <p:spPr>
          <a:xfrm>
            <a:off x="6470904" y="4133088"/>
            <a:ext cx="4898136" cy="12435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 → risultato → principale.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handoff, non routing intelligente.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 lifecycle task da spiegare.</a:t>
            </a:r>
            <a:endParaRPr lang="en-US" sz="1900" dirty="0"/>
          </a:p>
        </p:txBody>
      </p:sp>
      <p:sp>
        <p:nvSpPr>
          <p:cNvPr id="30" name="Shape 27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1" name="Text 28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Protocollo ≠ pattern: A2A trasporta; qui scegliamo delega con ritorno.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· A2A</a:t>
            </a:r>
            <a:endParaRPr lang="en-US" sz="1100" dirty="0"/>
          </a:p>
        </p:txBody>
      </p:sp>
      <p:sp>
        <p:nvSpPr>
          <p:cNvPr id="4" name="Shape 2">
          </p:cNvPr>
          <p:cNvSpPr/>
          <p:nvPr>
          </p:nvPr>
        </p:nvSpPr>
        <p:spPr>
          <a:xfrm>
            <a:off x="9966960" y="274320"/>
            <a:ext cx="1618488" cy="274320"/>
          </a:xfrm>
          <a:prstGeom prst="rect">
            <a:avLst>
              <a:gd name="adj" fmla="val 43333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5" name="Text 3">
          </p:cNvPr>
          <p:cNvSpPr/>
          <p:nvPr>
          </p:nvPr>
        </p:nvSpPr>
        <p:spPr>
          <a:xfrm>
            <a:off x="10058400" y="285293"/>
            <a:ext cx="143560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B1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1050" dirty="0"/>
          </a:p>
        </p:txBody>
      </p:sp>
      <p:sp>
        <p:nvSpPr>
          <p:cNvPr id="6" name="Text 4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consigli dal TravelTipsAgent</a:t>
            </a:r>
            <a:endParaRPr lang="en-US" sz="3150" dirty="0"/>
          </a:p>
        </p:txBody>
      </p:sp>
      <p:sp>
        <p:nvSpPr>
          <p:cNvPr id="7" name="Shape 5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8" name="Text 6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9" name="Text 7">
            <a:hlinkClick r:id="rId1" tooltip=""/>
          </p:cNvPr>
          <p:cNvSpPr/>
          <p:nvPr>
          </p:nvPr>
        </p:nvSpPr>
        <p:spPr>
          <a:xfrm>
            <a:off x="36118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A2A · specifica ↗</a:t>
            </a:r>
            <a:endParaRPr lang="en-US" sz="940" dirty="0"/>
          </a:p>
        </p:txBody>
      </p:sp>
      <p:sp>
        <p:nvSpPr>
          <p:cNvPr id="10" name="Text 8">
            <a:hlinkClick r:id="rId2" tooltip=""/>
          </p:cNvPr>
          <p:cNvSpPr/>
          <p:nvPr>
          </p:nvPr>
        </p:nvSpPr>
        <p:spPr>
          <a:xfrm>
            <a:off x="63550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hosting A2A ↗</a:t>
            </a:r>
            <a:endParaRPr lang="en-US" sz="940" dirty="0"/>
          </a:p>
        </p:txBody>
      </p:sp>
      <p:sp>
        <p:nvSpPr>
          <p:cNvPr id="11" name="Text 9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20</a:t>
            </a:r>
            <a:endParaRPr lang="en-US" sz="950" dirty="0"/>
          </a:p>
        </p:txBody>
      </p:sp>
      <p:sp>
        <p:nvSpPr>
          <p:cNvPr id="13" name="Shape 10">
          </p:cNvPr>
          <p:cNvSpPr/>
          <p:nvPr>
          </p:nvPr>
        </p:nvSpPr>
        <p:spPr>
          <a:xfrm>
            <a:off x="594360" y="1609344"/>
            <a:ext cx="11003280" cy="603504"/>
          </a:xfrm>
          <a:prstGeom prst="rect">
            <a:avLst>
              <a:gd name="adj" fmla="val 19697"/>
            </a:avLst>
          </a:prstGeom>
          <a:solidFill>
            <a:srgbClr val="151F35"/>
          </a:solidFill>
          <a:ln w="7620">
            <a:solidFill>
              <a:srgbClr val="151F35"/>
            </a:solidFill>
            <a:prstDash val="solid"/>
          </a:ln>
        </p:spPr>
      </p:sp>
      <p:sp>
        <p:nvSpPr>
          <p:cNvPr id="14" name="Text 11">
          </p:cNvPr>
          <p:cNvSpPr/>
          <p:nvPr>
          </p:nvPr>
        </p:nvSpPr>
        <p:spPr>
          <a:xfrm>
            <a:off x="786384" y="1719072"/>
            <a:ext cx="10619232" cy="35661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«Dammi due consigli per visitare Torino con questo meteo»</a:t>
            </a:r>
            <a:endParaRPr lang="en-US" sz="1900" dirty="0"/>
          </a:p>
        </p:txBody>
      </p:sp>
      <p:sp>
        <p:nvSpPr>
          <p:cNvPr id="15" name="Shape 12">
          </p:cNvPr>
          <p:cNvSpPr/>
          <p:nvPr>
          </p:nvPr>
        </p:nvSpPr>
        <p:spPr>
          <a:xfrm>
            <a:off x="59436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16" name="Text 13">
          </p:cNvPr>
          <p:cNvSpPr/>
          <p:nvPr>
          </p:nvPr>
        </p:nvSpPr>
        <p:spPr>
          <a:xfrm>
            <a:off x="75895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Principale</a:t>
            </a:r>
            <a:endParaRPr lang="en-US" sz="2000" dirty="0"/>
          </a:p>
        </p:txBody>
      </p:sp>
      <p:sp>
        <p:nvSpPr>
          <p:cNvPr id="17" name="Text 14">
          </p:cNvPr>
          <p:cNvSpPr/>
          <p:nvPr>
          </p:nvPr>
        </p:nvSpPr>
        <p:spPr>
          <a:xfrm>
            <a:off x="72237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 esplicitamente</a:t>
            </a:r>
            <a:endParaRPr lang="en-US" sz="1420" dirty="0"/>
          </a:p>
        </p:txBody>
      </p:sp>
      <p:sp>
        <p:nvSpPr>
          <p:cNvPr id="18" name="Shape 15">
          </p:cNvPr>
          <p:cNvSpPr/>
          <p:nvPr>
          </p:nvPr>
        </p:nvSpPr>
        <p:spPr>
          <a:xfrm>
            <a:off x="4021328" y="3044952"/>
            <a:ext cx="329184" cy="0"/>
          </a:xfrm>
          <a:prstGeom prst="line">
            <a:avLst>
            </a:avLst>
          </a:prstGeom>
          <a:noFill/>
          <a:ln w="27940">
            <a:solidFill>
              <a:srgbClr val="43D9CF"/>
            </a:solidFill>
            <a:prstDash val="solid"/>
            <a:headEnd type="none"/>
            <a:tailEnd type="triangle"/>
          </a:ln>
        </p:spPr>
      </p:sp>
      <p:sp>
        <p:nvSpPr>
          <p:cNvPr id="19" name="Shape 16">
          </p:cNvPr>
          <p:cNvSpPr/>
          <p:nvPr>
          </p:nvPr>
        </p:nvSpPr>
        <p:spPr>
          <a:xfrm>
            <a:off x="441452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20" name="Text 17">
          </p:cNvPr>
          <p:cNvSpPr/>
          <p:nvPr>
          </p:nvPr>
        </p:nvSpPr>
        <p:spPr>
          <a:xfrm>
            <a:off x="457911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TravelTipsAgent</a:t>
            </a:r>
            <a:endParaRPr lang="en-US" sz="2000" dirty="0"/>
          </a:p>
        </p:txBody>
      </p:sp>
      <p:sp>
        <p:nvSpPr>
          <p:cNvPr id="21" name="Text 18">
          </p:cNvPr>
          <p:cNvSpPr/>
          <p:nvPr>
          </p:nvPr>
        </p:nvSpPr>
        <p:spPr>
          <a:xfrm>
            <a:off x="454253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A2A · host separato</a:t>
            </a:r>
            <a:endParaRPr lang="en-US" sz="1420" dirty="0"/>
          </a:p>
        </p:txBody>
      </p:sp>
      <p:sp>
        <p:nvSpPr>
          <p:cNvPr id="22" name="Shape 19">
          </p:cNvPr>
          <p:cNvSpPr/>
          <p:nvPr>
          </p:nvPr>
        </p:nvSpPr>
        <p:spPr>
          <a:xfrm>
            <a:off x="7841488" y="3044952"/>
            <a:ext cx="329184" cy="0"/>
          </a:xfrm>
          <a:prstGeom prst="line">
            <a:avLst>
            </a:avLst>
          </a:prstGeom>
          <a:noFill/>
          <a:ln w="27940">
            <a:solidFill>
              <a:srgbClr val="43D9CF"/>
            </a:solidFill>
            <a:prstDash val="solid"/>
            <a:headEnd type="none"/>
            <a:tailEnd type="triangle"/>
          </a:ln>
        </p:spPr>
      </p:sp>
      <p:sp>
        <p:nvSpPr>
          <p:cNvPr id="23" name="Shape 20">
          </p:cNvPr>
          <p:cNvSpPr/>
          <p:nvPr>
          </p:nvPr>
        </p:nvSpPr>
        <p:spPr>
          <a:xfrm>
            <a:off x="823468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24" name="Text 21">
          </p:cNvPr>
          <p:cNvSpPr/>
          <p:nvPr>
          </p:nvPr>
        </p:nvSpPr>
        <p:spPr>
          <a:xfrm>
            <a:off x="839927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meteo privato</a:t>
            </a:r>
            <a:endParaRPr lang="en-US" sz="2000" dirty="0"/>
          </a:p>
        </p:txBody>
      </p:sp>
      <p:sp>
        <p:nvSpPr>
          <p:cNvPr id="25" name="Text 22">
          </p:cNvPr>
          <p:cNvSpPr/>
          <p:nvPr>
          </p:nvPr>
        </p:nvSpPr>
        <p:spPr>
          <a:xfrm>
            <a:off x="836269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Torino · pioggia · 14 °C</a:t>
            </a:r>
            <a:endParaRPr lang="en-US" sz="1420" dirty="0"/>
          </a:p>
        </p:txBody>
      </p:sp>
      <p:sp>
        <p:nvSpPr>
          <p:cNvPr id="26" name="Shape 23">
          </p:cNvPr>
          <p:cNvSpPr/>
          <p:nvPr>
          </p:nvPr>
        </p:nvSpPr>
        <p:spPr>
          <a:xfrm>
            <a:off x="594360" y="3831336"/>
            <a:ext cx="5355336" cy="1764792"/>
          </a:xfrm>
          <a:prstGeom prst="roundRect">
            <a:avLst>
              <a:gd name="adj" fmla="val 6736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7" name="Text 24">
          </p:cNvPr>
          <p:cNvSpPr/>
          <p:nvPr>
          </p:nvPr>
        </p:nvSpPr>
        <p:spPr>
          <a:xfrm>
            <a:off x="822960" y="4023360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3 file da mostrare</a:t>
            </a:r>
            <a:endParaRPr lang="en-US" sz="2200" dirty="0"/>
          </a:p>
        </p:txBody>
      </p:sp>
      <p:sp>
        <p:nvSpPr>
          <p:cNvPr id="28" name="Text 25">
          </p:cNvPr>
          <p:cNvSpPr/>
          <p:nvPr>
          </p:nvPr>
        </p:nvSpPr>
        <p:spPr>
          <a:xfrm>
            <a:off x="822960" y="4553712"/>
            <a:ext cx="4898136" cy="8503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Basic.Orchestrator\A2ADemo.cs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TravelTipsAgent.cs · agente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Basic.A2A\Program.cs</a:t>
            </a:r>
            <a:endParaRPr lang="en-US" sz="1540" dirty="0"/>
          </a:p>
        </p:txBody>
      </p:sp>
      <p:sp>
        <p:nvSpPr>
          <p:cNvPr id="29" name="Shape 26">
          </p:cNvPr>
          <p:cNvSpPr/>
          <p:nvPr>
          </p:nvPr>
        </p:nvSpPr>
        <p:spPr>
          <a:xfrm>
            <a:off x="6242304" y="3831336"/>
            <a:ext cx="5355336" cy="1764792"/>
          </a:xfrm>
          <a:prstGeom prst="roundRect">
            <a:avLst>
              <a:gd name="adj" fmla="val 6736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30" name="Text 27">
          </p:cNvPr>
          <p:cNvSpPr/>
          <p:nvPr>
          </p:nvPr>
        </p:nvSpPr>
        <p:spPr>
          <a:xfrm>
            <a:off x="6470904" y="4023360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passaggio visibile</a:t>
            </a:r>
            <a:endParaRPr lang="en-US" sz="2200" dirty="0"/>
          </a:p>
        </p:txBody>
      </p:sp>
      <p:sp>
        <p:nvSpPr>
          <p:cNvPr id="31" name="Text 28">
          </p:cNvPr>
          <p:cNvSpPr/>
          <p:nvPr>
          </p:nvPr>
        </p:nvSpPr>
        <p:spPr>
          <a:xfrm>
            <a:off x="6470904" y="4553712"/>
            <a:ext cx="4898136" cy="8503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 Card e richiesta A2A.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specialista legge il meteo.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Ritorno → risposta del principale.</a:t>
            </a:r>
            <a:endParaRPr lang="en-US" sz="1900" dirty="0"/>
          </a:p>
        </p:txBody>
      </p:sp>
      <p:sp>
        <p:nvSpPr>
          <p:cNvPr id="32" name="Shape 29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3" name="Text 30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· Consigli di viaggio, nessun MCP o Skill in questo esempio.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B49AFF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CONCETTO · PROCEDURA</a:t>
            </a:r>
            <a:endParaRPr lang="en-US" sz="1100" dirty="0"/>
          </a:p>
        </p:txBody>
      </p:sp>
      <p:sp>
        <p:nvSpPr>
          <p:cNvPr id="4" name="Text 2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Skill: leggo una procedura da un file</a:t>
            </a:r>
            <a:endParaRPr lang="en-US" sz="3150" dirty="0"/>
          </a:p>
        </p:txBody>
      </p:sp>
      <p:sp>
        <p:nvSpPr>
          <p:cNvPr id="5" name="Text 3">
          </p:cNvPr>
          <p:cNvSpPr/>
          <p:nvPr>
          </p:nvPr>
        </p:nvSpPr>
        <p:spPr>
          <a:xfrm>
            <a:off x="594360" y="1362456"/>
            <a:ext cx="11003280" cy="38404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agente e il provider ufficiale AgentSkillsProvider.</a:t>
            </a:r>
            <a:endParaRPr lang="en-US" sz="1730" dirty="0"/>
          </a:p>
        </p:txBody>
      </p:sp>
      <p:sp>
        <p:nvSpPr>
          <p:cNvPr id="6" name="Shape 4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7" name="Text 5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8" name="Text 6">
            <a:hlinkClick r:id="rId1" tooltip=""/>
          </p:cNvPr>
          <p:cNvSpPr/>
          <p:nvPr>
          </p:nvPr>
        </p:nvSpPr>
        <p:spPr>
          <a:xfrm>
            <a:off x="36118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Skills ↗</a:t>
            </a:r>
            <a:endParaRPr lang="en-US" sz="940" dirty="0"/>
          </a:p>
        </p:txBody>
      </p:sp>
      <p:sp>
        <p:nvSpPr>
          <p:cNvPr id="9" name="Text 7">
            <a:hlinkClick r:id="rId2" tooltip=""/>
          </p:cNvPr>
          <p:cNvSpPr/>
          <p:nvPr>
          </p:nvPr>
        </p:nvSpPr>
        <p:spPr>
          <a:xfrm>
            <a:off x="63550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Skills · specifica ↗</a:t>
            </a:r>
            <a:endParaRPr lang="en-US" sz="940" dirty="0"/>
          </a:p>
        </p:txBody>
      </p:sp>
      <p:sp>
        <p:nvSpPr>
          <p:cNvPr id="10" name="Text 8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20</a:t>
            </a:r>
            <a:endParaRPr lang="en-US" sz="950" dirty="0"/>
          </a:p>
        </p:txBody>
      </p:sp>
      <p:sp>
        <p:nvSpPr>
          <p:cNvPr id="12" name="Shape 9">
          </p:cNvPr>
          <p:cNvSpPr/>
          <p:nvPr>
          </p:nvPr>
        </p:nvSpPr>
        <p:spPr>
          <a:xfrm>
            <a:off x="59436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13" name="Text 10">
          </p:cNvPr>
          <p:cNvSpPr/>
          <p:nvPr>
          </p:nvPr>
        </p:nvSpPr>
        <p:spPr>
          <a:xfrm>
            <a:off x="75895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Scopre</a:t>
            </a:r>
            <a:endParaRPr lang="en-US" sz="2000" dirty="0"/>
          </a:p>
        </p:txBody>
      </p:sp>
      <p:sp>
        <p:nvSpPr>
          <p:cNvPr id="14" name="Text 11">
          </p:cNvPr>
          <p:cNvSpPr/>
          <p:nvPr>
          </p:nvPr>
        </p:nvSpPr>
        <p:spPr>
          <a:xfrm>
            <a:off x="72237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Nome + descrizione</a:t>
            </a:r>
            <a:endParaRPr lang="en-US" sz="1420" dirty="0"/>
          </a:p>
        </p:txBody>
      </p:sp>
      <p:sp>
        <p:nvSpPr>
          <p:cNvPr id="15" name="Shape 12">
          </p:cNvPr>
          <p:cNvSpPr/>
          <p:nvPr>
          </p:nvPr>
        </p:nvSpPr>
        <p:spPr>
          <a:xfrm>
            <a:off x="4021328" y="2532888"/>
            <a:ext cx="329184" cy="0"/>
          </a:xfrm>
          <a:prstGeom prst="line">
            <a:avLst>
            </a:avLst>
          </a:prstGeom>
          <a:noFill/>
          <a:ln w="27940">
            <a:solidFill>
              <a:srgbClr val="B49AFF"/>
            </a:solidFill>
            <a:prstDash val="solid"/>
            <a:headEnd type="none"/>
            <a:tailEnd type="triangle"/>
          </a:ln>
        </p:spPr>
      </p:sp>
      <p:sp>
        <p:nvSpPr>
          <p:cNvPr id="16" name="Shape 13">
          </p:cNvPr>
          <p:cNvSpPr/>
          <p:nvPr>
          </p:nvPr>
        </p:nvSpPr>
        <p:spPr>
          <a:xfrm>
            <a:off x="441452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17" name="Text 14">
          </p:cNvPr>
          <p:cNvSpPr/>
          <p:nvPr>
          </p:nvPr>
        </p:nvSpPr>
        <p:spPr>
          <a:xfrm>
            <a:off x="457911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Carica</a:t>
            </a:r>
            <a:endParaRPr lang="en-US" sz="2000" dirty="0"/>
          </a:p>
        </p:txBody>
      </p:sp>
      <p:sp>
        <p:nvSpPr>
          <p:cNvPr id="18" name="Text 15">
          </p:cNvPr>
          <p:cNvSpPr/>
          <p:nvPr>
          </p:nvPr>
        </p:nvSpPr>
        <p:spPr>
          <a:xfrm>
            <a:off x="454253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SKILL.md</a:t>
            </a:r>
            <a:endParaRPr lang="en-US" sz="1420" dirty="0"/>
          </a:p>
        </p:txBody>
      </p:sp>
      <p:sp>
        <p:nvSpPr>
          <p:cNvPr id="19" name="Shape 16">
          </p:cNvPr>
          <p:cNvSpPr/>
          <p:nvPr>
          </p:nvPr>
        </p:nvSpPr>
        <p:spPr>
          <a:xfrm>
            <a:off x="7841488" y="2532888"/>
            <a:ext cx="329184" cy="0"/>
          </a:xfrm>
          <a:prstGeom prst="line">
            <a:avLst>
            </a:avLst>
          </a:prstGeom>
          <a:noFill/>
          <a:ln w="27940">
            <a:solidFill>
              <a:srgbClr val="B49AFF"/>
            </a:solidFill>
            <a:prstDash val="solid"/>
            <a:headEnd type="none"/>
            <a:tailEnd type="triangle"/>
          </a:ln>
        </p:spPr>
      </p:sp>
      <p:sp>
        <p:nvSpPr>
          <p:cNvPr id="20" name="Shape 17">
          </p:cNvPr>
          <p:cNvSpPr/>
          <p:nvPr>
          </p:nvPr>
        </p:nvSpPr>
        <p:spPr>
          <a:xfrm>
            <a:off x="823468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21" name="Text 18">
          </p:cNvPr>
          <p:cNvSpPr/>
          <p:nvPr>
          </p:nvPr>
        </p:nvSpPr>
        <p:spPr>
          <a:xfrm>
            <a:off x="839927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</a:t>
            </a:r>
            <a:endParaRPr lang="en-US" sz="2000" dirty="0"/>
          </a:p>
        </p:txBody>
      </p:sp>
      <p:sp>
        <p:nvSpPr>
          <p:cNvPr id="22" name="Text 19">
          </p:cNvPr>
          <p:cNvSpPr/>
          <p:nvPr>
          </p:nvPr>
        </p:nvSpPr>
        <p:spPr>
          <a:xfrm>
            <a:off x="836269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Istruzioni ai fatti</a:t>
            </a:r>
            <a:endParaRPr lang="en-US" sz="1420" dirty="0"/>
          </a:p>
        </p:txBody>
      </p:sp>
      <p:sp>
        <p:nvSpPr>
          <p:cNvPr id="23" name="Shape 20">
          </p:cNvPr>
          <p:cNvSpPr/>
          <p:nvPr>
          </p:nvPr>
        </p:nvSpPr>
        <p:spPr>
          <a:xfrm>
            <a:off x="594360" y="3410712"/>
            <a:ext cx="5355336" cy="2157984"/>
          </a:xfrm>
          <a:prstGeom prst="roundRect">
            <a:avLst>
              <a:gd name="adj" fmla="val 55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4" name="Text 21">
          </p:cNvPr>
          <p:cNvSpPr/>
          <p:nvPr>
          </p:nvPr>
        </p:nvSpPr>
        <p:spPr>
          <a:xfrm>
            <a:off x="822960" y="360273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minimo</a:t>
            </a:r>
            <a:endParaRPr lang="en-US" sz="2200" dirty="0"/>
          </a:p>
        </p:txBody>
      </p:sp>
      <p:sp>
        <p:nvSpPr>
          <p:cNvPr id="25" name="Text 22">
          </p:cNvPr>
          <p:cNvSpPr/>
          <p:nvPr>
          </p:nvPr>
        </p:nvSpPr>
        <p:spPr>
          <a:xfrm>
            <a:off x="822960" y="4133088"/>
            <a:ext cx="4898136" cy="12435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cartella con SKILL.md.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Frontmatter: name e description.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 istruzioni brevi in Markdown.</a:t>
            </a:r>
            <a:endParaRPr lang="en-US" sz="1900" dirty="0"/>
          </a:p>
        </p:txBody>
      </p:sp>
      <p:sp>
        <p:nvSpPr>
          <p:cNvPr id="26" name="Shape 23">
          </p:cNvPr>
          <p:cNvSpPr/>
          <p:nvPr>
          </p:nvPr>
        </p:nvSpPr>
        <p:spPr>
          <a:xfrm>
            <a:off x="6242304" y="3410712"/>
            <a:ext cx="5355336" cy="2157984"/>
          </a:xfrm>
          <a:prstGeom prst="roundRect">
            <a:avLst>
              <a:gd name="adj" fmla="val 55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7" name="Text 24">
          </p:cNvPr>
          <p:cNvSpPr/>
          <p:nvPr>
          </p:nvPr>
        </p:nvSpPr>
        <p:spPr>
          <a:xfrm>
            <a:off x="6470904" y="360273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Niente altro obbligatorio</a:t>
            </a:r>
            <a:endParaRPr lang="en-US" sz="2200" dirty="0"/>
          </a:p>
        </p:txBody>
      </p:sp>
      <p:sp>
        <p:nvSpPr>
          <p:cNvPr id="28" name="Text 25">
          </p:cNvPr>
          <p:cNvSpPr/>
          <p:nvPr>
          </p:nvPr>
        </p:nvSpPr>
        <p:spPr>
          <a:xfrm>
            <a:off x="6470904" y="4133088"/>
            <a:ext cx="4898136" cy="12435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Template: solo opzionale.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Nessuno script executor.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 secondo agente o server Skill.</a:t>
            </a:r>
            <a:endParaRPr lang="en-US" sz="1900" dirty="0"/>
          </a:p>
        </p:txBody>
      </p:sp>
      <p:sp>
        <p:nvSpPr>
          <p:cNvPr id="29" name="Shape 26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B49AFF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30" name="Text 27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skill organizza il lavoro. Non inventa i dati che mancano.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B49AFF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· SKILL</a:t>
            </a:r>
            <a:endParaRPr lang="en-US" sz="1100" dirty="0"/>
          </a:p>
        </p:txBody>
      </p:sp>
      <p:sp>
        <p:nvSpPr>
          <p:cNvPr id="4" name="Shape 2">
          </p:cNvPr>
          <p:cNvSpPr/>
          <p:nvPr>
          </p:nvPr>
        </p:nvSpPr>
        <p:spPr>
          <a:xfrm>
            <a:off x="9966960" y="274320"/>
            <a:ext cx="1618488" cy="274320"/>
          </a:xfrm>
          <a:prstGeom prst="rect">
            <a:avLst>
              <a:gd name="adj" fmla="val 43333"/>
            </a:avLst>
          </a:prstGeom>
          <a:solidFill>
            <a:srgbClr val="B49AFF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5" name="Text 3">
          </p:cNvPr>
          <p:cNvSpPr/>
          <p:nvPr>
          </p:nvPr>
        </p:nvSpPr>
        <p:spPr>
          <a:xfrm>
            <a:off x="10058400" y="285293"/>
            <a:ext cx="143560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B1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1050" dirty="0"/>
          </a:p>
        </p:txBody>
      </p:sp>
      <p:sp>
        <p:nvSpPr>
          <p:cNvPr id="6" name="Text 4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Briefing di viaggio con city-briefing</a:t>
            </a:r>
            <a:endParaRPr lang="en-US" sz="3150" dirty="0"/>
          </a:p>
        </p:txBody>
      </p:sp>
      <p:sp>
        <p:nvSpPr>
          <p:cNvPr id="7" name="Shape 5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8" name="Text 6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9" name="Text 7">
            <a:hlinkClick r:id="rId1" tooltip=""/>
          </p:cNvPr>
          <p:cNvSpPr/>
          <p:nvPr>
          </p:nvPr>
        </p:nvSpPr>
        <p:spPr>
          <a:xfrm>
            <a:off x="36118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Skills ↗</a:t>
            </a:r>
            <a:endParaRPr lang="en-US" sz="940" dirty="0"/>
          </a:p>
        </p:txBody>
      </p:sp>
      <p:sp>
        <p:nvSpPr>
          <p:cNvPr id="10" name="Text 8">
            <a:hlinkClick r:id="rId2" tooltip=""/>
          </p:cNvPr>
          <p:cNvSpPr/>
          <p:nvPr>
          </p:nvPr>
        </p:nvSpPr>
        <p:spPr>
          <a:xfrm>
            <a:off x="63550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Skills · specifica ↗</a:t>
            </a:r>
            <a:endParaRPr lang="en-US" sz="940" dirty="0"/>
          </a:p>
        </p:txBody>
      </p:sp>
      <p:sp>
        <p:nvSpPr>
          <p:cNvPr id="11" name="Text 9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20</a:t>
            </a:r>
            <a:endParaRPr lang="en-US" sz="950" dirty="0"/>
          </a:p>
        </p:txBody>
      </p:sp>
      <p:sp>
        <p:nvSpPr>
          <p:cNvPr id="13" name="Shape 10">
          </p:cNvPr>
          <p:cNvSpPr/>
          <p:nvPr>
          </p:nvPr>
        </p:nvSpPr>
        <p:spPr>
          <a:xfrm>
            <a:off x="594360" y="1609344"/>
            <a:ext cx="11003280" cy="603504"/>
          </a:xfrm>
          <a:prstGeom prst="rect">
            <a:avLst>
              <a:gd name="adj" fmla="val 19697"/>
            </a:avLst>
          </a:prstGeom>
          <a:solidFill>
            <a:srgbClr val="151F35"/>
          </a:solidFill>
          <a:ln w="7620">
            <a:solidFill>
              <a:srgbClr val="151F35"/>
            </a:solidFill>
            <a:prstDash val="solid"/>
          </a:ln>
        </p:spPr>
      </p:sp>
      <p:sp>
        <p:nvSpPr>
          <p:cNvPr id="14" name="Text 11">
          </p:cNvPr>
          <p:cNvSpPr/>
          <p:nvPr>
          </p:nvPr>
        </p:nvSpPr>
        <p:spPr>
          <a:xfrm>
            <a:off x="786384" y="1719072"/>
            <a:ext cx="10619232" cy="35661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«Prepara un briefing per visitare Torino.»</a:t>
            </a:r>
            <a:endParaRPr lang="en-US" sz="1900" dirty="0"/>
          </a:p>
        </p:txBody>
      </p:sp>
      <p:sp>
        <p:nvSpPr>
          <p:cNvPr id="15" name="Shape 12">
          </p:cNvPr>
          <p:cNvSpPr/>
          <p:nvPr>
          </p:nvPr>
        </p:nvSpPr>
        <p:spPr>
          <a:xfrm>
            <a:off x="59436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16" name="Text 13">
          </p:cNvPr>
          <p:cNvSpPr/>
          <p:nvPr>
          </p:nvPr>
        </p:nvSpPr>
        <p:spPr>
          <a:xfrm>
            <a:off x="75895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agente MAF C#</a:t>
            </a:r>
            <a:endParaRPr lang="en-US" sz="2000" dirty="0"/>
          </a:p>
        </p:txBody>
      </p:sp>
      <p:sp>
        <p:nvSpPr>
          <p:cNvPr id="17" name="Text 14">
          </p:cNvPr>
          <p:cNvSpPr/>
          <p:nvPr>
          </p:nvPr>
        </p:nvSpPr>
        <p:spPr>
          <a:xfrm>
            <a:off x="72237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 tool C# locali</a:t>
            </a:r>
            <a:endParaRPr lang="en-US" sz="1420" dirty="0"/>
          </a:p>
        </p:txBody>
      </p:sp>
      <p:sp>
        <p:nvSpPr>
          <p:cNvPr id="18" name="Shape 15">
          </p:cNvPr>
          <p:cNvSpPr/>
          <p:nvPr>
          </p:nvPr>
        </p:nvSpPr>
        <p:spPr>
          <a:xfrm>
            <a:off x="4021328" y="3044952"/>
            <a:ext cx="329184" cy="0"/>
          </a:xfrm>
          <a:prstGeom prst="line">
            <a:avLst>
            </a:avLst>
          </a:prstGeom>
          <a:noFill/>
          <a:ln w="27940">
            <a:solidFill>
              <a:srgbClr val="B49AFF"/>
            </a:solidFill>
            <a:prstDash val="solid"/>
            <a:headEnd type="none"/>
            <a:tailEnd type="triangle"/>
          </a:ln>
        </p:spPr>
      </p:sp>
      <p:sp>
        <p:nvSpPr>
          <p:cNvPr id="19" name="Shape 16">
          </p:cNvPr>
          <p:cNvSpPr/>
          <p:nvPr>
          </p:nvPr>
        </p:nvSpPr>
        <p:spPr>
          <a:xfrm>
            <a:off x="441452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20" name="Text 17">
          </p:cNvPr>
          <p:cNvSpPr/>
          <p:nvPr>
          </p:nvPr>
        </p:nvSpPr>
        <p:spPr>
          <a:xfrm>
            <a:off x="457911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AgentSkillsProvider</a:t>
            </a:r>
            <a:endParaRPr lang="en-US" sz="2000" dirty="0"/>
          </a:p>
        </p:txBody>
      </p:sp>
      <p:sp>
        <p:nvSpPr>
          <p:cNvPr id="21" name="Text 18">
          </p:cNvPr>
          <p:cNvSpPr/>
          <p:nvPr>
          </p:nvPr>
        </p:nvSpPr>
        <p:spPr>
          <a:xfrm>
            <a:off x="454253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Carica city-briefing</a:t>
            </a:r>
            <a:endParaRPr lang="en-US" sz="1420" dirty="0"/>
          </a:p>
        </p:txBody>
      </p:sp>
      <p:sp>
        <p:nvSpPr>
          <p:cNvPr id="22" name="Shape 19">
          </p:cNvPr>
          <p:cNvSpPr/>
          <p:nvPr>
          </p:nvPr>
        </p:nvSpPr>
        <p:spPr>
          <a:xfrm>
            <a:off x="7841488" y="3044952"/>
            <a:ext cx="329184" cy="0"/>
          </a:xfrm>
          <a:prstGeom prst="line">
            <a:avLst>
            </a:avLst>
          </a:prstGeom>
          <a:noFill/>
          <a:ln w="27940">
            <a:solidFill>
              <a:srgbClr val="B49AFF"/>
            </a:solidFill>
            <a:prstDash val="solid"/>
            <a:headEnd type="none"/>
            <a:tailEnd type="triangle"/>
          </a:ln>
        </p:spPr>
      </p:sp>
      <p:sp>
        <p:nvSpPr>
          <p:cNvPr id="23" name="Shape 20">
          </p:cNvPr>
          <p:cNvSpPr/>
          <p:nvPr>
          </p:nvPr>
        </p:nvSpPr>
        <p:spPr>
          <a:xfrm>
            <a:off x="823468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24" name="Text 21">
          </p:cNvPr>
          <p:cNvSpPr/>
          <p:nvPr>
          </p:nvPr>
        </p:nvSpPr>
        <p:spPr>
          <a:xfrm>
            <a:off x="839927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SKILL.md</a:t>
            </a:r>
            <a:endParaRPr lang="en-US" sz="2000" dirty="0"/>
          </a:p>
        </p:txBody>
      </p:sp>
      <p:sp>
        <p:nvSpPr>
          <p:cNvPr id="25" name="Text 22">
          </p:cNvPr>
          <p:cNvSpPr/>
          <p:nvPr>
          </p:nvPr>
        </p:nvSpPr>
        <p:spPr>
          <a:xfrm>
            <a:off x="836269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 i tre tool</a:t>
            </a:r>
            <a:endParaRPr lang="en-US" sz="1420" dirty="0"/>
          </a:p>
        </p:txBody>
      </p:sp>
      <p:sp>
        <p:nvSpPr>
          <p:cNvPr id="26" name="Shape 23">
          </p:cNvPr>
          <p:cNvSpPr/>
          <p:nvPr>
          </p:nvPr>
        </p:nvSpPr>
        <p:spPr>
          <a:xfrm>
            <a:off x="594360" y="3831336"/>
            <a:ext cx="5355336" cy="1764792"/>
          </a:xfrm>
          <a:prstGeom prst="roundRect">
            <a:avLst>
              <a:gd name="adj" fmla="val 6736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7" name="Text 24">
          </p:cNvPr>
          <p:cNvSpPr/>
          <p:nvPr>
          </p:nvPr>
        </p:nvSpPr>
        <p:spPr>
          <a:xfrm>
            <a:off x="822960" y="4023360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3 file da mostrare</a:t>
            </a:r>
            <a:endParaRPr lang="en-US" sz="2200" dirty="0"/>
          </a:p>
        </p:txBody>
      </p:sp>
      <p:sp>
        <p:nvSpPr>
          <p:cNvPr id="28" name="Text 25">
          </p:cNvPr>
          <p:cNvSpPr/>
          <p:nvPr>
          </p:nvPr>
        </p:nvSpPr>
        <p:spPr>
          <a:xfrm>
            <a:off x="822960" y="4553712"/>
            <a:ext cx="4898136" cy="8503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Basic.Skill\SkillDemo.cs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Basic.Skill\skills\base\city-briefing\SKILL.md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CityBriefingTools.cs · 3 tool</a:t>
            </a:r>
            <a:endParaRPr lang="en-US" sz="1540" dirty="0"/>
          </a:p>
        </p:txBody>
      </p:sp>
      <p:sp>
        <p:nvSpPr>
          <p:cNvPr id="29" name="Shape 26">
          </p:cNvPr>
          <p:cNvSpPr/>
          <p:nvPr>
          </p:nvPr>
        </p:nvSpPr>
        <p:spPr>
          <a:xfrm>
            <a:off x="6242304" y="3831336"/>
            <a:ext cx="5355336" cy="1764792"/>
          </a:xfrm>
          <a:prstGeom prst="roundRect">
            <a:avLst>
              <a:gd name="adj" fmla="val 6736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30" name="Text 27">
          </p:cNvPr>
          <p:cNvSpPr/>
          <p:nvPr>
          </p:nvPr>
        </p:nvSpPr>
        <p:spPr>
          <a:xfrm>
            <a:off x="6470904" y="4023360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passaggio visibile</a:t>
            </a:r>
            <a:endParaRPr lang="en-US" sz="2200" dirty="0"/>
          </a:p>
        </p:txBody>
      </p:sp>
      <p:sp>
        <p:nvSpPr>
          <p:cNvPr id="31" name="Text 28">
          </p:cNvPr>
          <p:cNvSpPr/>
          <p:nvPr>
          </p:nvPr>
        </p:nvSpPr>
        <p:spPr>
          <a:xfrm>
            <a:off x="6470904" y="4553712"/>
            <a:ext cx="4898136" cy="8503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Carica la Skill, poi usa i tool.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Meteo / Cosa portare / Attenzioni.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Dati mock, nessuna previsione reale.</a:t>
            </a:r>
            <a:endParaRPr lang="en-US" sz="1900" dirty="0"/>
          </a:p>
        </p:txBody>
      </p:sp>
      <p:sp>
        <p:nvSpPr>
          <p:cNvPr id="32" name="Shape 29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B49AFF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33" name="Text 30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· La Skill guida tre tool locali. Nessun MCP o A2A.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· COMMERCE INTEGRATO</a:t>
            </a:r>
            <a:endParaRPr lang="en-US" sz="1100" dirty="0"/>
          </a:p>
        </p:txBody>
      </p:sp>
      <p:sp>
        <p:nvSpPr>
          <p:cNvPr id="4" name="Text 2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pacco mi serve domani</a:t>
            </a:r>
            <a:endParaRPr lang="en-US" sz="3150" dirty="0"/>
          </a:p>
        </p:txBody>
      </p:sp>
      <p:sp>
        <p:nvSpPr>
          <p:cNvPr id="5" name="Shape 3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6" name="Text 4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7" name="Text 5">
            <a:hlinkClick r:id="rId1" tooltip=""/>
          </p:cNvPr>
          <p:cNvSpPr/>
          <p:nvPr>
          </p:nvPr>
        </p:nvSpPr>
        <p:spPr>
          <a:xfrm>
            <a:off x="361188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· architettura ↗</a:t>
            </a:r>
            <a:endParaRPr lang="en-US" sz="940" dirty="0"/>
          </a:p>
        </p:txBody>
      </p:sp>
      <p:sp>
        <p:nvSpPr>
          <p:cNvPr id="8" name="Text 6">
            <a:hlinkClick r:id="rId2" tooltip=""/>
          </p:cNvPr>
          <p:cNvSpPr/>
          <p:nvPr>
          </p:nvPr>
        </p:nvSpPr>
        <p:spPr>
          <a:xfrm>
            <a:off x="598932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A2A · specifica ↗</a:t>
            </a:r>
            <a:endParaRPr lang="en-US" sz="940" dirty="0"/>
          </a:p>
        </p:txBody>
      </p:sp>
      <p:sp>
        <p:nvSpPr>
          <p:cNvPr id="9" name="Text 7">
            <a:hlinkClick r:id="rId3" tooltip=""/>
          </p:cNvPr>
          <p:cNvSpPr/>
          <p:nvPr>
          </p:nvPr>
        </p:nvSpPr>
        <p:spPr>
          <a:xfrm>
            <a:off x="836676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Skills ↗</a:t>
            </a:r>
            <a:endParaRPr lang="en-US" sz="940" dirty="0"/>
          </a:p>
        </p:txBody>
      </p:sp>
      <p:sp>
        <p:nvSpPr>
          <p:cNvPr id="10" name="Text 8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20</a:t>
            </a:r>
            <a:endParaRPr lang="en-US" sz="950" dirty="0"/>
          </a:p>
        </p:txBody>
      </p:sp>
      <p:sp>
        <p:nvSpPr>
          <p:cNvPr id="12" name="Text 9">
          </p:cNvPr>
          <p:cNvSpPr/>
          <p:nvPr>
          </p:nvPr>
        </p:nvSpPr>
        <p:spPr>
          <a:xfrm>
            <a:off x="667512" y="1737360"/>
            <a:ext cx="10856976" cy="157276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“L’ordine ORD-1042 doveva arrivare oggi. Domani parto per Torino: quali alternative ho? Non confermare nulla senza chiedermelo.”</a:t>
            </a:r>
            <a:endParaRPr lang="en-US" sz="2800" dirty="0"/>
          </a:p>
        </p:txBody>
      </p:sp>
      <p:sp>
        <p:nvSpPr>
          <p:cNvPr id="13" name="Shape 10">
          </p:cNvPr>
          <p:cNvSpPr/>
          <p:nvPr>
          </p:nvPr>
        </p:nvSpPr>
        <p:spPr>
          <a:xfrm>
            <a:off x="594360" y="3703320"/>
            <a:ext cx="3503168" cy="1920240"/>
          </a:xfrm>
          <a:prstGeom prst="roundRect">
            <a:avLst>
              <a:gd name="adj" fmla="val 6190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14" name="Shape 11">
          </p:cNvPr>
          <p:cNvSpPr/>
          <p:nvPr>
          </p:nvPr>
        </p:nvSpPr>
        <p:spPr>
          <a:xfrm>
            <a:off x="603504" y="3867912"/>
            <a:ext cx="41148" cy="1591056"/>
          </a:xfrm>
          <a:prstGeom prst="rect">
            <a:avLst>
              <a:gd name="adj" fmla="val 288889"/>
            </a:avLst>
          </a:prstGeom>
          <a:solidFill>
            <a:srgbClr val="FF784F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15" name="Text 12">
          </p:cNvPr>
          <p:cNvSpPr/>
          <p:nvPr>
          </p:nvPr>
        </p:nvSpPr>
        <p:spPr>
          <a:xfrm>
            <a:off x="822960" y="3941064"/>
            <a:ext cx="3045968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solo ordine</a:t>
            </a:r>
            <a:endParaRPr lang="en-US" sz="2300" dirty="0"/>
          </a:p>
        </p:txBody>
      </p:sp>
      <p:sp>
        <p:nvSpPr>
          <p:cNvPr id="16" name="Text 13">
          </p:cNvPr>
          <p:cNvSpPr/>
          <p:nvPr>
          </p:nvPr>
        </p:nvSpPr>
        <p:spPr>
          <a:xfrm>
            <a:off x="822960" y="4453128"/>
            <a:ext cx="3045968" cy="94183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83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ORD-1042</a:t>
            </a:r>
            <a:endParaRPr lang="en-US" sz="1830" dirty="0"/>
          </a:p>
          <a:p>
            <a:pPr indent="0" marL="0">
              <a:buNone/>
            </a:pPr>
            <a:r>
              <a:rPr lang="en-US" sz="183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Dati sintetici</a:t>
            </a:r>
            <a:endParaRPr lang="en-US" sz="1830" dirty="0"/>
          </a:p>
        </p:txBody>
      </p:sp>
      <p:sp>
        <p:nvSpPr>
          <p:cNvPr id="17" name="Shape 14">
          </p:cNvPr>
          <p:cNvSpPr/>
          <p:nvPr>
          </p:nvPr>
        </p:nvSpPr>
        <p:spPr>
          <a:xfrm>
            <a:off x="4344416" y="3703320"/>
            <a:ext cx="3503168" cy="1920240"/>
          </a:xfrm>
          <a:prstGeom prst="roundRect">
            <a:avLst>
              <a:gd name="adj" fmla="val 6190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18" name="Shape 15">
          </p:cNvPr>
          <p:cNvSpPr/>
          <p:nvPr>
          </p:nvPr>
        </p:nvSpPr>
        <p:spPr>
          <a:xfrm>
            <a:off x="4353560" y="3867912"/>
            <a:ext cx="41148" cy="1591056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19" name="Text 16">
          </p:cNvPr>
          <p:cNvSpPr/>
          <p:nvPr>
          </p:nvPr>
        </p:nvSpPr>
        <p:spPr>
          <a:xfrm>
            <a:off x="4573016" y="3941064"/>
            <a:ext cx="3045968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Clock fisso</a:t>
            </a:r>
            <a:endParaRPr lang="en-US" sz="2300" dirty="0"/>
          </a:p>
        </p:txBody>
      </p:sp>
      <p:sp>
        <p:nvSpPr>
          <p:cNvPr id="20" name="Text 17">
          </p:cNvPr>
          <p:cNvSpPr/>
          <p:nvPr>
          </p:nvPr>
        </p:nvSpPr>
        <p:spPr>
          <a:xfrm>
            <a:off x="4573016" y="4453128"/>
            <a:ext cx="3045968" cy="94183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83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05/10/2026 · 09:00</a:t>
            </a:r>
            <a:endParaRPr lang="en-US" sz="1830" dirty="0"/>
          </a:p>
          <a:p>
            <a:pPr indent="0" marL="0">
              <a:buNone/>
            </a:pPr>
            <a:r>
              <a:rPr lang="en-US" sz="183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Fuso +02:00</a:t>
            </a:r>
            <a:endParaRPr lang="en-US" sz="1830" dirty="0"/>
          </a:p>
        </p:txBody>
      </p:sp>
      <p:sp>
        <p:nvSpPr>
          <p:cNvPr id="21" name="Shape 18">
          </p:cNvPr>
          <p:cNvSpPr/>
          <p:nvPr>
          </p:nvPr>
        </p:nvSpPr>
        <p:spPr>
          <a:xfrm>
            <a:off x="8094472" y="3703320"/>
            <a:ext cx="3503168" cy="1920240"/>
          </a:xfrm>
          <a:prstGeom prst="roundRect">
            <a:avLst>
              <a:gd name="adj" fmla="val 6190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2" name="Shape 19">
          </p:cNvPr>
          <p:cNvSpPr/>
          <p:nvPr>
          </p:nvPr>
        </p:nvSpPr>
        <p:spPr>
          <a:xfrm>
            <a:off x="8103616" y="3867912"/>
            <a:ext cx="41148" cy="1591056"/>
          </a:xfrm>
          <a:prstGeom prst="rect">
            <a:avLst>
              <a:gd name="adj" fmla="val 288889"/>
            </a:avLst>
          </a:prstGeom>
          <a:solidFill>
            <a:srgbClr val="B49AFF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23" name="Text 20">
          </p:cNvPr>
          <p:cNvSpPr/>
          <p:nvPr>
          </p:nvPr>
        </p:nvSpPr>
        <p:spPr>
          <a:xfrm>
            <a:off x="8323072" y="3941064"/>
            <a:ext cx="3045968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Scadenza</a:t>
            </a:r>
            <a:endParaRPr lang="en-US" sz="2300" dirty="0"/>
          </a:p>
        </p:txBody>
      </p:sp>
      <p:sp>
        <p:nvSpPr>
          <p:cNvPr id="24" name="Text 21">
          </p:cNvPr>
          <p:cNvSpPr/>
          <p:nvPr>
          </p:nvPr>
        </p:nvSpPr>
        <p:spPr>
          <a:xfrm>
            <a:off x="8323072" y="4453128"/>
            <a:ext cx="3045968" cy="94183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83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06/10/2026 · 09:00</a:t>
            </a:r>
            <a:endParaRPr lang="en-US" sz="1830" dirty="0"/>
          </a:p>
          <a:p>
            <a:pPr indent="0" marL="0">
              <a:buNone/>
            </a:pPr>
            <a:r>
              <a:rPr lang="en-US" sz="183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Fuso +02:00</a:t>
            </a:r>
            <a:endParaRPr lang="en-US" sz="1830" dirty="0"/>
          </a:p>
        </p:txBody>
      </p:sp>
      <p:sp>
        <p:nvSpPr>
          <p:cNvPr id="25" name="Shape 22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26" name="Text 23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Dati sintetici. Modello reale GPT-6 SOL. Nessuna scrittura.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· FATTI DEL MOCK</a:t>
            </a:r>
            <a:endParaRPr lang="en-US" sz="1100" dirty="0"/>
          </a:p>
        </p:txBody>
      </p:sp>
      <p:sp>
        <p:nvSpPr>
          <p:cNvPr id="4" name="Text 2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tool. Due GET. Nessuna scrittura.</a:t>
            </a:r>
            <a:endParaRPr lang="en-US" sz="3150" dirty="0"/>
          </a:p>
        </p:txBody>
      </p:sp>
      <p:sp>
        <p:nvSpPr>
          <p:cNvPr id="5" name="Text 3">
          </p:cNvPr>
          <p:cNvSpPr/>
          <p:nvPr>
          </p:nvPr>
        </p:nvSpPr>
        <p:spPr>
          <a:xfrm>
            <a:off x="594360" y="1362456"/>
            <a:ext cx="11003280" cy="38404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specialista legge questi fatti via MCP. Due GET nel mock.</a:t>
            </a:r>
            <a:endParaRPr lang="en-US" sz="1730" dirty="0"/>
          </a:p>
        </p:txBody>
      </p:sp>
      <p:sp>
        <p:nvSpPr>
          <p:cNvPr id="6" name="Shape 4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7" name="Text 5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8" name="Text 6">
            <a:hlinkClick r:id="rId1" tooltip=""/>
          </p:cNvPr>
          <p:cNvSpPr/>
          <p:nvPr>
          </p:nvPr>
        </p:nvSpPr>
        <p:spPr>
          <a:xfrm>
            <a:off x="36118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· architettura ↗</a:t>
            </a:r>
            <a:endParaRPr lang="en-US" sz="940" dirty="0"/>
          </a:p>
        </p:txBody>
      </p:sp>
      <p:sp>
        <p:nvSpPr>
          <p:cNvPr id="9" name="Text 7">
            <a:hlinkClick r:id="rId2" tooltip=""/>
          </p:cNvPr>
          <p:cNvSpPr/>
          <p:nvPr>
          </p:nvPr>
        </p:nvSpPr>
        <p:spPr>
          <a:xfrm>
            <a:off x="63550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MCP ↗</a:t>
            </a:r>
            <a:endParaRPr lang="en-US" sz="940" dirty="0"/>
          </a:p>
        </p:txBody>
      </p:sp>
      <p:sp>
        <p:nvSpPr>
          <p:cNvPr id="10" name="Text 8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20</a:t>
            </a:r>
            <a:endParaRPr lang="en-US" sz="950" dirty="0"/>
          </a:p>
        </p:txBody>
      </p:sp>
      <p:sp>
        <p:nvSpPr>
          <p:cNvPr id="12" name="Shape 9">
          </p:cNvPr>
          <p:cNvSpPr/>
          <p:nvPr>
          </p:nvPr>
        </p:nvSpPr>
        <p:spPr>
          <a:xfrm>
            <a:off x="594360" y="1993392"/>
            <a:ext cx="5355336" cy="3575304"/>
          </a:xfrm>
          <a:prstGeom prst="roundRect">
            <a:avLst>
              <a:gd name="adj" fmla="val 3325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13" name="Text 10">
          </p:cNvPr>
          <p:cNvSpPr/>
          <p:nvPr>
          </p:nvPr>
        </p:nvSpPr>
        <p:spPr>
          <a:xfrm>
            <a:off x="822960" y="218541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ORD-1042 · fatti sintetici</a:t>
            </a:r>
            <a:endParaRPr lang="en-US" sz="2200" dirty="0"/>
          </a:p>
        </p:txBody>
      </p:sp>
      <p:sp>
        <p:nvSpPr>
          <p:cNvPr id="14" name="Text 11">
          </p:cNvPr>
          <p:cNvSpPr/>
          <p:nvPr>
          </p:nvPr>
        </p:nvSpPr>
        <p:spPr>
          <a:xfrm>
            <a:off x="822960" y="2715768"/>
            <a:ext cx="4898136" cy="2660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ETA: 07/10, ore 12:00 — in ritardo.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Deposito oggi 14–18: gratis, documento.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cliente può raggiungerlo? Da chiedere.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Punto ritiro: 06/10 ore 16:00, €4.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punto è oltre la deadline delle 09:00.</a:t>
            </a:r>
            <a:endParaRPr lang="en-US" sz="1900" dirty="0"/>
          </a:p>
        </p:txBody>
      </p:sp>
      <p:sp>
        <p:nvSpPr>
          <p:cNvPr id="15" name="Shape 12">
          </p:cNvPr>
          <p:cNvSpPr/>
          <p:nvPr>
          </p:nvPr>
        </p:nvSpPr>
        <p:spPr>
          <a:xfrm>
            <a:off x="6242304" y="1993392"/>
            <a:ext cx="5355336" cy="3575304"/>
          </a:xfrm>
          <a:prstGeom prst="roundRect">
            <a:avLst>
              <a:gd name="adj" fmla="val 3325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16" name="Text 13">
          </p:cNvPr>
          <p:cNvSpPr/>
          <p:nvPr>
          </p:nvPr>
        </p:nvSpPr>
        <p:spPr>
          <a:xfrm>
            <a:off x="6470904" y="218541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Contratto minimo</a:t>
            </a:r>
            <a:endParaRPr lang="en-US" sz="2200" dirty="0"/>
          </a:p>
        </p:txBody>
      </p:sp>
      <p:sp>
        <p:nvSpPr>
          <p:cNvPr id="17" name="Text 14">
          </p:cNvPr>
          <p:cNvSpPr/>
          <p:nvPr>
          </p:nvPr>
        </p:nvSpPr>
        <p:spPr>
          <a:xfrm>
            <a:off x="6470904" y="2715768"/>
            <a:ext cx="4898136" cy="2660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get_order(orderId)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/orders/{id}</a:t>
            </a:r>
            <a:endParaRPr lang="en-US" sz="1540" dirty="0"/>
          </a:p>
          <a:p>
            <a:pPr indent="0" marL="0">
              <a:buNone/>
            </a:pP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get_delivery_options(orderId)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/delivery-options?orderId=...</a:t>
            </a:r>
            <a:endParaRPr lang="en-US" sz="1540" dirty="0"/>
          </a:p>
        </p:txBody>
      </p:sp>
      <p:sp>
        <p:nvSpPr>
          <p:cNvPr id="18" name="Shape 15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19" name="Text 16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Disponibilità di un’opzione ≠ prenotazione. Tutti gli orari sono +02:00.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DI SUCCESSO</a:t>
            </a:r>
            <a:endParaRPr lang="en-US" sz="1100" dirty="0"/>
          </a:p>
        </p:txBody>
      </p:sp>
      <p:sp>
        <p:nvSpPr>
          <p:cNvPr id="4" name="Text 2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risposta utile, senza prenotare</a:t>
            </a:r>
            <a:endParaRPr lang="en-US" sz="3150" dirty="0"/>
          </a:p>
        </p:txBody>
      </p:sp>
      <p:sp>
        <p:nvSpPr>
          <p:cNvPr id="5" name="Text 3">
          </p:cNvPr>
          <p:cNvSpPr/>
          <p:nvPr>
          </p:nvPr>
        </p:nvSpPr>
        <p:spPr>
          <a:xfrm>
            <a:off x="594360" y="1362456"/>
            <a:ext cx="11003280" cy="38404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Leggere i fatti, spiegare i limiti, chiedere al cliente.</a:t>
            </a:r>
            <a:endParaRPr lang="en-US" sz="1730" dirty="0"/>
          </a:p>
        </p:txBody>
      </p:sp>
      <p:sp>
        <p:nvSpPr>
          <p:cNvPr id="6" name="Shape 4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7" name="Text 5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8" name="Text 6">
            <a:hlinkClick r:id="rId1" tooltip=""/>
          </p:cNvPr>
          <p:cNvSpPr/>
          <p:nvPr>
          </p:nvPr>
        </p:nvSpPr>
        <p:spPr>
          <a:xfrm>
            <a:off x="36118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· architettura ↗</a:t>
            </a:r>
            <a:endParaRPr lang="en-US" sz="940" dirty="0"/>
          </a:p>
        </p:txBody>
      </p:sp>
      <p:sp>
        <p:nvSpPr>
          <p:cNvPr id="9" name="Text 7">
            <a:hlinkClick r:id="rId2" tooltip=""/>
          </p:cNvPr>
          <p:cNvSpPr/>
          <p:nvPr>
          </p:nvPr>
        </p:nvSpPr>
        <p:spPr>
          <a:xfrm>
            <a:off x="63550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Skills ↗</a:t>
            </a:r>
            <a:endParaRPr lang="en-US" sz="940" dirty="0"/>
          </a:p>
        </p:txBody>
      </p:sp>
      <p:sp>
        <p:nvSpPr>
          <p:cNvPr id="10" name="Text 8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20</a:t>
            </a:r>
            <a:endParaRPr lang="en-US" sz="950" dirty="0"/>
          </a:p>
        </p:txBody>
      </p:sp>
      <p:sp>
        <p:nvSpPr>
          <p:cNvPr id="12" name="Shape 9">
          </p:cNvPr>
          <p:cNvSpPr/>
          <p:nvPr>
          </p:nvPr>
        </p:nvSpPr>
        <p:spPr>
          <a:xfrm>
            <a:off x="594360" y="1993392"/>
            <a:ext cx="5355336" cy="3575304"/>
          </a:xfrm>
          <a:prstGeom prst="roundRect">
            <a:avLst>
              <a:gd name="adj" fmla="val 3325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13" name="Text 10">
          </p:cNvPr>
          <p:cNvSpPr/>
          <p:nvPr>
          </p:nvPr>
        </p:nvSpPr>
        <p:spPr>
          <a:xfrm>
            <a:off x="822960" y="218541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Cosa deve dire</a:t>
            </a:r>
            <a:endParaRPr lang="en-US" sz="2200" dirty="0"/>
          </a:p>
        </p:txBody>
      </p:sp>
      <p:sp>
        <p:nvSpPr>
          <p:cNvPr id="14" name="Text 11">
          </p:cNvPr>
          <p:cNvSpPr/>
          <p:nvPr>
          </p:nvPr>
        </p:nvSpPr>
        <p:spPr>
          <a:xfrm>
            <a:off x="822960" y="2715768"/>
            <a:ext cx="4898136" cy="2660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consegna prevista è troppo tardi.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deposito gratuito è disponibile oggi.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Servono un documento e la tua presenza.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punto di domani alle 16 è fuori tempo.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Riesci a raggiungere il deposito oggi?</a:t>
            </a:r>
            <a:endParaRPr lang="en-US" sz="1900" dirty="0"/>
          </a:p>
        </p:txBody>
      </p:sp>
      <p:sp>
        <p:nvSpPr>
          <p:cNvPr id="15" name="Shape 12">
          </p:cNvPr>
          <p:cNvSpPr/>
          <p:nvPr>
          </p:nvPr>
        </p:nvSpPr>
        <p:spPr>
          <a:xfrm>
            <a:off x="6242304" y="1993392"/>
            <a:ext cx="5355336" cy="3575304"/>
          </a:xfrm>
          <a:prstGeom prst="roundRect">
            <a:avLst>
              <a:gd name="adj" fmla="val 3325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16" name="Text 13">
          </p:cNvPr>
          <p:cNvSpPr/>
          <p:nvPr>
          </p:nvPr>
        </p:nvSpPr>
        <p:spPr>
          <a:xfrm>
            <a:off x="6470904" y="218541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Cosa non deve inventare</a:t>
            </a:r>
            <a:endParaRPr lang="en-US" sz="2200" dirty="0"/>
          </a:p>
        </p:txBody>
      </p:sp>
      <p:sp>
        <p:nvSpPr>
          <p:cNvPr id="17" name="Text 14">
          </p:cNvPr>
          <p:cNvSpPr/>
          <p:nvPr>
          </p:nvPr>
        </p:nvSpPr>
        <p:spPr>
          <a:xfrm>
            <a:off x="6470904" y="2715768"/>
            <a:ext cx="4898136" cy="2660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 «ho confermato il ritiro».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 orario o costo aggiunto.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Nessuna promessa se il mock fallisce.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Riferire i fatti all’ordine e alle opzioni.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dichiarare il problema già risolto.</a:t>
            </a:r>
            <a:endParaRPr lang="en-US" sz="1900" dirty="0"/>
          </a:p>
        </p:txBody>
      </p:sp>
      <p:sp>
        <p:nvSpPr>
          <p:cNvPr id="18" name="Shape 15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19" name="Text 16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disponibilità si legge dal mock. La possibilità del cliente si chiede.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FF784F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· 3 / TOOL MCP</a:t>
            </a:r>
            <a:endParaRPr lang="en-US" sz="1100" dirty="0"/>
          </a:p>
        </p:txBody>
      </p:sp>
      <p:sp>
        <p:nvSpPr>
          <p:cNvPr id="4" name="Shape 2">
          </p:cNvPr>
          <p:cNvSpPr/>
          <p:nvPr>
          </p:nvPr>
        </p:nvSpPr>
        <p:spPr>
          <a:xfrm>
            <a:off x="9966960" y="274320"/>
            <a:ext cx="1618488" cy="274320"/>
          </a:xfrm>
          <a:prstGeom prst="rect">
            <a:avLst>
              <a:gd name="adj" fmla="val 43333"/>
            </a:avLst>
          </a:prstGeom>
          <a:solidFill>
            <a:srgbClr val="FF784F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5" name="Text 3">
          </p:cNvPr>
          <p:cNvSpPr/>
          <p:nvPr>
          </p:nvPr>
        </p:nvSpPr>
        <p:spPr>
          <a:xfrm>
            <a:off x="10058400" y="285293"/>
            <a:ext cx="143560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B1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1050" dirty="0"/>
          </a:p>
        </p:txBody>
      </p:sp>
      <p:sp>
        <p:nvSpPr>
          <p:cNvPr id="6" name="Text 4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specialista usa i tool MCP</a:t>
            </a:r>
            <a:endParaRPr lang="en-US" sz="3150" dirty="0"/>
          </a:p>
        </p:txBody>
      </p:sp>
      <p:sp>
        <p:nvSpPr>
          <p:cNvPr id="7" name="Shape 5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8" name="Text 6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9" name="Text 7">
            <a:hlinkClick r:id="rId1" tooltip=""/>
          </p:cNvPr>
          <p:cNvSpPr/>
          <p:nvPr>
          </p:nvPr>
        </p:nvSpPr>
        <p:spPr>
          <a:xfrm>
            <a:off x="36118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· architettura ↗</a:t>
            </a:r>
            <a:endParaRPr lang="en-US" sz="940" dirty="0"/>
          </a:p>
        </p:txBody>
      </p:sp>
      <p:sp>
        <p:nvSpPr>
          <p:cNvPr id="10" name="Text 8">
            <a:hlinkClick r:id="rId2" tooltip=""/>
          </p:cNvPr>
          <p:cNvSpPr/>
          <p:nvPr>
          </p:nvPr>
        </p:nvSpPr>
        <p:spPr>
          <a:xfrm>
            <a:off x="63550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MCP ↗</a:t>
            </a:r>
            <a:endParaRPr lang="en-US" sz="940" dirty="0"/>
          </a:p>
        </p:txBody>
      </p:sp>
      <p:sp>
        <p:nvSpPr>
          <p:cNvPr id="11" name="Text 9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20</a:t>
            </a:r>
            <a:endParaRPr lang="en-US" sz="950" dirty="0"/>
          </a:p>
        </p:txBody>
      </p:sp>
      <p:sp>
        <p:nvSpPr>
          <p:cNvPr id="13" name="Shape 10">
          </p:cNvPr>
          <p:cNvSpPr/>
          <p:nvPr>
          </p:nvPr>
        </p:nvSpPr>
        <p:spPr>
          <a:xfrm>
            <a:off x="594360" y="1609344"/>
            <a:ext cx="11003280" cy="603504"/>
          </a:xfrm>
          <a:prstGeom prst="rect">
            <a:avLst>
              <a:gd name="adj" fmla="val 19697"/>
            </a:avLst>
          </a:prstGeom>
          <a:solidFill>
            <a:srgbClr val="151F35"/>
          </a:solidFill>
          <a:ln w="7620">
            <a:solidFill>
              <a:srgbClr val="151F35"/>
            </a:solidFill>
            <a:prstDash val="solid"/>
          </a:ln>
        </p:spPr>
      </p:sp>
      <p:sp>
        <p:nvSpPr>
          <p:cNvPr id="14" name="Text 11">
          </p:cNvPr>
          <p:cNvSpPr/>
          <p:nvPr>
          </p:nvPr>
        </p:nvSpPr>
        <p:spPr>
          <a:xfrm>
            <a:off x="786384" y="1719072"/>
            <a:ext cx="10619232" cy="35661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Dentro la delega A2A: ordine e alternative, solo letture</a:t>
            </a:r>
            <a:endParaRPr lang="en-US" sz="1900" dirty="0"/>
          </a:p>
        </p:txBody>
      </p:sp>
      <p:sp>
        <p:nvSpPr>
          <p:cNvPr id="15" name="Shape 12">
          </p:cNvPr>
          <p:cNvSpPr/>
          <p:nvPr>
          </p:nvPr>
        </p:nvSpPr>
        <p:spPr>
          <a:xfrm>
            <a:off x="59436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16" name="Text 13">
          </p:cNvPr>
          <p:cNvSpPr/>
          <p:nvPr>
          </p:nvPr>
        </p:nvSpPr>
        <p:spPr>
          <a:xfrm>
            <a:off x="75895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LogisticsAgent</a:t>
            </a:r>
            <a:endParaRPr lang="en-US" sz="2000" dirty="0"/>
          </a:p>
        </p:txBody>
      </p:sp>
      <p:sp>
        <p:nvSpPr>
          <p:cNvPr id="17" name="Text 14">
          </p:cNvPr>
          <p:cNvSpPr/>
          <p:nvPr>
          </p:nvPr>
        </p:nvSpPr>
        <p:spPr>
          <a:xfrm>
            <a:off x="72237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Legge i fatti</a:t>
            </a:r>
            <a:endParaRPr lang="en-US" sz="1420" dirty="0"/>
          </a:p>
        </p:txBody>
      </p:sp>
      <p:sp>
        <p:nvSpPr>
          <p:cNvPr id="18" name="Shape 15">
          </p:cNvPr>
          <p:cNvSpPr/>
          <p:nvPr>
          </p:nvPr>
        </p:nvSpPr>
        <p:spPr>
          <a:xfrm>
            <a:off x="4021328" y="3044952"/>
            <a:ext cx="329184" cy="0"/>
          </a:xfrm>
          <a:prstGeom prst="line">
            <a:avLst>
            </a:avLst>
          </a:prstGeom>
          <a:noFill/>
          <a:ln w="27940">
            <a:solidFill>
              <a:srgbClr val="FF784F"/>
            </a:solidFill>
            <a:prstDash val="solid"/>
            <a:headEnd type="none"/>
            <a:tailEnd type="triangle"/>
          </a:ln>
        </p:spPr>
      </p:sp>
      <p:sp>
        <p:nvSpPr>
          <p:cNvPr id="19" name="Shape 16">
          </p:cNvPr>
          <p:cNvSpPr/>
          <p:nvPr>
          </p:nvPr>
        </p:nvSpPr>
        <p:spPr>
          <a:xfrm>
            <a:off x="441452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20" name="Text 17">
          </p:cNvPr>
          <p:cNvSpPr/>
          <p:nvPr>
          </p:nvPr>
        </p:nvSpPr>
        <p:spPr>
          <a:xfrm>
            <a:off x="457911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 HTTP</a:t>
            </a:r>
            <a:endParaRPr lang="en-US" sz="2000" dirty="0"/>
          </a:p>
        </p:txBody>
      </p:sp>
      <p:sp>
        <p:nvSpPr>
          <p:cNvPr id="21" name="Text 18">
          </p:cNvPr>
          <p:cNvSpPr/>
          <p:nvPr>
          </p:nvPr>
        </p:nvSpPr>
        <p:spPr>
          <a:xfrm>
            <a:off x="454253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tool · nessun LLM</a:t>
            </a:r>
            <a:endParaRPr lang="en-US" sz="1420" dirty="0"/>
          </a:p>
        </p:txBody>
      </p:sp>
      <p:sp>
        <p:nvSpPr>
          <p:cNvPr id="22" name="Shape 19">
          </p:cNvPr>
          <p:cNvSpPr/>
          <p:nvPr>
          </p:nvPr>
        </p:nvSpPr>
        <p:spPr>
          <a:xfrm>
            <a:off x="7841488" y="3044952"/>
            <a:ext cx="329184" cy="0"/>
          </a:xfrm>
          <a:prstGeom prst="line">
            <a:avLst>
            </a:avLst>
          </a:prstGeom>
          <a:noFill/>
          <a:ln w="27940">
            <a:solidFill>
              <a:srgbClr val="FF784F"/>
            </a:solidFill>
            <a:prstDash val="solid"/>
            <a:headEnd type="none"/>
            <a:tailEnd type="triangle"/>
          </a:ln>
        </p:spPr>
      </p:sp>
      <p:sp>
        <p:nvSpPr>
          <p:cNvPr id="23" name="Shape 20">
          </p:cNvPr>
          <p:cNvSpPr/>
          <p:nvPr>
          </p:nvPr>
        </p:nvSpPr>
        <p:spPr>
          <a:xfrm>
            <a:off x="823468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24" name="Text 21">
          </p:cNvPr>
          <p:cNvSpPr/>
          <p:nvPr>
          </p:nvPr>
        </p:nvSpPr>
        <p:spPr>
          <a:xfrm>
            <a:off x="839927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MockApi</a:t>
            </a:r>
            <a:endParaRPr lang="en-US" sz="2000" dirty="0"/>
          </a:p>
        </p:txBody>
      </p:sp>
      <p:sp>
        <p:nvSpPr>
          <p:cNvPr id="25" name="Text 22">
          </p:cNvPr>
          <p:cNvSpPr/>
          <p:nvPr>
          </p:nvPr>
        </p:nvSpPr>
        <p:spPr>
          <a:xfrm>
            <a:off x="836269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Ordine + opzioni</a:t>
            </a:r>
            <a:endParaRPr lang="en-US" sz="1420" dirty="0"/>
          </a:p>
        </p:txBody>
      </p:sp>
      <p:sp>
        <p:nvSpPr>
          <p:cNvPr id="26" name="Shape 23">
          </p:cNvPr>
          <p:cNvSpPr/>
          <p:nvPr>
          </p:nvPr>
        </p:nvSpPr>
        <p:spPr>
          <a:xfrm>
            <a:off x="594360" y="3831336"/>
            <a:ext cx="5355336" cy="1764792"/>
          </a:xfrm>
          <a:prstGeom prst="roundRect">
            <a:avLst>
              <a:gd name="adj" fmla="val 6736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7" name="Text 24">
          </p:cNvPr>
          <p:cNvSpPr/>
          <p:nvPr>
          </p:nvPr>
        </p:nvSpPr>
        <p:spPr>
          <a:xfrm>
            <a:off x="822960" y="4023360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3 file da mostrare</a:t>
            </a:r>
            <a:endParaRPr lang="en-US" sz="2200" dirty="0"/>
          </a:p>
        </p:txBody>
      </p:sp>
      <p:sp>
        <p:nvSpPr>
          <p:cNvPr id="28" name="Text 25">
          </p:cNvPr>
          <p:cNvSpPr/>
          <p:nvPr>
          </p:nvPr>
        </p:nvSpPr>
        <p:spPr>
          <a:xfrm>
            <a:off x="822960" y="4553712"/>
            <a:ext cx="4898136" cy="8503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Advance.A2A\LogisticsAgent.cs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Advance.McpServer\Tools.cs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Advance.MockApi\Program.cs</a:t>
            </a:r>
            <a:endParaRPr lang="en-US" sz="1540" dirty="0"/>
          </a:p>
        </p:txBody>
      </p:sp>
      <p:sp>
        <p:nvSpPr>
          <p:cNvPr id="29" name="Shape 26">
          </p:cNvPr>
          <p:cNvSpPr/>
          <p:nvPr>
          </p:nvPr>
        </p:nvSpPr>
        <p:spPr>
          <a:xfrm>
            <a:off x="6242304" y="3831336"/>
            <a:ext cx="5355336" cy="1764792"/>
          </a:xfrm>
          <a:prstGeom prst="roundRect">
            <a:avLst>
              <a:gd name="adj" fmla="val 6736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30" name="Text 27">
          </p:cNvPr>
          <p:cNvSpPr/>
          <p:nvPr>
          </p:nvPr>
        </p:nvSpPr>
        <p:spPr>
          <a:xfrm>
            <a:off x="6470904" y="4023360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passaggio visibile</a:t>
            </a:r>
            <a:endParaRPr lang="en-US" sz="2200" dirty="0"/>
          </a:p>
        </p:txBody>
      </p:sp>
      <p:sp>
        <p:nvSpPr>
          <p:cNvPr id="31" name="Text 28">
          </p:cNvPr>
          <p:cNvSpPr/>
          <p:nvPr>
          </p:nvPr>
        </p:nvSpPr>
        <p:spPr>
          <a:xfrm>
            <a:off x="6470904" y="4553712"/>
            <a:ext cx="4898136" cy="8503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Chiama get_order via MCP.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Chiama get_delivery_options via MCP.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Ritorna i fatti al principale via A2A.</a:t>
            </a:r>
            <a:endParaRPr lang="en-US" sz="1900" dirty="0"/>
          </a:p>
        </p:txBody>
      </p:sp>
      <p:sp>
        <p:nvSpPr>
          <p:cNvPr id="32" name="Shape 29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FF784F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33" name="Text 30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· MCP recupera i dati per lo specialista logistico.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· 2 / DELEGA A2A</a:t>
            </a:r>
            <a:endParaRPr lang="en-US" sz="1100" dirty="0"/>
          </a:p>
        </p:txBody>
      </p:sp>
      <p:sp>
        <p:nvSpPr>
          <p:cNvPr id="4" name="Shape 2">
          </p:cNvPr>
          <p:cNvSpPr/>
          <p:nvPr>
          </p:nvPr>
        </p:nvSpPr>
        <p:spPr>
          <a:xfrm>
            <a:off x="9966960" y="274320"/>
            <a:ext cx="1618488" cy="274320"/>
          </a:xfrm>
          <a:prstGeom prst="rect">
            <a:avLst>
              <a:gd name="adj" fmla="val 43333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5" name="Text 3">
          </p:cNvPr>
          <p:cNvSpPr/>
          <p:nvPr>
          </p:nvPr>
        </p:nvSpPr>
        <p:spPr>
          <a:xfrm>
            <a:off x="10058400" y="285293"/>
            <a:ext cx="143560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B1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1050" dirty="0"/>
          </a:p>
        </p:txBody>
      </p:sp>
      <p:sp>
        <p:nvSpPr>
          <p:cNvPr id="6" name="Text 4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principale delega la logistica</a:t>
            </a:r>
            <a:endParaRPr lang="en-US" sz="3150" dirty="0"/>
          </a:p>
        </p:txBody>
      </p:sp>
      <p:sp>
        <p:nvSpPr>
          <p:cNvPr id="7" name="Shape 5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8" name="Text 6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9" name="Text 7">
            <a:hlinkClick r:id="rId1" tooltip=""/>
          </p:cNvPr>
          <p:cNvSpPr/>
          <p:nvPr>
          </p:nvPr>
        </p:nvSpPr>
        <p:spPr>
          <a:xfrm>
            <a:off x="36118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A2A · specifica ↗</a:t>
            </a:r>
            <a:endParaRPr lang="en-US" sz="940" dirty="0"/>
          </a:p>
        </p:txBody>
      </p:sp>
      <p:sp>
        <p:nvSpPr>
          <p:cNvPr id="10" name="Text 8">
            <a:hlinkClick r:id="rId2" tooltip=""/>
          </p:cNvPr>
          <p:cNvSpPr/>
          <p:nvPr>
          </p:nvPr>
        </p:nvSpPr>
        <p:spPr>
          <a:xfrm>
            <a:off x="63550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hosting A2A ↗</a:t>
            </a:r>
            <a:endParaRPr lang="en-US" sz="940" dirty="0"/>
          </a:p>
        </p:txBody>
      </p:sp>
      <p:sp>
        <p:nvSpPr>
          <p:cNvPr id="11" name="Text 9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20</a:t>
            </a:r>
            <a:endParaRPr lang="en-US" sz="950" dirty="0"/>
          </a:p>
        </p:txBody>
      </p:sp>
      <p:sp>
        <p:nvSpPr>
          <p:cNvPr id="13" name="Shape 10">
          </p:cNvPr>
          <p:cNvSpPr/>
          <p:nvPr>
          </p:nvPr>
        </p:nvSpPr>
        <p:spPr>
          <a:xfrm>
            <a:off x="594360" y="1609344"/>
            <a:ext cx="11003280" cy="603504"/>
          </a:xfrm>
          <a:prstGeom prst="rect">
            <a:avLst>
              <a:gd name="adj" fmla="val 19697"/>
            </a:avLst>
          </a:prstGeom>
          <a:solidFill>
            <a:srgbClr val="151F35"/>
          </a:solidFill>
          <a:ln w="7620">
            <a:solidFill>
              <a:srgbClr val="151F35"/>
            </a:solidFill>
            <a:prstDash val="solid"/>
          </a:ln>
        </p:spPr>
      </p:sp>
      <p:sp>
        <p:nvSpPr>
          <p:cNvPr id="14" name="Text 11">
          </p:cNvPr>
          <p:cNvSpPr/>
          <p:nvPr>
          </p:nvPr>
        </p:nvSpPr>
        <p:spPr>
          <a:xfrm>
            <a:off x="786384" y="1719072"/>
            <a:ext cx="10619232" cy="35661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Skill indica delegate_logistics: delega con ritorno</a:t>
            </a:r>
            <a:endParaRPr lang="en-US" sz="1900" dirty="0"/>
          </a:p>
        </p:txBody>
      </p:sp>
      <p:sp>
        <p:nvSpPr>
          <p:cNvPr id="15" name="Shape 12">
          </p:cNvPr>
          <p:cNvSpPr/>
          <p:nvPr>
          </p:nvPr>
        </p:nvSpPr>
        <p:spPr>
          <a:xfrm>
            <a:off x="59436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16" name="Text 13">
          </p:cNvPr>
          <p:cNvSpPr/>
          <p:nvPr>
          </p:nvPr>
        </p:nvSpPr>
        <p:spPr>
          <a:xfrm>
            <a:off x="75895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Principale MAF C#</a:t>
            </a:r>
            <a:endParaRPr lang="en-US" sz="2000" dirty="0"/>
          </a:p>
        </p:txBody>
      </p:sp>
      <p:sp>
        <p:nvSpPr>
          <p:cNvPr id="17" name="Text 14">
          </p:cNvPr>
          <p:cNvSpPr/>
          <p:nvPr>
          </p:nvPr>
        </p:nvSpPr>
        <p:spPr>
          <a:xfrm>
            <a:off x="72237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 e risponde</a:t>
            </a:r>
            <a:endParaRPr lang="en-US" sz="1420" dirty="0"/>
          </a:p>
        </p:txBody>
      </p:sp>
      <p:sp>
        <p:nvSpPr>
          <p:cNvPr id="18" name="Shape 15">
          </p:cNvPr>
          <p:cNvSpPr/>
          <p:nvPr>
          </p:nvPr>
        </p:nvSpPr>
        <p:spPr>
          <a:xfrm>
            <a:off x="4021328" y="3044952"/>
            <a:ext cx="329184" cy="0"/>
          </a:xfrm>
          <a:prstGeom prst="line">
            <a:avLst>
            </a:avLst>
          </a:prstGeom>
          <a:noFill/>
          <a:ln w="27940">
            <a:solidFill>
              <a:srgbClr val="43D9CF"/>
            </a:solidFill>
            <a:prstDash val="solid"/>
            <a:headEnd type="none"/>
            <a:tailEnd type="triangle"/>
          </a:ln>
        </p:spPr>
      </p:sp>
      <p:sp>
        <p:nvSpPr>
          <p:cNvPr id="19" name="Shape 16">
          </p:cNvPr>
          <p:cNvSpPr/>
          <p:nvPr>
          </p:nvPr>
        </p:nvSpPr>
        <p:spPr>
          <a:xfrm>
            <a:off x="441452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20" name="Text 17">
          </p:cNvPr>
          <p:cNvSpPr/>
          <p:nvPr>
          </p:nvPr>
        </p:nvSpPr>
        <p:spPr>
          <a:xfrm>
            <a:off x="457911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LogisticsAgent · A2A</a:t>
            </a:r>
            <a:endParaRPr lang="en-US" sz="2000" dirty="0"/>
          </a:p>
        </p:txBody>
      </p:sp>
      <p:sp>
        <p:nvSpPr>
          <p:cNvPr id="21" name="Text 18">
          </p:cNvPr>
          <p:cNvSpPr/>
          <p:nvPr>
          </p:nvPr>
        </p:nvSpPr>
        <p:spPr>
          <a:xfrm>
            <a:off x="454253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tool via MCP</a:t>
            </a:r>
            <a:endParaRPr lang="en-US" sz="1420" dirty="0"/>
          </a:p>
        </p:txBody>
      </p:sp>
      <p:sp>
        <p:nvSpPr>
          <p:cNvPr id="22" name="Shape 19">
          </p:cNvPr>
          <p:cNvSpPr/>
          <p:nvPr>
          </p:nvPr>
        </p:nvSpPr>
        <p:spPr>
          <a:xfrm>
            <a:off x="7841488" y="3044952"/>
            <a:ext cx="329184" cy="0"/>
          </a:xfrm>
          <a:prstGeom prst="line">
            <a:avLst>
            </a:avLst>
          </a:prstGeom>
          <a:noFill/>
          <a:ln w="27940">
            <a:solidFill>
              <a:srgbClr val="43D9CF"/>
            </a:solidFill>
            <a:prstDash val="solid"/>
            <a:headEnd type="none"/>
            <a:tailEnd type="triangle"/>
          </a:ln>
        </p:spPr>
      </p:sp>
      <p:sp>
        <p:nvSpPr>
          <p:cNvPr id="23" name="Shape 20">
          </p:cNvPr>
          <p:cNvSpPr/>
          <p:nvPr>
          </p:nvPr>
        </p:nvSpPr>
        <p:spPr>
          <a:xfrm>
            <a:off x="823468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24" name="Text 21">
          </p:cNvPr>
          <p:cNvSpPr/>
          <p:nvPr>
          </p:nvPr>
        </p:nvSpPr>
        <p:spPr>
          <a:xfrm>
            <a:off x="839927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MCP</a:t>
            </a:r>
            <a:endParaRPr lang="en-US" sz="2000" dirty="0"/>
          </a:p>
        </p:txBody>
      </p:sp>
      <p:sp>
        <p:nvSpPr>
          <p:cNvPr id="25" name="Text 22">
          </p:cNvPr>
          <p:cNvSpPr/>
          <p:nvPr>
          </p:nvPr>
        </p:nvSpPr>
        <p:spPr>
          <a:xfrm>
            <a:off x="836269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Legge il mock Commerce</a:t>
            </a:r>
            <a:endParaRPr lang="en-US" sz="1420" dirty="0"/>
          </a:p>
        </p:txBody>
      </p:sp>
      <p:sp>
        <p:nvSpPr>
          <p:cNvPr id="26" name="Shape 23">
          </p:cNvPr>
          <p:cNvSpPr/>
          <p:nvPr>
          </p:nvPr>
        </p:nvSpPr>
        <p:spPr>
          <a:xfrm>
            <a:off x="594360" y="3831336"/>
            <a:ext cx="5355336" cy="1764792"/>
          </a:xfrm>
          <a:prstGeom prst="roundRect">
            <a:avLst>
              <a:gd name="adj" fmla="val 6736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7" name="Text 24">
          </p:cNvPr>
          <p:cNvSpPr/>
          <p:nvPr>
          </p:nvPr>
        </p:nvSpPr>
        <p:spPr>
          <a:xfrm>
            <a:off x="822960" y="4023360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3 file da mostrare</a:t>
            </a:r>
            <a:endParaRPr lang="en-US" sz="2200" dirty="0"/>
          </a:p>
        </p:txBody>
      </p:sp>
      <p:sp>
        <p:nvSpPr>
          <p:cNvPr id="28" name="Text 25">
          </p:cNvPr>
          <p:cNvSpPr/>
          <p:nvPr>
          </p:nvPr>
        </p:nvSpPr>
        <p:spPr>
          <a:xfrm>
            <a:off x="822960" y="4553712"/>
            <a:ext cx="4898136" cy="8503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CommerceDemo.cs · delega A2A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Advance.A2A\Program.cs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LogisticsAgent.cs · specialista</a:t>
            </a:r>
            <a:endParaRPr lang="en-US" sz="1540" dirty="0"/>
          </a:p>
        </p:txBody>
      </p:sp>
      <p:sp>
        <p:nvSpPr>
          <p:cNvPr id="29" name="Shape 26">
          </p:cNvPr>
          <p:cNvSpPr/>
          <p:nvPr>
          </p:nvPr>
        </p:nvSpPr>
        <p:spPr>
          <a:xfrm>
            <a:off x="6242304" y="3831336"/>
            <a:ext cx="5355336" cy="1764792"/>
          </a:xfrm>
          <a:prstGeom prst="roundRect">
            <a:avLst>
              <a:gd name="adj" fmla="val 6736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30" name="Text 27">
          </p:cNvPr>
          <p:cNvSpPr/>
          <p:nvPr>
          </p:nvPr>
        </p:nvSpPr>
        <p:spPr>
          <a:xfrm>
            <a:off x="6470904" y="4023360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passaggio visibile</a:t>
            </a:r>
            <a:endParaRPr lang="en-US" sz="2200" dirty="0"/>
          </a:p>
        </p:txBody>
      </p:sp>
      <p:sp>
        <p:nvSpPr>
          <p:cNvPr id="31" name="Text 28">
          </p:cNvPr>
          <p:cNvSpPr/>
          <p:nvPr>
          </p:nvPr>
        </p:nvSpPr>
        <p:spPr>
          <a:xfrm>
            <a:off x="6470904" y="4553712"/>
            <a:ext cx="4898136" cy="8503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→ delegate_logistics → A2A.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specialista legge i dati via MCP.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Ritorno → finale del principale.</a:t>
            </a:r>
            <a:endParaRPr lang="en-US" sz="1900" dirty="0"/>
          </a:p>
        </p:txBody>
      </p:sp>
      <p:sp>
        <p:nvSpPr>
          <p:cNvPr id="32" name="Shape 29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3" name="Text 30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· A2A collega gli agenti; MCP serve lo specialista.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B49AFF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· 1 / PROCEDURA SKILL</a:t>
            </a:r>
            <a:endParaRPr lang="en-US" sz="1100" dirty="0"/>
          </a:p>
        </p:txBody>
      </p:sp>
      <p:sp>
        <p:nvSpPr>
          <p:cNvPr id="4" name="Shape 2">
          </p:cNvPr>
          <p:cNvSpPr/>
          <p:nvPr>
          </p:nvPr>
        </p:nvSpPr>
        <p:spPr>
          <a:xfrm>
            <a:off x="9966960" y="274320"/>
            <a:ext cx="1618488" cy="274320"/>
          </a:xfrm>
          <a:prstGeom prst="rect">
            <a:avLst>
              <a:gd name="adj" fmla="val 43333"/>
            </a:avLst>
          </a:prstGeom>
          <a:solidFill>
            <a:srgbClr val="B49AFF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5" name="Text 3">
          </p:cNvPr>
          <p:cNvSpPr/>
          <p:nvPr>
          </p:nvPr>
        </p:nvSpPr>
        <p:spPr>
          <a:xfrm>
            <a:off x="10058400" y="285293"/>
            <a:ext cx="143560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B1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1050" dirty="0"/>
          </a:p>
        </p:txBody>
      </p:sp>
      <p:sp>
        <p:nvSpPr>
          <p:cNvPr id="6" name="Text 4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Skill guida il principale</a:t>
            </a:r>
            <a:endParaRPr lang="en-US" sz="3150" dirty="0"/>
          </a:p>
        </p:txBody>
      </p:sp>
      <p:sp>
        <p:nvSpPr>
          <p:cNvPr id="7" name="Shape 5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8" name="Text 6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9" name="Text 7">
            <a:hlinkClick r:id="rId1" tooltip=""/>
          </p:cNvPr>
          <p:cNvSpPr/>
          <p:nvPr>
          </p:nvPr>
        </p:nvSpPr>
        <p:spPr>
          <a:xfrm>
            <a:off x="36118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Skills ↗</a:t>
            </a:r>
            <a:endParaRPr lang="en-US" sz="940" dirty="0"/>
          </a:p>
        </p:txBody>
      </p:sp>
      <p:sp>
        <p:nvSpPr>
          <p:cNvPr id="10" name="Text 8">
            <a:hlinkClick r:id="rId2" tooltip=""/>
          </p:cNvPr>
          <p:cNvSpPr/>
          <p:nvPr>
          </p:nvPr>
        </p:nvSpPr>
        <p:spPr>
          <a:xfrm>
            <a:off x="63550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Skills · specifica ↗</a:t>
            </a:r>
            <a:endParaRPr lang="en-US" sz="940" dirty="0"/>
          </a:p>
        </p:txBody>
      </p:sp>
      <p:sp>
        <p:nvSpPr>
          <p:cNvPr id="11" name="Text 9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20</a:t>
            </a:r>
            <a:endParaRPr lang="en-US" sz="950" dirty="0"/>
          </a:p>
        </p:txBody>
      </p:sp>
      <p:sp>
        <p:nvSpPr>
          <p:cNvPr id="13" name="Shape 10">
          </p:cNvPr>
          <p:cNvSpPr/>
          <p:nvPr>
          </p:nvPr>
        </p:nvSpPr>
        <p:spPr>
          <a:xfrm>
            <a:off x="594360" y="1609344"/>
            <a:ext cx="11003280" cy="603504"/>
          </a:xfrm>
          <a:prstGeom prst="rect">
            <a:avLst>
              <a:gd name="adj" fmla="val 19697"/>
            </a:avLst>
          </a:prstGeom>
          <a:solidFill>
            <a:srgbClr val="151F35"/>
          </a:solidFill>
          <a:ln w="7620">
            <a:solidFill>
              <a:srgbClr val="151F35"/>
            </a:solidFill>
            <a:prstDash val="solid"/>
          </a:ln>
        </p:spPr>
      </p:sp>
      <p:sp>
        <p:nvSpPr>
          <p:cNvPr id="14" name="Text 11">
          </p:cNvPr>
          <p:cNvSpPr/>
          <p:nvPr>
          </p:nvPr>
        </p:nvSpPr>
        <p:spPr>
          <a:xfrm>
            <a:off x="786384" y="1719072"/>
            <a:ext cx="10619232" cy="35661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Carica commerce-assistance, poi delega allo specialista</a:t>
            </a:r>
            <a:endParaRPr lang="en-US" sz="1900" dirty="0"/>
          </a:p>
        </p:txBody>
      </p:sp>
      <p:sp>
        <p:nvSpPr>
          <p:cNvPr id="15" name="Shape 12">
          </p:cNvPr>
          <p:cNvSpPr/>
          <p:nvPr>
          </p:nvPr>
        </p:nvSpPr>
        <p:spPr>
          <a:xfrm>
            <a:off x="59436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16" name="Text 13">
          </p:cNvPr>
          <p:cNvSpPr/>
          <p:nvPr>
          </p:nvPr>
        </p:nvSpPr>
        <p:spPr>
          <a:xfrm>
            <a:off x="75895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Principale MAF C#</a:t>
            </a:r>
            <a:endParaRPr lang="en-US" sz="2000" dirty="0"/>
          </a:p>
        </p:txBody>
      </p:sp>
      <p:sp>
        <p:nvSpPr>
          <p:cNvPr id="17" name="Text 14">
          </p:cNvPr>
          <p:cNvSpPr/>
          <p:nvPr>
          </p:nvPr>
        </p:nvSpPr>
        <p:spPr>
          <a:xfrm>
            <a:off x="72237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AgentSkillsProvider</a:t>
            </a:r>
            <a:endParaRPr lang="en-US" sz="1420" dirty="0"/>
          </a:p>
        </p:txBody>
      </p:sp>
      <p:sp>
        <p:nvSpPr>
          <p:cNvPr id="18" name="Shape 15">
          </p:cNvPr>
          <p:cNvSpPr/>
          <p:nvPr>
          </p:nvPr>
        </p:nvSpPr>
        <p:spPr>
          <a:xfrm>
            <a:off x="4021328" y="3044952"/>
            <a:ext cx="329184" cy="0"/>
          </a:xfrm>
          <a:prstGeom prst="line">
            <a:avLst>
            </a:avLst>
          </a:prstGeom>
          <a:noFill/>
          <a:ln w="27940">
            <a:solidFill>
              <a:srgbClr val="B49AFF"/>
            </a:solidFill>
            <a:prstDash val="solid"/>
            <a:headEnd type="none"/>
            <a:tailEnd type="triangle"/>
          </a:ln>
        </p:spPr>
      </p:sp>
      <p:sp>
        <p:nvSpPr>
          <p:cNvPr id="19" name="Shape 16">
          </p:cNvPr>
          <p:cNvSpPr/>
          <p:nvPr>
          </p:nvPr>
        </p:nvSpPr>
        <p:spPr>
          <a:xfrm>
            <a:off x="441452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20" name="Text 17">
          </p:cNvPr>
          <p:cNvSpPr/>
          <p:nvPr>
          </p:nvPr>
        </p:nvSpPr>
        <p:spPr>
          <a:xfrm>
            <a:off x="457911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SKILL.md</a:t>
            </a:r>
            <a:endParaRPr lang="en-US" sz="2000" dirty="0"/>
          </a:p>
        </p:txBody>
      </p:sp>
      <p:sp>
        <p:nvSpPr>
          <p:cNvPr id="21" name="Text 18">
          </p:cNvPr>
          <p:cNvSpPr/>
          <p:nvPr>
          </p:nvPr>
        </p:nvSpPr>
        <p:spPr>
          <a:xfrm>
            <a:off x="454253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Procedura di assistenza</a:t>
            </a:r>
            <a:endParaRPr lang="en-US" sz="1420" dirty="0"/>
          </a:p>
        </p:txBody>
      </p:sp>
      <p:sp>
        <p:nvSpPr>
          <p:cNvPr id="22" name="Shape 19">
          </p:cNvPr>
          <p:cNvSpPr/>
          <p:nvPr>
          </p:nvPr>
        </p:nvSpPr>
        <p:spPr>
          <a:xfrm>
            <a:off x="7841488" y="3044952"/>
            <a:ext cx="329184" cy="0"/>
          </a:xfrm>
          <a:prstGeom prst="line">
            <a:avLst>
            </a:avLst>
          </a:prstGeom>
          <a:noFill/>
          <a:ln w="27940">
            <a:solidFill>
              <a:srgbClr val="B49AFF"/>
            </a:solidFill>
            <a:prstDash val="solid"/>
            <a:headEnd type="none"/>
            <a:tailEnd type="triangle"/>
          </a:ln>
        </p:spPr>
      </p:sp>
      <p:sp>
        <p:nvSpPr>
          <p:cNvPr id="23" name="Shape 20">
          </p:cNvPr>
          <p:cNvSpPr/>
          <p:nvPr>
          </p:nvPr>
        </p:nvSpPr>
        <p:spPr>
          <a:xfrm>
            <a:off x="8234680" y="2487168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24" name="Text 21">
          </p:cNvPr>
          <p:cNvSpPr/>
          <p:nvPr>
          </p:nvPr>
        </p:nvSpPr>
        <p:spPr>
          <a:xfrm>
            <a:off x="8399272" y="2706624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Specialista A2A</a:t>
            </a:r>
            <a:endParaRPr lang="en-US" sz="2000" dirty="0"/>
          </a:p>
        </p:txBody>
      </p:sp>
      <p:sp>
        <p:nvSpPr>
          <p:cNvPr id="25" name="Text 22">
          </p:cNvPr>
          <p:cNvSpPr/>
          <p:nvPr>
          </p:nvPr>
        </p:nvSpPr>
        <p:spPr>
          <a:xfrm>
            <a:off x="8362696" y="3163824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i tool MCP</a:t>
            </a:r>
            <a:endParaRPr lang="en-US" sz="1420" dirty="0"/>
          </a:p>
        </p:txBody>
      </p:sp>
      <p:sp>
        <p:nvSpPr>
          <p:cNvPr id="26" name="Shape 23">
          </p:cNvPr>
          <p:cNvSpPr/>
          <p:nvPr>
          </p:nvPr>
        </p:nvSpPr>
        <p:spPr>
          <a:xfrm>
            <a:off x="594360" y="3831336"/>
            <a:ext cx="5355336" cy="1764792"/>
          </a:xfrm>
          <a:prstGeom prst="roundRect">
            <a:avLst>
              <a:gd name="adj" fmla="val 6736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7" name="Text 24">
          </p:cNvPr>
          <p:cNvSpPr/>
          <p:nvPr>
          </p:nvPr>
        </p:nvSpPr>
        <p:spPr>
          <a:xfrm>
            <a:off x="822960" y="4023360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3 file da mostrare</a:t>
            </a:r>
            <a:endParaRPr lang="en-US" sz="2200" dirty="0"/>
          </a:p>
        </p:txBody>
      </p:sp>
      <p:sp>
        <p:nvSpPr>
          <p:cNvPr id="28" name="Text 25">
          </p:cNvPr>
          <p:cNvSpPr/>
          <p:nvPr>
          </p:nvPr>
        </p:nvSpPr>
        <p:spPr>
          <a:xfrm>
            <a:off x="822960" y="4553712"/>
            <a:ext cx="4898136" cy="8503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CommerceDemo.cs · provider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· procedura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CommerceDemo.cs · delegate_logistics</a:t>
            </a:r>
            <a:endParaRPr lang="en-US" sz="1540" dirty="0"/>
          </a:p>
        </p:txBody>
      </p:sp>
      <p:sp>
        <p:nvSpPr>
          <p:cNvPr id="29" name="Shape 26">
          </p:cNvPr>
          <p:cNvSpPr/>
          <p:nvPr>
          </p:nvPr>
        </p:nvSpPr>
        <p:spPr>
          <a:xfrm>
            <a:off x="6242304" y="3831336"/>
            <a:ext cx="5355336" cy="1764792"/>
          </a:xfrm>
          <a:prstGeom prst="roundRect">
            <a:avLst>
              <a:gd name="adj" fmla="val 6736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30" name="Text 27">
          </p:cNvPr>
          <p:cNvSpPr/>
          <p:nvPr>
          </p:nvPr>
        </p:nvSpPr>
        <p:spPr>
          <a:xfrm>
            <a:off x="6470904" y="4023360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Procedura breve</a:t>
            </a:r>
            <a:endParaRPr lang="en-US" sz="2200" dirty="0"/>
          </a:p>
        </p:txBody>
      </p:sp>
      <p:sp>
        <p:nvSpPr>
          <p:cNvPr id="31" name="Text 28">
          </p:cNvPr>
          <p:cNvSpPr/>
          <p:nvPr>
          </p:nvPr>
        </p:nvSpPr>
        <p:spPr>
          <a:xfrm>
            <a:off x="6470904" y="4553712"/>
            <a:ext cx="4898136" cy="8503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 ordine e richiesta.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Delega, poi presenta fatti e limiti.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Spiega e chiedi; non confermare.</a:t>
            </a:r>
            <a:endParaRPr lang="en-US" sz="1900" dirty="0"/>
          </a:p>
        </p:txBody>
      </p:sp>
      <p:sp>
        <p:nvSpPr>
          <p:cNvPr id="32" name="Shape 29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B49AFF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33" name="Text 30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· La Skill guida; non legge il mock direttamente.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· RESPONSABILITA</a:t>
            </a:r>
            <a:endParaRPr lang="en-US" sz="1100" dirty="0"/>
          </a:p>
        </p:txBody>
      </p:sp>
      <p:sp>
        <p:nvSpPr>
          <p:cNvPr id="4" name="Text 2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caso. Tre ruoli complementari.</a:t>
            </a:r>
            <a:endParaRPr lang="en-US" sz="3150" dirty="0"/>
          </a:p>
        </p:txBody>
      </p:sp>
      <p:sp>
        <p:nvSpPr>
          <p:cNvPr id="5" name="Text 3">
          </p:cNvPr>
          <p:cNvSpPr/>
          <p:nvPr>
          </p:nvPr>
        </p:nvSpPr>
        <p:spPr>
          <a:xfrm>
            <a:off x="594360" y="1362456"/>
            <a:ext cx="11003280" cy="38404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sola esecuzione: Skill + A2A + MCP.</a:t>
            </a:r>
            <a:endParaRPr lang="en-US" sz="1730" dirty="0"/>
          </a:p>
        </p:txBody>
      </p:sp>
      <p:sp>
        <p:nvSpPr>
          <p:cNvPr id="6" name="Shape 4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7" name="Text 5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8" name="Text 6">
            <a:hlinkClick r:id="rId1" tooltip=""/>
          </p:cNvPr>
          <p:cNvSpPr/>
          <p:nvPr>
          </p:nvPr>
        </p:nvSpPr>
        <p:spPr>
          <a:xfrm>
            <a:off x="361188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· architettura ↗</a:t>
            </a:r>
            <a:endParaRPr lang="en-US" sz="940" dirty="0"/>
          </a:p>
        </p:txBody>
      </p:sp>
      <p:sp>
        <p:nvSpPr>
          <p:cNvPr id="9" name="Text 7">
            <a:hlinkClick r:id="rId2" tooltip=""/>
          </p:cNvPr>
          <p:cNvSpPr/>
          <p:nvPr>
          </p:nvPr>
        </p:nvSpPr>
        <p:spPr>
          <a:xfrm>
            <a:off x="598932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A2A · specifica ↗</a:t>
            </a:r>
            <a:endParaRPr lang="en-US" sz="940" dirty="0"/>
          </a:p>
        </p:txBody>
      </p:sp>
      <p:sp>
        <p:nvSpPr>
          <p:cNvPr id="10" name="Text 8">
            <a:hlinkClick r:id="rId3" tooltip=""/>
          </p:cNvPr>
          <p:cNvSpPr/>
          <p:nvPr>
          </p:nvPr>
        </p:nvSpPr>
        <p:spPr>
          <a:xfrm>
            <a:off x="836676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Skills ↗</a:t>
            </a:r>
            <a:endParaRPr lang="en-US" sz="940" dirty="0"/>
          </a:p>
        </p:txBody>
      </p:sp>
      <p:sp>
        <p:nvSpPr>
          <p:cNvPr id="11" name="Text 9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20</a:t>
            </a:r>
            <a:endParaRPr lang="en-US" sz="950" dirty="0"/>
          </a:p>
        </p:txBody>
      </p:sp>
      <p:sp>
        <p:nvSpPr>
          <p:cNvPr id="13" name="Shape 10">
          </p:cNvPr>
          <p:cNvSpPr/>
          <p:nvPr>
          </p:nvPr>
        </p:nvSpPr>
        <p:spPr>
          <a:xfrm>
            <a:off x="594360" y="1965960"/>
            <a:ext cx="2912633" cy="512064"/>
          </a:xfrm>
          <a:prstGeom prst="rect">
            <a:avLst>
              <a:gd name="adj" fmla="val 23214"/>
            </a:avLst>
          </a:prstGeom>
          <a:solidFill>
            <a:srgbClr val="30415B"/>
          </a:solidFill>
          <a:ln w="7620">
            <a:solidFill>
              <a:srgbClr val="0B1020"/>
            </a:solidFill>
            <a:prstDash val="solid"/>
          </a:ln>
        </p:spPr>
      </p:sp>
      <p:sp>
        <p:nvSpPr>
          <p:cNvPr id="14" name="Text 11">
          </p:cNvPr>
          <p:cNvSpPr/>
          <p:nvPr>
          </p:nvPr>
        </p:nvSpPr>
        <p:spPr>
          <a:xfrm>
            <a:off x="749808" y="2057400"/>
            <a:ext cx="2601737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DOMANDA</a:t>
            </a:r>
            <a:endParaRPr lang="en-US" sz="1150" dirty="0"/>
          </a:p>
        </p:txBody>
      </p:sp>
      <p:sp>
        <p:nvSpPr>
          <p:cNvPr id="15" name="Shape 12">
          </p:cNvPr>
          <p:cNvSpPr/>
          <p:nvPr>
          </p:nvPr>
        </p:nvSpPr>
        <p:spPr>
          <a:xfrm>
            <a:off x="3506993" y="1965960"/>
            <a:ext cx="2635239" cy="512064"/>
          </a:xfrm>
          <a:prstGeom prst="rect">
            <a:avLst>
              <a:gd name="adj" fmla="val 23214"/>
            </a:avLst>
          </a:prstGeom>
          <a:solidFill>
            <a:srgbClr val="30415B"/>
          </a:solidFill>
          <a:ln w="7620">
            <a:solidFill>
              <a:srgbClr val="0B1020"/>
            </a:solidFill>
            <a:prstDash val="solid"/>
          </a:ln>
        </p:spPr>
      </p:sp>
      <p:sp>
        <p:nvSpPr>
          <p:cNvPr id="16" name="Text 13">
          </p:cNvPr>
          <p:cNvSpPr/>
          <p:nvPr>
          </p:nvPr>
        </p:nvSpPr>
        <p:spPr>
          <a:xfrm>
            <a:off x="3662441" y="2057400"/>
            <a:ext cx="2324343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1150" dirty="0"/>
          </a:p>
        </p:txBody>
      </p:sp>
      <p:sp>
        <p:nvSpPr>
          <p:cNvPr id="17" name="Shape 14">
          </p:cNvPr>
          <p:cNvSpPr/>
          <p:nvPr>
          </p:nvPr>
        </p:nvSpPr>
        <p:spPr>
          <a:xfrm>
            <a:off x="6142232" y="1965960"/>
            <a:ext cx="2727704" cy="512064"/>
          </a:xfrm>
          <a:prstGeom prst="rect">
            <a:avLst>
              <a:gd name="adj" fmla="val 23214"/>
            </a:avLst>
          </a:prstGeom>
          <a:solidFill>
            <a:srgbClr val="30415B"/>
          </a:solidFill>
          <a:ln w="7620">
            <a:solidFill>
              <a:srgbClr val="0B1020"/>
            </a:solidFill>
            <a:prstDash val="solid"/>
          </a:ln>
        </p:spPr>
      </p:sp>
      <p:sp>
        <p:nvSpPr>
          <p:cNvPr id="18" name="Text 15">
          </p:cNvPr>
          <p:cNvSpPr/>
          <p:nvPr>
          </p:nvPr>
        </p:nvSpPr>
        <p:spPr>
          <a:xfrm>
            <a:off x="6297680" y="2057400"/>
            <a:ext cx="2416808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A2A</a:t>
            </a:r>
            <a:endParaRPr lang="en-US" sz="1150" dirty="0"/>
          </a:p>
        </p:txBody>
      </p:sp>
      <p:sp>
        <p:nvSpPr>
          <p:cNvPr id="19" name="Shape 16">
          </p:cNvPr>
          <p:cNvSpPr/>
          <p:nvPr>
          </p:nvPr>
        </p:nvSpPr>
        <p:spPr>
          <a:xfrm>
            <a:off x="8869936" y="1965960"/>
            <a:ext cx="2727704" cy="512064"/>
          </a:xfrm>
          <a:prstGeom prst="rect">
            <a:avLst>
              <a:gd name="adj" fmla="val 23214"/>
            </a:avLst>
          </a:prstGeom>
          <a:solidFill>
            <a:srgbClr val="30415B"/>
          </a:solidFill>
          <a:ln w="7620">
            <a:solidFill>
              <a:srgbClr val="0B1020"/>
            </a:solidFill>
            <a:prstDash val="solid"/>
          </a:ln>
        </p:spPr>
      </p:sp>
      <p:sp>
        <p:nvSpPr>
          <p:cNvPr id="20" name="Text 17">
          </p:cNvPr>
          <p:cNvSpPr/>
          <p:nvPr>
          </p:nvPr>
        </p:nvSpPr>
        <p:spPr>
          <a:xfrm>
            <a:off x="9025384" y="2057400"/>
            <a:ext cx="2416808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</a:t>
            </a:r>
            <a:endParaRPr lang="en-US" sz="1150" dirty="0"/>
          </a:p>
        </p:txBody>
      </p:sp>
      <p:sp>
        <p:nvSpPr>
          <p:cNvPr id="21" name="Shape 18">
          </p:cNvPr>
          <p:cNvSpPr/>
          <p:nvPr>
          </p:nvPr>
        </p:nvSpPr>
        <p:spPr>
          <a:xfrm>
            <a:off x="594360" y="2478024"/>
            <a:ext cx="2912633" cy="806958"/>
          </a:xfrm>
          <a:prstGeom prst="rect">
            <a:avLst>
              <a:gd name="adj" fmla="val 14731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2" name="Text 19">
          </p:cNvPr>
          <p:cNvSpPr/>
          <p:nvPr>
          </p:nvPr>
        </p:nvSpPr>
        <p:spPr>
          <a:xfrm>
            <a:off x="749808" y="2596896"/>
            <a:ext cx="2601737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b="1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Quale ruolo?</a:t>
            </a:r>
            <a:endParaRPr lang="en-US" sz="1680" dirty="0"/>
          </a:p>
        </p:txBody>
      </p:sp>
      <p:sp>
        <p:nvSpPr>
          <p:cNvPr id="23" name="Shape 20">
          </p:cNvPr>
          <p:cNvSpPr/>
          <p:nvPr>
          </p:nvPr>
        </p:nvSpPr>
        <p:spPr>
          <a:xfrm>
            <a:off x="3506993" y="2478024"/>
            <a:ext cx="2635239" cy="806958"/>
          </a:xfrm>
          <a:prstGeom prst="rect">
            <a:avLst>
              <a:gd name="adj" fmla="val 14731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4" name="Text 21">
          </p:cNvPr>
          <p:cNvSpPr/>
          <p:nvPr>
          </p:nvPr>
        </p:nvSpPr>
        <p:spPr>
          <a:xfrm>
            <a:off x="3662441" y="2596896"/>
            <a:ext cx="2324343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Legge i dati</a:t>
            </a:r>
            <a:endParaRPr lang="en-US" sz="1680" dirty="0"/>
          </a:p>
        </p:txBody>
      </p:sp>
      <p:sp>
        <p:nvSpPr>
          <p:cNvPr id="25" name="Shape 22">
          </p:cNvPr>
          <p:cNvSpPr/>
          <p:nvPr>
          </p:nvPr>
        </p:nvSpPr>
        <p:spPr>
          <a:xfrm>
            <a:off x="6142232" y="2478024"/>
            <a:ext cx="2727704" cy="806958"/>
          </a:xfrm>
          <a:prstGeom prst="rect">
            <a:avLst>
              <a:gd name="adj" fmla="val 14731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6" name="Text 23">
          </p:cNvPr>
          <p:cNvSpPr/>
          <p:nvPr>
          </p:nvPr>
        </p:nvSpPr>
        <p:spPr>
          <a:xfrm>
            <a:off x="6297680" y="2596896"/>
            <a:ext cx="2416808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Collega agenti</a:t>
            </a:r>
            <a:endParaRPr lang="en-US" sz="1680" dirty="0"/>
          </a:p>
        </p:txBody>
      </p:sp>
      <p:sp>
        <p:nvSpPr>
          <p:cNvPr id="27" name="Shape 24">
          </p:cNvPr>
          <p:cNvSpPr/>
          <p:nvPr>
          </p:nvPr>
        </p:nvSpPr>
        <p:spPr>
          <a:xfrm>
            <a:off x="8869936" y="2478024"/>
            <a:ext cx="2727704" cy="806958"/>
          </a:xfrm>
          <a:prstGeom prst="rect">
            <a:avLst>
              <a:gd name="adj" fmla="val 14731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8" name="Text 25">
          </p:cNvPr>
          <p:cNvSpPr/>
          <p:nvPr>
          </p:nvPr>
        </p:nvSpPr>
        <p:spPr>
          <a:xfrm>
            <a:off x="9025384" y="2596896"/>
            <a:ext cx="2416808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 i passi</a:t>
            </a:r>
            <a:endParaRPr lang="en-US" sz="1680" dirty="0"/>
          </a:p>
        </p:txBody>
      </p:sp>
      <p:sp>
        <p:nvSpPr>
          <p:cNvPr id="29" name="Shape 26">
          </p:cNvPr>
          <p:cNvSpPr/>
          <p:nvPr>
          </p:nvPr>
        </p:nvSpPr>
        <p:spPr>
          <a:xfrm>
            <a:off x="594360" y="3284982"/>
            <a:ext cx="2912633" cy="806958"/>
          </a:xfrm>
          <a:prstGeom prst="rect">
            <a:avLst>
              <a:gd name="adj" fmla="val 14731"/>
            </a:avLst>
          </a:prstGeom>
          <a:solidFill>
            <a:srgbClr val="0B1020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30" name="Text 27">
          </p:cNvPr>
          <p:cNvSpPr/>
          <p:nvPr>
          </p:nvPr>
        </p:nvSpPr>
        <p:spPr>
          <a:xfrm>
            <a:off x="749808" y="3403854"/>
            <a:ext cx="2601737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b="1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Dove si usa?</a:t>
            </a:r>
            <a:endParaRPr lang="en-US" sz="1680" dirty="0"/>
          </a:p>
        </p:txBody>
      </p:sp>
      <p:sp>
        <p:nvSpPr>
          <p:cNvPr id="31" name="Shape 28">
          </p:cNvPr>
          <p:cNvSpPr/>
          <p:nvPr>
          </p:nvPr>
        </p:nvSpPr>
        <p:spPr>
          <a:xfrm>
            <a:off x="3506993" y="3284982"/>
            <a:ext cx="2635239" cy="806958"/>
          </a:xfrm>
          <a:prstGeom prst="rect">
            <a:avLst>
              <a:gd name="adj" fmla="val 14731"/>
            </a:avLst>
          </a:prstGeom>
          <a:solidFill>
            <a:srgbClr val="0B1020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32" name="Text 29">
          </p:cNvPr>
          <p:cNvSpPr/>
          <p:nvPr>
          </p:nvPr>
        </p:nvSpPr>
        <p:spPr>
          <a:xfrm>
            <a:off x="3662441" y="3403854"/>
            <a:ext cx="2324343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Nello specialista</a:t>
            </a:r>
            <a:endParaRPr lang="en-US" sz="1680" dirty="0"/>
          </a:p>
        </p:txBody>
      </p:sp>
      <p:sp>
        <p:nvSpPr>
          <p:cNvPr id="33" name="Shape 30">
          </p:cNvPr>
          <p:cNvSpPr/>
          <p:nvPr>
          </p:nvPr>
        </p:nvSpPr>
        <p:spPr>
          <a:xfrm>
            <a:off x="6142232" y="3284982"/>
            <a:ext cx="2727704" cy="806958"/>
          </a:xfrm>
          <a:prstGeom prst="rect">
            <a:avLst>
              <a:gd name="adj" fmla="val 14731"/>
            </a:avLst>
          </a:prstGeom>
          <a:solidFill>
            <a:srgbClr val="0B1020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34" name="Text 31">
          </p:cNvPr>
          <p:cNvSpPr/>
          <p:nvPr>
          </p:nvPr>
        </p:nvSpPr>
        <p:spPr>
          <a:xfrm>
            <a:off x="6297680" y="3403854"/>
            <a:ext cx="2416808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Nella delega</a:t>
            </a:r>
            <a:endParaRPr lang="en-US" sz="1680" dirty="0"/>
          </a:p>
        </p:txBody>
      </p:sp>
      <p:sp>
        <p:nvSpPr>
          <p:cNvPr id="35" name="Shape 32">
          </p:cNvPr>
          <p:cNvSpPr/>
          <p:nvPr>
          </p:nvPr>
        </p:nvSpPr>
        <p:spPr>
          <a:xfrm>
            <a:off x="8869936" y="3284982"/>
            <a:ext cx="2727704" cy="806958"/>
          </a:xfrm>
          <a:prstGeom prst="rect">
            <a:avLst>
              <a:gd name="adj" fmla="val 14731"/>
            </a:avLst>
          </a:prstGeom>
          <a:solidFill>
            <a:srgbClr val="0B1020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36" name="Text 33">
          </p:cNvPr>
          <p:cNvSpPr/>
          <p:nvPr>
          </p:nvPr>
        </p:nvSpPr>
        <p:spPr>
          <a:xfrm>
            <a:off x="9025384" y="3403854"/>
            <a:ext cx="2416808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Nel principale</a:t>
            </a:r>
            <a:endParaRPr lang="en-US" sz="1680" dirty="0"/>
          </a:p>
        </p:txBody>
      </p:sp>
      <p:sp>
        <p:nvSpPr>
          <p:cNvPr id="37" name="Shape 34">
          </p:cNvPr>
          <p:cNvSpPr/>
          <p:nvPr>
          </p:nvPr>
        </p:nvSpPr>
        <p:spPr>
          <a:xfrm>
            <a:off x="594360" y="4091940"/>
            <a:ext cx="2912633" cy="806958"/>
          </a:xfrm>
          <a:prstGeom prst="rect">
            <a:avLst>
              <a:gd name="adj" fmla="val 14731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38" name="Text 35">
          </p:cNvPr>
          <p:cNvSpPr/>
          <p:nvPr>
          </p:nvPr>
        </p:nvSpPr>
        <p:spPr>
          <a:xfrm>
            <a:off x="749808" y="4210812"/>
            <a:ext cx="2601737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b="1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Quale contratto?</a:t>
            </a:r>
            <a:endParaRPr lang="en-US" sz="1680" dirty="0"/>
          </a:p>
        </p:txBody>
      </p:sp>
      <p:sp>
        <p:nvSpPr>
          <p:cNvPr id="39" name="Shape 36">
          </p:cNvPr>
          <p:cNvSpPr/>
          <p:nvPr>
          </p:nvPr>
        </p:nvSpPr>
        <p:spPr>
          <a:xfrm>
            <a:off x="3506993" y="4091940"/>
            <a:ext cx="2635239" cy="806958"/>
          </a:xfrm>
          <a:prstGeom prst="rect">
            <a:avLst>
              <a:gd name="adj" fmla="val 14731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40" name="Text 37">
          </p:cNvPr>
          <p:cNvSpPr/>
          <p:nvPr>
          </p:nvPr>
        </p:nvSpPr>
        <p:spPr>
          <a:xfrm>
            <a:off x="3662441" y="4210812"/>
            <a:ext cx="2324343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e argomenti</a:t>
            </a:r>
            <a:endParaRPr lang="en-US" sz="1680" dirty="0"/>
          </a:p>
        </p:txBody>
      </p:sp>
      <p:sp>
        <p:nvSpPr>
          <p:cNvPr id="41" name="Shape 38">
          </p:cNvPr>
          <p:cNvSpPr/>
          <p:nvPr>
          </p:nvPr>
        </p:nvSpPr>
        <p:spPr>
          <a:xfrm>
            <a:off x="6142232" y="4091940"/>
            <a:ext cx="2727704" cy="806958"/>
          </a:xfrm>
          <a:prstGeom prst="rect">
            <a:avLst>
              <a:gd name="adj" fmla="val 14731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42" name="Text 39">
          </p:cNvPr>
          <p:cNvSpPr/>
          <p:nvPr>
          </p:nvPr>
        </p:nvSpPr>
        <p:spPr>
          <a:xfrm>
            <a:off x="6297680" y="4210812"/>
            <a:ext cx="2416808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e messaggi</a:t>
            </a:r>
            <a:endParaRPr lang="en-US" sz="1680" dirty="0"/>
          </a:p>
        </p:txBody>
      </p:sp>
      <p:sp>
        <p:nvSpPr>
          <p:cNvPr id="43" name="Shape 40">
          </p:cNvPr>
          <p:cNvSpPr/>
          <p:nvPr>
          </p:nvPr>
        </p:nvSpPr>
        <p:spPr>
          <a:xfrm>
            <a:off x="8869936" y="4091940"/>
            <a:ext cx="2727704" cy="806958"/>
          </a:xfrm>
          <a:prstGeom prst="rect">
            <a:avLst>
              <a:gd name="adj" fmla="val 14731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44" name="Text 41">
          </p:cNvPr>
          <p:cNvSpPr/>
          <p:nvPr>
          </p:nvPr>
        </p:nvSpPr>
        <p:spPr>
          <a:xfrm>
            <a:off x="9025384" y="4210812"/>
            <a:ext cx="2416808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SKILL.md</a:t>
            </a:r>
            <a:endParaRPr lang="en-US" sz="1680" dirty="0"/>
          </a:p>
        </p:txBody>
      </p:sp>
      <p:sp>
        <p:nvSpPr>
          <p:cNvPr id="45" name="Shape 42">
          </p:cNvPr>
          <p:cNvSpPr/>
          <p:nvPr>
          </p:nvPr>
        </p:nvSpPr>
        <p:spPr>
          <a:xfrm>
            <a:off x="594360" y="4898898"/>
            <a:ext cx="2912633" cy="806958"/>
          </a:xfrm>
          <a:prstGeom prst="rect">
            <a:avLst>
              <a:gd name="adj" fmla="val 14731"/>
            </a:avLst>
          </a:prstGeom>
          <a:solidFill>
            <a:srgbClr val="0B1020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46" name="Text 43">
          </p:cNvPr>
          <p:cNvSpPr/>
          <p:nvPr>
          </p:nvPr>
        </p:nvSpPr>
        <p:spPr>
          <a:xfrm>
            <a:off x="749808" y="5017770"/>
            <a:ext cx="2601737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b="1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 risponde?</a:t>
            </a:r>
            <a:endParaRPr lang="en-US" sz="1680" dirty="0"/>
          </a:p>
        </p:txBody>
      </p:sp>
      <p:sp>
        <p:nvSpPr>
          <p:cNvPr id="47" name="Shape 44">
          </p:cNvPr>
          <p:cNvSpPr/>
          <p:nvPr>
          </p:nvPr>
        </p:nvSpPr>
        <p:spPr>
          <a:xfrm>
            <a:off x="3506993" y="4898898"/>
            <a:ext cx="2635239" cy="806958"/>
          </a:xfrm>
          <a:prstGeom prst="rect">
            <a:avLst>
              <a:gd name="adj" fmla="val 14731"/>
            </a:avLst>
          </a:prstGeom>
          <a:solidFill>
            <a:srgbClr val="0B1020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48" name="Text 45">
          </p:cNvPr>
          <p:cNvSpPr/>
          <p:nvPr>
          </p:nvPr>
        </p:nvSpPr>
        <p:spPr>
          <a:xfrm>
            <a:off x="3662441" y="5017770"/>
            <a:ext cx="2324343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principale</a:t>
            </a:r>
            <a:endParaRPr lang="en-US" sz="1680" dirty="0"/>
          </a:p>
        </p:txBody>
      </p:sp>
      <p:sp>
        <p:nvSpPr>
          <p:cNvPr id="49" name="Shape 46">
          </p:cNvPr>
          <p:cNvSpPr/>
          <p:nvPr>
          </p:nvPr>
        </p:nvSpPr>
        <p:spPr>
          <a:xfrm>
            <a:off x="6142232" y="4898898"/>
            <a:ext cx="2727704" cy="806958"/>
          </a:xfrm>
          <a:prstGeom prst="rect">
            <a:avLst>
              <a:gd name="adj" fmla="val 14731"/>
            </a:avLst>
          </a:prstGeom>
          <a:solidFill>
            <a:srgbClr val="0B1020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50" name="Text 47">
          </p:cNvPr>
          <p:cNvSpPr/>
          <p:nvPr>
          </p:nvPr>
        </p:nvSpPr>
        <p:spPr>
          <a:xfrm>
            <a:off x="6297680" y="5017770"/>
            <a:ext cx="2416808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principale</a:t>
            </a:r>
            <a:endParaRPr lang="en-US" sz="1680" dirty="0"/>
          </a:p>
        </p:txBody>
      </p:sp>
      <p:sp>
        <p:nvSpPr>
          <p:cNvPr id="51" name="Shape 48">
          </p:cNvPr>
          <p:cNvSpPr/>
          <p:nvPr>
          </p:nvPr>
        </p:nvSpPr>
        <p:spPr>
          <a:xfrm>
            <a:off x="8869936" y="4898898"/>
            <a:ext cx="2727704" cy="806958"/>
          </a:xfrm>
          <a:prstGeom prst="rect">
            <a:avLst>
              <a:gd name="adj" fmla="val 14731"/>
            </a:avLst>
          </a:prstGeom>
          <a:solidFill>
            <a:srgbClr val="0B1020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52" name="Text 49">
          </p:cNvPr>
          <p:cNvSpPr/>
          <p:nvPr>
          </p:nvPr>
        </p:nvSpPr>
        <p:spPr>
          <a:xfrm>
            <a:off x="9025384" y="5017770"/>
            <a:ext cx="2416808" cy="56921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principale</a:t>
            </a:r>
            <a:endParaRPr lang="en-US" sz="1680" dirty="0"/>
          </a:p>
        </p:txBody>
      </p:sp>
      <p:sp>
        <p:nvSpPr>
          <p:cNvPr id="53" name="Shape 50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54" name="Text 51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 guida il principale. A2A delega. MCP legge i dati.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OSSERVARE · ASPIRE</a:t>
            </a:r>
            <a:endParaRPr lang="en-US" sz="1100" dirty="0"/>
          </a:p>
        </p:txBody>
      </p:sp>
      <p:sp>
        <p:nvSpPr>
          <p:cNvPr id="4" name="Text 2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Aspire: due avvii indipendenti</a:t>
            </a:r>
            <a:endParaRPr lang="en-US" sz="3150" dirty="0"/>
          </a:p>
        </p:txBody>
      </p:sp>
      <p:sp>
        <p:nvSpPr>
          <p:cNvPr id="5" name="Text 3">
          </p:cNvPr>
          <p:cNvSpPr/>
          <p:nvPr>
          </p:nvPr>
        </p:nvSpPr>
        <p:spPr>
          <a:xfrm>
            <a:off x="594360" y="1362456"/>
            <a:ext cx="11003280" cy="38404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- Aspire oppure ADVANCE - Aspire. Dashboard separati.</a:t>
            </a:r>
            <a:endParaRPr lang="en-US" sz="1730" dirty="0"/>
          </a:p>
        </p:txBody>
      </p:sp>
      <p:sp>
        <p:nvSpPr>
          <p:cNvPr id="6" name="Shape 4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7" name="Text 5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8" name="Text 6">
            <a:hlinkClick r:id="rId1" tooltip=""/>
          </p:cNvPr>
          <p:cNvSpPr/>
          <p:nvPr>
          </p:nvPr>
        </p:nvSpPr>
        <p:spPr>
          <a:xfrm>
            <a:off x="3611880" y="6501384"/>
            <a:ext cx="262432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Aspire · telemetria ↗</a:t>
            </a:r>
            <a:endParaRPr lang="en-US" sz="940" dirty="0"/>
          </a:p>
        </p:txBody>
      </p:sp>
      <p:sp>
        <p:nvSpPr>
          <p:cNvPr id="9" name="Text 7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20</a:t>
            </a:r>
            <a:endParaRPr lang="en-US" sz="950" dirty="0"/>
          </a:p>
        </p:txBody>
      </p:sp>
      <p:sp>
        <p:nvSpPr>
          <p:cNvPr id="11" name="Shape 8">
          </p:cNvPr>
          <p:cNvSpPr/>
          <p:nvPr>
          </p:nvPr>
        </p:nvSpPr>
        <p:spPr>
          <a:xfrm>
            <a:off x="59436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12" name="Text 9">
          </p:cNvPr>
          <p:cNvSpPr/>
          <p:nvPr>
          </p:nvPr>
        </p:nvSpPr>
        <p:spPr>
          <a:xfrm>
            <a:off x="75895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Scegli AppHost</a:t>
            </a:r>
            <a:endParaRPr lang="en-US" sz="2000" dirty="0"/>
          </a:p>
        </p:txBody>
      </p:sp>
      <p:sp>
        <p:nvSpPr>
          <p:cNvPr id="13" name="Text 10">
          </p:cNvPr>
          <p:cNvSpPr/>
          <p:nvPr>
          </p:nvPr>
        </p:nvSpPr>
        <p:spPr>
          <a:xfrm>
            <a:off x="72237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oppure Advance</a:t>
            </a:r>
            <a:endParaRPr lang="en-US" sz="1420" dirty="0"/>
          </a:p>
        </p:txBody>
      </p:sp>
      <p:sp>
        <p:nvSpPr>
          <p:cNvPr id="14" name="Shape 11">
          </p:cNvPr>
          <p:cNvSpPr/>
          <p:nvPr>
          </p:nvPr>
        </p:nvSpPr>
        <p:spPr>
          <a:xfrm>
            <a:off x="4021328" y="2532888"/>
            <a:ext cx="329184" cy="0"/>
          </a:xfrm>
          <a:prstGeom prst="line">
            <a:avLst>
            </a:avLst>
          </a:prstGeom>
          <a:noFill/>
          <a:ln w="27940">
            <a:solidFill>
              <a:srgbClr val="43D9CF"/>
            </a:solidFill>
            <a:prstDash val="solid"/>
            <a:headEnd type="none"/>
            <a:tailEnd type="triangle"/>
          </a:ln>
        </p:spPr>
      </p:sp>
      <p:sp>
        <p:nvSpPr>
          <p:cNvPr id="15" name="Shape 12">
          </p:cNvPr>
          <p:cNvSpPr/>
          <p:nvPr>
          </p:nvPr>
        </p:nvSpPr>
        <p:spPr>
          <a:xfrm>
            <a:off x="441452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16" name="Text 13">
          </p:cNvPr>
          <p:cNvSpPr/>
          <p:nvPr>
          </p:nvPr>
        </p:nvSpPr>
        <p:spPr>
          <a:xfrm>
            <a:off x="457911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Invia il prompt</a:t>
            </a:r>
            <a:endParaRPr lang="en-US" sz="2000" dirty="0"/>
          </a:p>
        </p:txBody>
      </p:sp>
      <p:sp>
        <p:nvSpPr>
          <p:cNvPr id="17" name="Text 14">
          </p:cNvPr>
          <p:cNvSpPr/>
          <p:nvPr>
          </p:nvPr>
        </p:nvSpPr>
        <p:spPr>
          <a:xfrm>
            <a:off x="454253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richiesta</a:t>
            </a:r>
            <a:endParaRPr lang="en-US" sz="1420" dirty="0"/>
          </a:p>
        </p:txBody>
      </p:sp>
      <p:sp>
        <p:nvSpPr>
          <p:cNvPr id="18" name="Shape 15">
          </p:cNvPr>
          <p:cNvSpPr/>
          <p:nvPr>
          </p:nvPr>
        </p:nvSpPr>
        <p:spPr>
          <a:xfrm>
            <a:off x="7841488" y="2532888"/>
            <a:ext cx="329184" cy="0"/>
          </a:xfrm>
          <a:prstGeom prst="line">
            <a:avLst>
            </a:avLst>
          </a:prstGeom>
          <a:noFill/>
          <a:ln w="27940">
            <a:solidFill>
              <a:srgbClr val="43D9CF"/>
            </a:solidFill>
            <a:prstDash val="solid"/>
            <a:headEnd type="none"/>
            <a:tailEnd type="triangle"/>
          </a:ln>
        </p:spPr>
      </p:sp>
      <p:sp>
        <p:nvSpPr>
          <p:cNvPr id="19" name="Shape 16">
          </p:cNvPr>
          <p:cNvSpPr/>
          <p:nvPr>
          </p:nvPr>
        </p:nvSpPr>
        <p:spPr>
          <a:xfrm>
            <a:off x="823468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20" name="Text 17">
          </p:cNvPr>
          <p:cNvSpPr/>
          <p:nvPr>
          </p:nvPr>
        </p:nvSpPr>
        <p:spPr>
          <a:xfrm>
            <a:off x="839927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 il dashboard</a:t>
            </a:r>
            <a:endParaRPr lang="en-US" sz="2000" dirty="0"/>
          </a:p>
        </p:txBody>
      </p:sp>
      <p:sp>
        <p:nvSpPr>
          <p:cNvPr id="21" name="Text 18">
          </p:cNvPr>
          <p:cNvSpPr/>
          <p:nvPr>
          </p:nvPr>
        </p:nvSpPr>
        <p:spPr>
          <a:xfrm>
            <a:off x="836269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Percorso ed eventuale errore</a:t>
            </a:r>
            <a:endParaRPr lang="en-US" sz="1420" dirty="0"/>
          </a:p>
        </p:txBody>
      </p:sp>
      <p:sp>
        <p:nvSpPr>
          <p:cNvPr id="22" name="Shape 19">
          </p:cNvPr>
          <p:cNvSpPr/>
          <p:nvPr>
          </p:nvPr>
        </p:nvSpPr>
        <p:spPr>
          <a:xfrm>
            <a:off x="594360" y="3410712"/>
            <a:ext cx="5355336" cy="2157984"/>
          </a:xfrm>
          <a:prstGeom prst="roundRect">
            <a:avLst>
              <a:gd name="adj" fmla="val 55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3" name="Text 20">
          </p:cNvPr>
          <p:cNvSpPr/>
          <p:nvPr>
          </p:nvPr>
        </p:nvSpPr>
        <p:spPr>
          <a:xfrm>
            <a:off x="822960" y="360273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 soltanto</a:t>
            </a:r>
            <a:endParaRPr lang="en-US" sz="2200" dirty="0"/>
          </a:p>
        </p:txBody>
      </p:sp>
      <p:sp>
        <p:nvSpPr>
          <p:cNvPr id="24" name="Text 21">
          </p:cNvPr>
          <p:cNvSpPr/>
          <p:nvPr>
          </p:nvPr>
        </p:nvSpPr>
        <p:spPr>
          <a:xfrm>
            <a:off x="822960" y="4133088"/>
            <a:ext cx="4898136" cy="12435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i servizi della demo scelta.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richiesta HTTP verso il mock.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Stato e risposta del percorso scelto.</a:t>
            </a:r>
            <a:endParaRPr lang="en-US" sz="1900" dirty="0"/>
          </a:p>
        </p:txBody>
      </p:sp>
      <p:sp>
        <p:nvSpPr>
          <p:cNvPr id="25" name="Shape 22">
          </p:cNvPr>
          <p:cNvSpPr/>
          <p:nvPr>
          </p:nvPr>
        </p:nvSpPr>
        <p:spPr>
          <a:xfrm>
            <a:off x="6242304" y="3410712"/>
            <a:ext cx="5355336" cy="2157984"/>
          </a:xfrm>
          <a:prstGeom prst="roundRect">
            <a:avLst>
              <a:gd name="adj" fmla="val 55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6" name="Text 23">
          </p:cNvPr>
          <p:cNvSpPr/>
          <p:nvPr>
          </p:nvPr>
        </p:nvSpPr>
        <p:spPr>
          <a:xfrm>
            <a:off x="6470904" y="360273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serve costruire</a:t>
            </a:r>
            <a:endParaRPr lang="en-US" sz="2200" dirty="0"/>
          </a:p>
        </p:txBody>
      </p:sp>
      <p:sp>
        <p:nvSpPr>
          <p:cNvPr id="27" name="Text 24">
          </p:cNvPr>
          <p:cNvSpPr/>
          <p:nvPr>
          </p:nvPr>
        </p:nvSpPr>
        <p:spPr>
          <a:xfrm>
            <a:off x="6470904" y="4133088"/>
            <a:ext cx="4898136" cy="12435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progetto benchmark.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registro custom di tutte le run.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nuova orchestrazione agentica.</a:t>
            </a:r>
            <a:endParaRPr lang="en-US" sz="1900" dirty="0"/>
          </a:p>
        </p:txBody>
      </p:sp>
      <p:sp>
        <p:nvSpPr>
          <p:cNvPr id="28" name="Shape 25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29" name="Text 26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Aspire aiuta a osservare. La telemetria dipende dall’instrumentazione.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NON SIGNIFICA INVENTARE</a:t>
            </a:r>
            <a:endParaRPr lang="en-US" sz="1100" dirty="0"/>
          </a:p>
        </p:txBody>
      </p:sp>
      <p:sp>
        <p:nvSpPr>
          <p:cNvPr id="4" name="Text 2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 controlli, senza allargare la demo</a:t>
            </a:r>
            <a:endParaRPr lang="en-US" sz="3150" dirty="0"/>
          </a:p>
        </p:txBody>
      </p:sp>
      <p:sp>
        <p:nvSpPr>
          <p:cNvPr id="5" name="Shape 3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6" name="Text 4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7" name="Text 5">
            <a:hlinkClick r:id="rId1" tooltip=""/>
          </p:cNvPr>
          <p:cNvSpPr/>
          <p:nvPr>
          </p:nvPr>
        </p:nvSpPr>
        <p:spPr>
          <a:xfrm>
            <a:off x="361188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· architettura ↗</a:t>
            </a:r>
            <a:endParaRPr lang="en-US" sz="940" dirty="0"/>
          </a:p>
        </p:txBody>
      </p:sp>
      <p:sp>
        <p:nvSpPr>
          <p:cNvPr id="8" name="Text 6">
            <a:hlinkClick r:id="rId2" tooltip=""/>
          </p:cNvPr>
          <p:cNvSpPr/>
          <p:nvPr>
          </p:nvPr>
        </p:nvSpPr>
        <p:spPr>
          <a:xfrm>
            <a:off x="598932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Skills ↗</a:t>
            </a:r>
            <a:endParaRPr lang="en-US" sz="940" dirty="0"/>
          </a:p>
        </p:txBody>
      </p:sp>
      <p:sp>
        <p:nvSpPr>
          <p:cNvPr id="9" name="Text 7">
            <a:hlinkClick r:id="rId3" tooltip=""/>
          </p:cNvPr>
          <p:cNvSpPr/>
          <p:nvPr>
          </p:nvPr>
        </p:nvSpPr>
        <p:spPr>
          <a:xfrm>
            <a:off x="836676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Aspire · telemetria ↗</a:t>
            </a:r>
            <a:endParaRPr lang="en-US" sz="940" dirty="0"/>
          </a:p>
        </p:txBody>
      </p:sp>
      <p:sp>
        <p:nvSpPr>
          <p:cNvPr id="10" name="Text 8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20</a:t>
            </a:r>
            <a:endParaRPr lang="en-US" sz="950" dirty="0"/>
          </a:p>
        </p:txBody>
      </p:sp>
      <p:sp>
        <p:nvSpPr>
          <p:cNvPr id="12" name="Shape 9">
          </p:cNvPr>
          <p:cNvSpPr/>
          <p:nvPr>
          </p:nvPr>
        </p:nvSpPr>
        <p:spPr>
          <a:xfrm>
            <a:off x="594360" y="1993392"/>
            <a:ext cx="3503168" cy="3538728"/>
          </a:xfrm>
          <a:prstGeom prst="roundRect">
            <a:avLst>
              <a:gd name="adj" fmla="val 3393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13" name="Shape 10">
          </p:cNvPr>
          <p:cNvSpPr/>
          <p:nvPr>
          </p:nvPr>
        </p:nvSpPr>
        <p:spPr>
          <a:xfrm>
            <a:off x="603504" y="2157984"/>
            <a:ext cx="41148" cy="3209544"/>
          </a:xfrm>
          <a:prstGeom prst="rect">
            <a:avLst>
              <a:gd name="adj" fmla="val 288889"/>
            </a:avLst>
          </a:prstGeom>
          <a:solidFill>
            <a:srgbClr val="FF784F"/>
          </a:solidFill>
          <a:ln w="7620">
            <a:solidFill>
              <a:srgbClr val="FF784F"/>
            </a:solidFill>
            <a:prstDash val="solid"/>
          </a:ln>
        </p:spPr>
      </p:sp>
      <p:sp>
        <p:nvSpPr>
          <p:cNvPr id="14" name="Text 11">
          </p:cNvPr>
          <p:cNvSpPr/>
          <p:nvPr>
          </p:nvPr>
        </p:nvSpPr>
        <p:spPr>
          <a:xfrm>
            <a:off x="822960" y="2231136"/>
            <a:ext cx="3045968" cy="26517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80" b="1" spc="110" kern="0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1080" dirty="0"/>
          </a:p>
        </p:txBody>
      </p:sp>
      <p:sp>
        <p:nvSpPr>
          <p:cNvPr id="15" name="Text 12">
          </p:cNvPr>
          <p:cNvSpPr/>
          <p:nvPr>
          </p:nvPr>
        </p:nvSpPr>
        <p:spPr>
          <a:xfrm>
            <a:off x="822960" y="2697480"/>
            <a:ext cx="3045968" cy="52120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 assente</a:t>
            </a:r>
            <a:endParaRPr lang="en-US" sz="2500" dirty="0"/>
          </a:p>
        </p:txBody>
      </p:sp>
      <p:sp>
        <p:nvSpPr>
          <p:cNvPr id="16" name="Text 13">
          </p:cNvPr>
          <p:cNvSpPr/>
          <p:nvPr>
          </p:nvPr>
        </p:nvSpPr>
        <p:spPr>
          <a:xfrm>
            <a:off x="822960" y="3429000"/>
            <a:ext cx="3045968" cy="187452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Città o ordine ignoto?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Messaggio chiaro.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 fatto fabbricato.</a:t>
            </a:r>
            <a:endParaRPr lang="en-US" sz="2000" dirty="0"/>
          </a:p>
        </p:txBody>
      </p:sp>
      <p:sp>
        <p:nvSpPr>
          <p:cNvPr id="17" name="Shape 14">
          </p:cNvPr>
          <p:cNvSpPr/>
          <p:nvPr>
          </p:nvPr>
        </p:nvSpPr>
        <p:spPr>
          <a:xfrm>
            <a:off x="4344416" y="1993392"/>
            <a:ext cx="3503168" cy="3538728"/>
          </a:xfrm>
          <a:prstGeom prst="roundRect">
            <a:avLst>
              <a:gd name="adj" fmla="val 3393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18" name="Shape 15">
          </p:cNvPr>
          <p:cNvSpPr/>
          <p:nvPr>
          </p:nvPr>
        </p:nvSpPr>
        <p:spPr>
          <a:xfrm>
            <a:off x="4353560" y="2157984"/>
            <a:ext cx="41148" cy="3209544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19" name="Text 16">
          </p:cNvPr>
          <p:cNvSpPr/>
          <p:nvPr>
          </p:nvPr>
        </p:nvSpPr>
        <p:spPr>
          <a:xfrm>
            <a:off x="4573016" y="2231136"/>
            <a:ext cx="3045968" cy="26517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80" b="1" spc="11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</a:t>
            </a:r>
            <a:endParaRPr lang="en-US" sz="1080" dirty="0"/>
          </a:p>
        </p:txBody>
      </p:sp>
      <p:sp>
        <p:nvSpPr>
          <p:cNvPr id="20" name="Text 17">
          </p:cNvPr>
          <p:cNvSpPr/>
          <p:nvPr>
          </p:nvPr>
        </p:nvSpPr>
        <p:spPr>
          <a:xfrm>
            <a:off x="4573016" y="2697480"/>
            <a:ext cx="3045968" cy="52120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 in errore</a:t>
            </a:r>
            <a:endParaRPr lang="en-US" sz="2500" dirty="0"/>
          </a:p>
        </p:txBody>
      </p:sp>
      <p:sp>
        <p:nvSpPr>
          <p:cNvPr id="21" name="Text 18">
          </p:cNvPr>
          <p:cNvSpPr/>
          <p:nvPr>
          </p:nvPr>
        </p:nvSpPr>
        <p:spPr>
          <a:xfrm>
            <a:off x="4573016" y="3429000"/>
            <a:ext cx="3045968" cy="187452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Dichiara il limite.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promettere alternative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 non hai letto.</a:t>
            </a:r>
            <a:endParaRPr lang="en-US" sz="2000" dirty="0"/>
          </a:p>
        </p:txBody>
      </p:sp>
      <p:sp>
        <p:nvSpPr>
          <p:cNvPr id="22" name="Shape 19">
          </p:cNvPr>
          <p:cNvSpPr/>
          <p:nvPr>
          </p:nvPr>
        </p:nvSpPr>
        <p:spPr>
          <a:xfrm>
            <a:off x="8094472" y="1993392"/>
            <a:ext cx="3503168" cy="3538728"/>
          </a:xfrm>
          <a:prstGeom prst="roundRect">
            <a:avLst>
              <a:gd name="adj" fmla="val 3393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3" name="Shape 20">
          </p:cNvPr>
          <p:cNvSpPr/>
          <p:nvPr>
          </p:nvPr>
        </p:nvSpPr>
        <p:spPr>
          <a:xfrm>
            <a:off x="8103616" y="2157984"/>
            <a:ext cx="41148" cy="3209544"/>
          </a:xfrm>
          <a:prstGeom prst="rect">
            <a:avLst>
              <a:gd name="adj" fmla="val 288889"/>
            </a:avLst>
          </a:prstGeom>
          <a:solidFill>
            <a:srgbClr val="B49AFF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24" name="Text 21">
          </p:cNvPr>
          <p:cNvSpPr/>
          <p:nvPr>
          </p:nvPr>
        </p:nvSpPr>
        <p:spPr>
          <a:xfrm>
            <a:off x="8323072" y="2231136"/>
            <a:ext cx="3045968" cy="26517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80" b="1" spc="110" kern="0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CONFIGURAZIONE</a:t>
            </a:r>
            <a:endParaRPr lang="en-US" sz="1080" dirty="0"/>
          </a:p>
        </p:txBody>
      </p:sp>
      <p:sp>
        <p:nvSpPr>
          <p:cNvPr id="25" name="Text 22">
          </p:cNvPr>
          <p:cNvSpPr/>
          <p:nvPr>
          </p:nvPr>
        </p:nvSpPr>
        <p:spPr>
          <a:xfrm>
            <a:off x="8323072" y="2697480"/>
            <a:ext cx="3045968" cy="52120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Segreti fuori</a:t>
            </a:r>
            <a:endParaRPr lang="en-US" sz="2500" dirty="0"/>
          </a:p>
        </p:txBody>
      </p:sp>
      <p:sp>
        <p:nvSpPr>
          <p:cNvPr id="26" name="Text 23">
          </p:cNvPr>
          <p:cNvSpPr/>
          <p:nvPr>
          </p:nvPr>
        </p:nvSpPr>
        <p:spPr>
          <a:xfrm>
            <a:off x="8323072" y="3429000"/>
            <a:ext cx="3045968" cy="187452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Credenziali fuori dal codice.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mostrarle sul palco.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 solo dati sintetici.</a:t>
            </a:r>
            <a:endParaRPr lang="en-US" sz="2000" dirty="0"/>
          </a:p>
        </p:txBody>
      </p:sp>
      <p:sp>
        <p:nvSpPr>
          <p:cNvPr id="27" name="Shape 24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28" name="Text 25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percorso felice resta su ORD-1042. Le verifiche non sono nuove demo.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B49AFF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CHIUSURA · BASIC + ADVANCE</a:t>
            </a:r>
            <a:endParaRPr lang="en-US" sz="1100" dirty="0"/>
          </a:p>
        </p:txBody>
      </p:sp>
      <p:sp>
        <p:nvSpPr>
          <p:cNvPr id="4" name="Text 2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 separa. Poi combina.</a:t>
            </a:r>
            <a:endParaRPr lang="en-US" sz="3150" dirty="0"/>
          </a:p>
        </p:txBody>
      </p:sp>
      <p:sp>
        <p:nvSpPr>
          <p:cNvPr id="5" name="Text 3">
          </p:cNvPr>
          <p:cNvSpPr/>
          <p:nvPr>
          </p:nvPr>
        </p:nvSpPr>
        <p:spPr>
          <a:xfrm>
            <a:off x="594360" y="1362456"/>
            <a:ext cx="11003280" cy="38404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insegna i concetti. ADVANCE li usa nello stesso caso.</a:t>
            </a:r>
            <a:endParaRPr lang="en-US" sz="1730" dirty="0"/>
          </a:p>
        </p:txBody>
      </p:sp>
      <p:sp>
        <p:nvSpPr>
          <p:cNvPr id="6" name="Shape 4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7" name="Text 5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8" name="Text 6">
            <a:hlinkClick r:id="rId1" tooltip=""/>
          </p:cNvPr>
          <p:cNvSpPr/>
          <p:nvPr>
          </p:nvPr>
        </p:nvSpPr>
        <p:spPr>
          <a:xfrm>
            <a:off x="361188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· architettura ↗</a:t>
            </a:r>
            <a:endParaRPr lang="en-US" sz="940" dirty="0"/>
          </a:p>
        </p:txBody>
      </p:sp>
      <p:sp>
        <p:nvSpPr>
          <p:cNvPr id="9" name="Text 7">
            <a:hlinkClick r:id="rId2" tooltip=""/>
          </p:cNvPr>
          <p:cNvSpPr/>
          <p:nvPr>
          </p:nvPr>
        </p:nvSpPr>
        <p:spPr>
          <a:xfrm>
            <a:off x="598932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A2A · specifica ↗</a:t>
            </a:r>
            <a:endParaRPr lang="en-US" sz="940" dirty="0"/>
          </a:p>
        </p:txBody>
      </p:sp>
      <p:sp>
        <p:nvSpPr>
          <p:cNvPr id="10" name="Text 8">
            <a:hlinkClick r:id="rId3" tooltip=""/>
          </p:cNvPr>
          <p:cNvSpPr/>
          <p:nvPr>
          </p:nvPr>
        </p:nvSpPr>
        <p:spPr>
          <a:xfrm>
            <a:off x="836676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Skills ↗</a:t>
            </a:r>
            <a:endParaRPr lang="en-US" sz="940" dirty="0"/>
          </a:p>
        </p:txBody>
      </p:sp>
      <p:sp>
        <p:nvSpPr>
          <p:cNvPr id="11" name="Text 9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20</a:t>
            </a:r>
            <a:endParaRPr lang="en-US" sz="950" dirty="0"/>
          </a:p>
        </p:txBody>
      </p:sp>
      <p:sp>
        <p:nvSpPr>
          <p:cNvPr id="13" name="Shape 10">
          </p:cNvPr>
          <p:cNvSpPr/>
          <p:nvPr>
          </p:nvPr>
        </p:nvSpPr>
        <p:spPr>
          <a:xfrm>
            <a:off x="59436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14" name="Text 11">
          </p:cNvPr>
          <p:cNvSpPr/>
          <p:nvPr>
          </p:nvPr>
        </p:nvSpPr>
        <p:spPr>
          <a:xfrm>
            <a:off x="75895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</a:t>
            </a:r>
            <a:endParaRPr lang="en-US" sz="2000" dirty="0"/>
          </a:p>
        </p:txBody>
      </p:sp>
      <p:sp>
        <p:nvSpPr>
          <p:cNvPr id="15" name="Text 12">
          </p:cNvPr>
          <p:cNvSpPr/>
          <p:nvPr>
          </p:nvPr>
        </p:nvSpPr>
        <p:spPr>
          <a:xfrm>
            <a:off x="72237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 il principale</a:t>
            </a:r>
            <a:endParaRPr lang="en-US" sz="1420" dirty="0"/>
          </a:p>
        </p:txBody>
      </p:sp>
      <p:sp>
        <p:nvSpPr>
          <p:cNvPr id="16" name="Shape 13">
          </p:cNvPr>
          <p:cNvSpPr/>
          <p:nvPr>
          </p:nvPr>
        </p:nvSpPr>
        <p:spPr>
          <a:xfrm>
            <a:off x="4021328" y="2532888"/>
            <a:ext cx="329184" cy="0"/>
          </a:xfrm>
          <a:prstGeom prst="line">
            <a:avLst>
            </a:avLst>
          </a:prstGeom>
          <a:noFill/>
          <a:ln w="27940">
            <a:solidFill>
              <a:srgbClr val="B49AFF"/>
            </a:solidFill>
            <a:prstDash val="solid"/>
            <a:headEnd type="none"/>
            <a:tailEnd type="triangle"/>
          </a:ln>
        </p:spPr>
      </p:sp>
      <p:sp>
        <p:nvSpPr>
          <p:cNvPr id="17" name="Shape 14">
          </p:cNvPr>
          <p:cNvSpPr/>
          <p:nvPr>
          </p:nvPr>
        </p:nvSpPr>
        <p:spPr>
          <a:xfrm>
            <a:off x="441452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18" name="Text 15">
          </p:cNvPr>
          <p:cNvSpPr/>
          <p:nvPr>
          </p:nvPr>
        </p:nvSpPr>
        <p:spPr>
          <a:xfrm>
            <a:off x="457911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principale</a:t>
            </a:r>
            <a:endParaRPr lang="en-US" sz="2000" dirty="0"/>
          </a:p>
        </p:txBody>
      </p:sp>
      <p:sp>
        <p:nvSpPr>
          <p:cNvPr id="19" name="Text 16">
          </p:cNvPr>
          <p:cNvSpPr/>
          <p:nvPr>
          </p:nvPr>
        </p:nvSpPr>
        <p:spPr>
          <a:xfrm>
            <a:off x="454253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e risponde</a:t>
            </a:r>
            <a:endParaRPr lang="en-US" sz="1420" dirty="0"/>
          </a:p>
        </p:txBody>
      </p:sp>
      <p:sp>
        <p:nvSpPr>
          <p:cNvPr id="20" name="Shape 17">
          </p:cNvPr>
          <p:cNvSpPr/>
          <p:nvPr>
          </p:nvPr>
        </p:nvSpPr>
        <p:spPr>
          <a:xfrm>
            <a:off x="7841488" y="2532888"/>
            <a:ext cx="329184" cy="0"/>
          </a:xfrm>
          <a:prstGeom prst="line">
            <a:avLst>
            </a:avLst>
          </a:prstGeom>
          <a:noFill/>
          <a:ln w="27940">
            <a:solidFill>
              <a:srgbClr val="B49AFF"/>
            </a:solidFill>
            <a:prstDash val="solid"/>
            <a:headEnd type="none"/>
            <a:tailEnd type="triangle"/>
          </a:ln>
        </p:spPr>
      </p:sp>
      <p:sp>
        <p:nvSpPr>
          <p:cNvPr id="21" name="Shape 18">
          </p:cNvPr>
          <p:cNvSpPr/>
          <p:nvPr>
          </p:nvPr>
        </p:nvSpPr>
        <p:spPr>
          <a:xfrm>
            <a:off x="8234680" y="1975104"/>
            <a:ext cx="3362960" cy="1115568"/>
          </a:xfrm>
          <a:prstGeom prst="roundRect">
            <a:avLst>
              <a:gd name="adj" fmla="val 10656"/>
            </a:avLst>
          </a:prstGeom>
          <a:solidFill>
            <a:srgbClr val="151F35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22" name="Text 19">
          </p:cNvPr>
          <p:cNvSpPr/>
          <p:nvPr>
          </p:nvPr>
        </p:nvSpPr>
        <p:spPr>
          <a:xfrm>
            <a:off x="8399272" y="2194560"/>
            <a:ext cx="3033776" cy="3291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/ A2A</a:t>
            </a:r>
            <a:endParaRPr lang="en-US" sz="2000" dirty="0"/>
          </a:p>
        </p:txBody>
      </p:sp>
      <p:sp>
        <p:nvSpPr>
          <p:cNvPr id="23" name="Text 20">
          </p:cNvPr>
          <p:cNvSpPr/>
          <p:nvPr>
          </p:nvPr>
        </p:nvSpPr>
        <p:spPr>
          <a:xfrm>
            <a:off x="8362696" y="2651760"/>
            <a:ext cx="3106928" cy="23774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/ specialista</a:t>
            </a:r>
            <a:endParaRPr lang="en-US" sz="1420" dirty="0"/>
          </a:p>
        </p:txBody>
      </p:sp>
      <p:sp>
        <p:nvSpPr>
          <p:cNvPr id="24" name="Shape 21">
          </p:cNvPr>
          <p:cNvSpPr/>
          <p:nvPr>
          </p:nvPr>
        </p:nvSpPr>
        <p:spPr>
          <a:xfrm>
            <a:off x="594360" y="3410712"/>
            <a:ext cx="5355336" cy="2157984"/>
          </a:xfrm>
          <a:prstGeom prst="roundRect">
            <a:avLst>
              <a:gd name="adj" fmla="val 55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5" name="Text 22">
          </p:cNvPr>
          <p:cNvSpPr/>
          <p:nvPr>
          </p:nvPr>
        </p:nvSpPr>
        <p:spPr>
          <a:xfrm>
            <a:off x="822960" y="360273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 domande da ricordare</a:t>
            </a:r>
            <a:endParaRPr lang="en-US" sz="2200" dirty="0"/>
          </a:p>
        </p:txBody>
      </p:sp>
      <p:sp>
        <p:nvSpPr>
          <p:cNvPr id="26" name="Text 23">
          </p:cNvPr>
          <p:cNvSpPr/>
          <p:nvPr>
          </p:nvPr>
        </p:nvSpPr>
        <p:spPr>
          <a:xfrm>
            <a:off x="822960" y="4133088"/>
            <a:ext cx="4898136" cy="12435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 serve un’operazione? MCP.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 serve una delega? A2A.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 serve una procedura? Skill.</a:t>
            </a:r>
            <a:endParaRPr lang="en-US" sz="1900" dirty="0"/>
          </a:p>
        </p:txBody>
      </p:sp>
      <p:sp>
        <p:nvSpPr>
          <p:cNvPr id="27" name="Shape 24">
          </p:cNvPr>
          <p:cNvSpPr/>
          <p:nvPr>
          </p:nvPr>
        </p:nvSpPr>
        <p:spPr>
          <a:xfrm>
            <a:off x="6242304" y="3410712"/>
            <a:ext cx="5355336" cy="2157984"/>
          </a:xfrm>
          <a:prstGeom prst="roundRect">
            <a:avLst>
              <a:gd name="adj" fmla="val 55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8" name="Text 25">
          </p:cNvPr>
          <p:cNvSpPr/>
          <p:nvPr>
          </p:nvPr>
        </p:nvSpPr>
        <p:spPr>
          <a:xfrm>
            <a:off x="6470904" y="3602736"/>
            <a:ext cx="4898136" cy="3749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minimo da portare a casa</a:t>
            </a:r>
            <a:endParaRPr lang="en-US" sz="2200" dirty="0"/>
          </a:p>
        </p:txBody>
      </p:sp>
      <p:sp>
        <p:nvSpPr>
          <p:cNvPr id="29" name="Text 26">
          </p:cNvPr>
          <p:cNvSpPr/>
          <p:nvPr>
          </p:nvPr>
        </p:nvSpPr>
        <p:spPr>
          <a:xfrm>
            <a:off x="6470904" y="4133088"/>
            <a:ext cx="4898136" cy="124358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t"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UI: BASIC e ADVANCE.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o tre file per esercizio.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percorso visibile alla volta.</a:t>
            </a:r>
            <a:endParaRPr lang="en-US" sz="1900" dirty="0"/>
          </a:p>
        </p:txBody>
      </p:sp>
      <p:sp>
        <p:nvSpPr>
          <p:cNvPr id="30" name="Shape 27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B49AFF"/>
          </a:solidFill>
          <a:ln w="7620">
            <a:solidFill>
              <a:srgbClr val="B49AFF"/>
            </a:solidFill>
            <a:prstDash val="solid"/>
          </a:ln>
        </p:spPr>
      </p:sp>
      <p:sp>
        <p:nvSpPr>
          <p:cNvPr id="31" name="Text 28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Strumento, delega, procedura: prima la responsabilità, poi l’acronimo.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</p:cNvPr>
          <p:cNvSpPr/>
          <p:nvPr>
          </p:nvPr>
        </p:nvSpPr>
        <p:spPr>
          <a:xfrm>
            <a:off x="0" y="0"/>
            <a:ext cx="12192000" cy="50292"/>
          </a:xfrm>
          <a:prstGeom prst="rect">
            <a:avLst>
              <a:gd name="adj" fmla="val 236364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" name="Text 1">
          </p:cNvPr>
          <p:cNvSpPr/>
          <p:nvPr>
          </p:nvPr>
        </p:nvSpPr>
        <p:spPr>
          <a:xfrm>
            <a:off x="594360" y="292608"/>
            <a:ext cx="8595360" cy="24688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APPENDICE FACOLTATIVA · FONTI PRIMARIE</a:t>
            </a:r>
            <a:endParaRPr lang="en-US" sz="1100" dirty="0"/>
          </a:p>
        </p:txBody>
      </p:sp>
      <p:sp>
        <p:nvSpPr>
          <p:cNvPr id="4" name="Text 2">
          </p:cNvPr>
          <p:cNvSpPr/>
          <p:nvPr>
          </p:nvPr>
        </p:nvSpPr>
        <p:spPr>
          <a:xfrm>
            <a:off x="594360" y="749808"/>
            <a:ext cx="11003280" cy="54864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Fonti per riprendere con calma</a:t>
            </a:r>
            <a:endParaRPr lang="en-US" sz="3150" dirty="0"/>
          </a:p>
        </p:txBody>
      </p:sp>
      <p:sp>
        <p:nvSpPr>
          <p:cNvPr id="5" name="Text 3">
          </p:cNvPr>
          <p:cNvSpPr/>
          <p:nvPr>
          </p:nvPr>
        </p:nvSpPr>
        <p:spPr>
          <a:xfrm>
            <a:off x="594360" y="1362456"/>
            <a:ext cx="11003280" cy="384048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Documentazione ufficiale; URL completi nelle note.</a:t>
            </a:r>
            <a:endParaRPr lang="en-US" sz="1730" dirty="0"/>
          </a:p>
        </p:txBody>
      </p:sp>
      <p:sp>
        <p:nvSpPr>
          <p:cNvPr id="6" name="Shape 4">
          </p:cNvPr>
          <p:cNvSpPr/>
          <p:nvPr>
          </p:nvPr>
        </p:nvSpPr>
        <p:spPr>
          <a:xfrm>
            <a:off x="594360" y="6400800"/>
            <a:ext cx="11003280" cy="10973"/>
          </a:xfrm>
          <a:prstGeom prst="rect">
            <a:avLst>
              <a:gd name="adj" fmla="val 1083314"/>
            </a:avLst>
          </a:prstGeom>
          <a:solidFill>
            <a:srgbClr val="30415B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7" name="Text 5">
          </p:cNvPr>
          <p:cNvSpPr/>
          <p:nvPr>
          </p:nvPr>
        </p:nvSpPr>
        <p:spPr>
          <a:xfrm>
            <a:off x="594360" y="6519672"/>
            <a:ext cx="2788920" cy="16459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DAY TORINO 2026</a:t>
            </a:r>
            <a:endParaRPr lang="en-US" sz="950" dirty="0"/>
          </a:p>
        </p:txBody>
      </p:sp>
      <p:sp>
        <p:nvSpPr>
          <p:cNvPr id="8" name="Text 6">
            <a:hlinkClick r:id="rId1" tooltip=""/>
          </p:cNvPr>
          <p:cNvSpPr/>
          <p:nvPr>
          </p:nvPr>
        </p:nvSpPr>
        <p:spPr>
          <a:xfrm>
            <a:off x="361188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· architettura ↗</a:t>
            </a:r>
            <a:endParaRPr lang="en-US" sz="940" dirty="0"/>
          </a:p>
        </p:txBody>
      </p:sp>
      <p:sp>
        <p:nvSpPr>
          <p:cNvPr id="9" name="Text 7">
            <a:hlinkClick r:id="rId2" tooltip=""/>
          </p:cNvPr>
          <p:cNvSpPr/>
          <p:nvPr>
          </p:nvPr>
        </p:nvSpPr>
        <p:spPr>
          <a:xfrm>
            <a:off x="598932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MCP ↗</a:t>
            </a:r>
            <a:endParaRPr lang="en-US" sz="940" dirty="0"/>
          </a:p>
        </p:txBody>
      </p:sp>
      <p:sp>
        <p:nvSpPr>
          <p:cNvPr id="10" name="Text 8">
            <a:hlinkClick r:id="rId3" tooltip=""/>
          </p:cNvPr>
          <p:cNvSpPr/>
          <p:nvPr>
          </p:nvPr>
        </p:nvSpPr>
        <p:spPr>
          <a:xfrm>
            <a:off x="8366760" y="6501384"/>
            <a:ext cx="2258568" cy="219456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A2A · specifica ↗</a:t>
            </a:r>
            <a:endParaRPr lang="en-US" sz="940" dirty="0"/>
          </a:p>
        </p:txBody>
      </p:sp>
      <p:sp>
        <p:nvSpPr>
          <p:cNvPr id="11" name="Text 9">
          </p:cNvPr>
          <p:cNvSpPr/>
          <p:nvPr>
          </p:nvPr>
        </p:nvSpPr>
        <p:spPr>
          <a:xfrm>
            <a:off x="11100816" y="6510528"/>
            <a:ext cx="484632" cy="182880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20</a:t>
            </a:r>
            <a:endParaRPr lang="en-US" sz="950" dirty="0"/>
          </a:p>
        </p:txBody>
      </p:sp>
      <p:sp>
        <p:nvSpPr>
          <p:cNvPr id="13" name="Shape 10">
          </p:cNvPr>
          <p:cNvSpPr/>
          <p:nvPr>
          </p:nvPr>
        </p:nvSpPr>
        <p:spPr>
          <a:xfrm>
            <a:off x="594360" y="1947672"/>
            <a:ext cx="5350764" cy="667512"/>
          </a:xfrm>
          <a:prstGeom prst="roundRect">
            <a:avLst>
              <a:gd name="adj" fmla="val 178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14" name="Text 11">
            <a:hlinkClick r:id="rId4" tooltip=""/>
          </p:cNvPr>
          <p:cNvSpPr/>
          <p:nvPr>
          </p:nvPr>
        </p:nvSpPr>
        <p:spPr>
          <a:xfrm>
            <a:off x="768096" y="2048256"/>
            <a:ext cx="5003292" cy="25603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50" b="1" u="sng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· architettura ↗</a:t>
            </a:r>
            <a:endParaRPr lang="en-US" sz="1650" dirty="0"/>
          </a:p>
        </p:txBody>
      </p:sp>
      <p:sp>
        <p:nvSpPr>
          <p:cNvPr id="15" name="Text 12">
            <a:hlinkClick r:id="rId5" tooltip=""/>
          </p:cNvPr>
          <p:cNvSpPr/>
          <p:nvPr>
          </p:nvPr>
        </p:nvSpPr>
        <p:spPr>
          <a:xfrm>
            <a:off x="768096" y="2359152"/>
            <a:ext cx="5003292" cy="1463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modelcontextprotocol.io</a:t>
            </a:r>
            <a:endParaRPr lang="en-US" sz="1000" dirty="0"/>
          </a:p>
        </p:txBody>
      </p:sp>
      <p:sp>
        <p:nvSpPr>
          <p:cNvPr id="16" name="Shape 13">
          </p:cNvPr>
          <p:cNvSpPr/>
          <p:nvPr>
          </p:nvPr>
        </p:nvSpPr>
        <p:spPr>
          <a:xfrm>
            <a:off x="6246876" y="1947672"/>
            <a:ext cx="5350764" cy="667512"/>
          </a:xfrm>
          <a:prstGeom prst="roundRect">
            <a:avLst>
              <a:gd name="adj" fmla="val 178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17" name="Text 14">
            <a:hlinkClick r:id="rId6" tooltip=""/>
          </p:cNvPr>
          <p:cNvSpPr/>
          <p:nvPr>
          </p:nvPr>
        </p:nvSpPr>
        <p:spPr>
          <a:xfrm>
            <a:off x="6420612" y="2048256"/>
            <a:ext cx="5003292" cy="25603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50" b="1" u="sng" dirty="0">
                <a:solidFill>
                  <a:srgbClr val="FF7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MCP ↗</a:t>
            </a:r>
            <a:endParaRPr lang="en-US" sz="1650" dirty="0"/>
          </a:p>
        </p:txBody>
      </p:sp>
      <p:sp>
        <p:nvSpPr>
          <p:cNvPr id="18" name="Text 15">
            <a:hlinkClick r:id="rId7" tooltip=""/>
          </p:cNvPr>
          <p:cNvSpPr/>
          <p:nvPr>
          </p:nvPr>
        </p:nvSpPr>
        <p:spPr>
          <a:xfrm>
            <a:off x="6420612" y="2359152"/>
            <a:ext cx="5003292" cy="1463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sz="1000" dirty="0"/>
          </a:p>
        </p:txBody>
      </p:sp>
      <p:sp>
        <p:nvSpPr>
          <p:cNvPr id="19" name="Shape 16">
          </p:cNvPr>
          <p:cNvSpPr/>
          <p:nvPr>
          </p:nvPr>
        </p:nvSpPr>
        <p:spPr>
          <a:xfrm>
            <a:off x="594360" y="2770632"/>
            <a:ext cx="5350764" cy="667512"/>
          </a:xfrm>
          <a:prstGeom prst="roundRect">
            <a:avLst>
              <a:gd name="adj" fmla="val 178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0" name="Text 17">
            <a:hlinkClick r:id="rId8" tooltip=""/>
          </p:cNvPr>
          <p:cNvSpPr/>
          <p:nvPr>
          </p:nvPr>
        </p:nvSpPr>
        <p:spPr>
          <a:xfrm>
            <a:off x="768096" y="2871216"/>
            <a:ext cx="5003292" cy="25603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50" b="1" u="sng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A2A · specifica ↗</a:t>
            </a:r>
            <a:endParaRPr lang="en-US" sz="1650" dirty="0"/>
          </a:p>
        </p:txBody>
      </p:sp>
      <p:sp>
        <p:nvSpPr>
          <p:cNvPr id="21" name="Text 18">
            <a:hlinkClick r:id="rId9" tooltip=""/>
          </p:cNvPr>
          <p:cNvSpPr/>
          <p:nvPr>
          </p:nvPr>
        </p:nvSpPr>
        <p:spPr>
          <a:xfrm>
            <a:off x="768096" y="3182112"/>
            <a:ext cx="5003292" cy="1463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a2a-protocol.org</a:t>
            </a:r>
            <a:endParaRPr lang="en-US" sz="1000" dirty="0"/>
          </a:p>
        </p:txBody>
      </p:sp>
      <p:sp>
        <p:nvSpPr>
          <p:cNvPr id="22" name="Shape 19">
          </p:cNvPr>
          <p:cNvSpPr/>
          <p:nvPr>
          </p:nvPr>
        </p:nvSpPr>
        <p:spPr>
          <a:xfrm>
            <a:off x="6246876" y="2770632"/>
            <a:ext cx="5350764" cy="667512"/>
          </a:xfrm>
          <a:prstGeom prst="roundRect">
            <a:avLst>
              <a:gd name="adj" fmla="val 178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3" name="Text 20">
            <a:hlinkClick r:id="rId10" tooltip=""/>
          </p:cNvPr>
          <p:cNvSpPr/>
          <p:nvPr>
          </p:nvPr>
        </p:nvSpPr>
        <p:spPr>
          <a:xfrm>
            <a:off x="6420612" y="2871216"/>
            <a:ext cx="5003292" cy="25603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50" b="1" u="sng" dirty="0">
                <a:solidFill>
                  <a:srgbClr val="43D9C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hosting A2A ↗</a:t>
            </a:r>
            <a:endParaRPr lang="en-US" sz="1650" dirty="0"/>
          </a:p>
        </p:txBody>
      </p:sp>
      <p:sp>
        <p:nvSpPr>
          <p:cNvPr id="24" name="Text 21">
            <a:hlinkClick r:id="rId11" tooltip=""/>
          </p:cNvPr>
          <p:cNvSpPr/>
          <p:nvPr>
          </p:nvPr>
        </p:nvSpPr>
        <p:spPr>
          <a:xfrm>
            <a:off x="6420612" y="3182112"/>
            <a:ext cx="5003292" cy="1463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sz="1000" dirty="0"/>
          </a:p>
        </p:txBody>
      </p:sp>
      <p:sp>
        <p:nvSpPr>
          <p:cNvPr id="25" name="Shape 22">
          </p:cNvPr>
          <p:cNvSpPr/>
          <p:nvPr>
          </p:nvPr>
        </p:nvSpPr>
        <p:spPr>
          <a:xfrm>
            <a:off x="594360" y="3593592"/>
            <a:ext cx="5350764" cy="667512"/>
          </a:xfrm>
          <a:prstGeom prst="roundRect">
            <a:avLst>
              <a:gd name="adj" fmla="val 178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6" name="Text 23">
            <a:hlinkClick r:id="rId12" tooltip=""/>
          </p:cNvPr>
          <p:cNvSpPr/>
          <p:nvPr>
          </p:nvPr>
        </p:nvSpPr>
        <p:spPr>
          <a:xfrm>
            <a:off x="768096" y="3694176"/>
            <a:ext cx="5003292" cy="25603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50" b="1" u="sng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A2A SDK v1 ↗</a:t>
            </a:r>
            <a:endParaRPr lang="en-US" sz="1650" dirty="0"/>
          </a:p>
        </p:txBody>
      </p:sp>
      <p:sp>
        <p:nvSpPr>
          <p:cNvPr id="27" name="Text 24">
            <a:hlinkClick r:id="rId13" tooltip=""/>
          </p:cNvPr>
          <p:cNvSpPr/>
          <p:nvPr>
          </p:nvPr>
        </p:nvSpPr>
        <p:spPr>
          <a:xfrm>
            <a:off x="768096" y="4005072"/>
            <a:ext cx="5003292" cy="1463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sz="1000" dirty="0"/>
          </a:p>
        </p:txBody>
      </p:sp>
      <p:sp>
        <p:nvSpPr>
          <p:cNvPr id="28" name="Shape 25">
          </p:cNvPr>
          <p:cNvSpPr/>
          <p:nvPr>
          </p:nvPr>
        </p:nvSpPr>
        <p:spPr>
          <a:xfrm>
            <a:off x="6246876" y="3593592"/>
            <a:ext cx="5350764" cy="667512"/>
          </a:xfrm>
          <a:prstGeom prst="roundRect">
            <a:avLst>
              <a:gd name="adj" fmla="val 178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29" name="Text 26">
            <a:hlinkClick r:id="rId14" tooltip=""/>
          </p:cNvPr>
          <p:cNvSpPr/>
          <p:nvPr>
          </p:nvPr>
        </p:nvSpPr>
        <p:spPr>
          <a:xfrm>
            <a:off x="6420612" y="3694176"/>
            <a:ext cx="5003292" cy="25603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50" b="1" u="sng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Framework · Skills ↗</a:t>
            </a:r>
            <a:endParaRPr lang="en-US" sz="1650" dirty="0"/>
          </a:p>
        </p:txBody>
      </p:sp>
      <p:sp>
        <p:nvSpPr>
          <p:cNvPr id="30" name="Text 27">
            <a:hlinkClick r:id="rId15" tooltip=""/>
          </p:cNvPr>
          <p:cNvSpPr/>
          <p:nvPr>
          </p:nvPr>
        </p:nvSpPr>
        <p:spPr>
          <a:xfrm>
            <a:off x="6420612" y="4005072"/>
            <a:ext cx="5003292" cy="1463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sz="1000" dirty="0"/>
          </a:p>
        </p:txBody>
      </p:sp>
      <p:sp>
        <p:nvSpPr>
          <p:cNvPr id="31" name="Shape 28">
          </p:cNvPr>
          <p:cNvSpPr/>
          <p:nvPr>
          </p:nvPr>
        </p:nvSpPr>
        <p:spPr>
          <a:xfrm>
            <a:off x="594360" y="4416552"/>
            <a:ext cx="5350764" cy="667512"/>
          </a:xfrm>
          <a:prstGeom prst="roundRect">
            <a:avLst>
              <a:gd name="adj" fmla="val 178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32" name="Text 29">
            <a:hlinkClick r:id="rId16" tooltip=""/>
          </p:cNvPr>
          <p:cNvSpPr/>
          <p:nvPr>
          </p:nvPr>
        </p:nvSpPr>
        <p:spPr>
          <a:xfrm>
            <a:off x="768096" y="4517136"/>
            <a:ext cx="5003292" cy="25603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50" b="1" u="sng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Skills · specifica ↗</a:t>
            </a:r>
            <a:endParaRPr lang="en-US" sz="1650" dirty="0"/>
          </a:p>
        </p:txBody>
      </p:sp>
      <p:sp>
        <p:nvSpPr>
          <p:cNvPr id="33" name="Text 30">
            <a:hlinkClick r:id="rId17" tooltip=""/>
          </p:cNvPr>
          <p:cNvSpPr/>
          <p:nvPr>
          </p:nvPr>
        </p:nvSpPr>
        <p:spPr>
          <a:xfrm>
            <a:off x="768096" y="4828032"/>
            <a:ext cx="5003292" cy="1463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agentskills.io</a:t>
            </a:r>
            <a:endParaRPr lang="en-US" sz="1000" dirty="0"/>
          </a:p>
        </p:txBody>
      </p:sp>
      <p:sp>
        <p:nvSpPr>
          <p:cNvPr id="34" name="Shape 31">
          </p:cNvPr>
          <p:cNvSpPr/>
          <p:nvPr>
          </p:nvPr>
        </p:nvSpPr>
        <p:spPr>
          <a:xfrm>
            <a:off x="6246876" y="4416552"/>
            <a:ext cx="5350764" cy="667512"/>
          </a:xfrm>
          <a:prstGeom prst="roundRect">
            <a:avLst>
              <a:gd name="adj" fmla="val 17808"/>
            </a:avLst>
          </a:prstGeom>
          <a:solidFill>
            <a:srgbClr val="151F35"/>
          </a:solidFill>
          <a:ln w="7620">
            <a:solidFill>
              <a:srgbClr val="30415B"/>
            </a:solidFill>
            <a:prstDash val="solid"/>
          </a:ln>
        </p:spPr>
      </p:sp>
      <p:sp>
        <p:nvSpPr>
          <p:cNvPr id="35" name="Text 32">
            <a:hlinkClick r:id="rId18" tooltip=""/>
          </p:cNvPr>
          <p:cNvSpPr/>
          <p:nvPr>
          </p:nvPr>
        </p:nvSpPr>
        <p:spPr>
          <a:xfrm>
            <a:off x="6420612" y="4517136"/>
            <a:ext cx="5003292" cy="25603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650" b="1" u="sng" dirty="0">
                <a:solidFill>
                  <a:srgbClr val="B49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Aspire · telemetria ↗</a:t>
            </a:r>
            <a:endParaRPr lang="en-US" sz="1650" dirty="0"/>
          </a:p>
        </p:txBody>
      </p:sp>
      <p:sp>
        <p:nvSpPr>
          <p:cNvPr id="36" name="Text 33">
            <a:hlinkClick r:id="rId19" tooltip=""/>
          </p:cNvPr>
          <p:cNvSpPr/>
          <p:nvPr>
          </p:nvPr>
        </p:nvSpPr>
        <p:spPr>
          <a:xfrm>
            <a:off x="6420612" y="4828032"/>
            <a:ext cx="5003292" cy="146304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B6C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aspire.dev</a:t>
            </a:r>
            <a:endParaRPr lang="en-US" sz="1000" dirty="0"/>
          </a:p>
        </p:txBody>
      </p:sp>
      <p:sp>
        <p:nvSpPr>
          <p:cNvPr id="37" name="Shape 34">
          </p:cNvPr>
          <p:cNvSpPr/>
          <p:nvPr>
          </p:nvPr>
        </p:nvSpPr>
        <p:spPr>
          <a:xfrm>
            <a:off x="594360" y="5907024"/>
            <a:ext cx="41148" cy="338328"/>
          </a:xfrm>
          <a:prstGeom prst="rect">
            <a:avLst>
              <a:gd name="adj" fmla="val 288889"/>
            </a:avLst>
          </a:prstGeom>
          <a:solidFill>
            <a:srgbClr val="43D9CF"/>
          </a:solidFill>
          <a:ln w="7620">
            <a:solidFill>
              <a:srgbClr val="43D9CF"/>
            </a:solidFill>
            <a:prstDash val="solid"/>
          </a:ln>
        </p:spPr>
      </p:sp>
      <p:sp>
        <p:nvSpPr>
          <p:cNvPr id="38" name="Text 35">
          </p:cNvPr>
          <p:cNvSpPr/>
          <p:nvPr>
          </p:nvPr>
        </p:nvSpPr>
        <p:spPr>
          <a:xfrm>
            <a:off x="777240" y="5870448"/>
            <a:ext cx="10820400" cy="438912"/>
          </a:xfrm>
          <a:prstGeom prst="rect">
            <a:avLst>
            </a:avLst>
          </a:prstGeom>
          <a:noFill/>
          <a:ln>
          </a:ln>
        </p:spPr>
        <p:txBody>
          <a:bodyPr wrap="square" lIns="0" tIns="0" rIns="0" bIns="0" rtlCol="0" anchor="ctr"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Fonti consultate il 05/10/2026 · Link completi nelle note · Demo implementate.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Azure Day Torino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server, A2A, Skill, mamma mia che mal di testAI!</dc:title>
  <dc:subject>BASIC: sei esercizi pianificati Microsoft Agent Framework C# e Aspire, ecommerce in sola lettura</dc:subject>
  <dc:creator>Azure Day Torino 2026</dc:creator>
  <cp:lastModifiedBy>Azure Day Torino 2026</cp:lastModifiedBy>
  <cp:revision>1</cp:revision>
  <dcterms:created xsi:type="dcterms:W3CDTF">2026-10-05T10:10:14Z</dcterms:created>
  <dcterms:modified xsi:type="dcterms:W3CDTF">2026-10-05T10:10:14Z</dcterms:modified>
</cp:coreProperties>
</file>