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tags/tag26.xml" ContentType="application/vnd.openxmlformats-officedocument.presentationml.tags+xml"/>
  <Override PartName="/ppt/notesSlides/notesSlide26.xml" ContentType="application/vnd.openxmlformats-officedocument.presentationml.notesSlide+xml"/>
  <Override PartName="/ppt/tags/tag27.xml" ContentType="application/vnd.openxmlformats-officedocument.presentationml.tags+xml"/>
  <Override PartName="/ppt/notesSlides/notesSlide27.xml" ContentType="application/vnd.openxmlformats-officedocument.presentationml.notesSlide+xml"/>
  <Override PartName="/ppt/tags/tag28.xml" ContentType="application/vnd.openxmlformats-officedocument.presentationml.tags+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3"/>
    <p:sldMasterId id="2147483720" r:id="rId4"/>
    <p:sldMasterId id="2147483708" r:id="rId5"/>
    <p:sldMasterId id="2147483672" r:id="rId6"/>
    <p:sldMasterId id="2147483684" r:id="rId7"/>
  </p:sldMasterIdLst>
  <p:notesMasterIdLst>
    <p:notesMasterId r:id="rId42"/>
  </p:notesMasterIdLst>
  <p:handoutMasterIdLst>
    <p:handoutMasterId r:id="rId43"/>
  </p:handoutMasterIdLst>
  <p:sldIdLst>
    <p:sldId id="256" r:id="rId8"/>
    <p:sldId id="258" r:id="rId9"/>
    <p:sldId id="304" r:id="rId10"/>
    <p:sldId id="264" r:id="rId11"/>
    <p:sldId id="328" r:id="rId12"/>
    <p:sldId id="265" r:id="rId13"/>
    <p:sldId id="305" r:id="rId14"/>
    <p:sldId id="329" r:id="rId15"/>
    <p:sldId id="266" r:id="rId16"/>
    <p:sldId id="306" r:id="rId17"/>
    <p:sldId id="330" r:id="rId18"/>
    <p:sldId id="267" r:id="rId19"/>
    <p:sldId id="307" r:id="rId20"/>
    <p:sldId id="268" r:id="rId21"/>
    <p:sldId id="333" r:id="rId22"/>
    <p:sldId id="331" r:id="rId23"/>
    <p:sldId id="308" r:id="rId24"/>
    <p:sldId id="309" r:id="rId25"/>
    <p:sldId id="332" r:id="rId26"/>
    <p:sldId id="311" r:id="rId27"/>
    <p:sldId id="312" r:id="rId28"/>
    <p:sldId id="318" r:id="rId29"/>
    <p:sldId id="321" r:id="rId30"/>
    <p:sldId id="322" r:id="rId31"/>
    <p:sldId id="323" r:id="rId32"/>
    <p:sldId id="295" r:id="rId33"/>
    <p:sldId id="324" r:id="rId34"/>
    <p:sldId id="325" r:id="rId35"/>
    <p:sldId id="326" r:id="rId36"/>
    <p:sldId id="262" r:id="rId37"/>
    <p:sldId id="263" r:id="rId38"/>
    <p:sldId id="296" r:id="rId39"/>
    <p:sldId id="297" r:id="rId40"/>
    <p:sldId id="298" r:id="rId4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3838"/>
    <a:srgbClr val="EFD485"/>
    <a:srgbClr val="0B78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68" autoAdjust="0"/>
    <p:restoredTop sz="94949" autoAdjust="0"/>
  </p:normalViewPr>
  <p:slideViewPr>
    <p:cSldViewPr snapToGrid="0">
      <p:cViewPr varScale="1">
        <p:scale>
          <a:sx n="82" d="100"/>
          <a:sy n="82" d="100"/>
        </p:scale>
        <p:origin x="52" y="59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Master" Target="slideMasters/slideMaster5.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4.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viewProps" Target="viewProps.xml"/><Relationship Id="rId5"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slideMaster" Target="slideMasters/slideMaster2.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handoutMaster" Target="handoutMasters/handoutMaster1.xml"/><Relationship Id="rId8" Type="http://schemas.openxmlformats.org/officeDocument/2006/relationships/slide" Target="slides/slide1.xml"/><Relationship Id="rId3" Type="http://schemas.openxmlformats.org/officeDocument/2006/relationships/slideMaster" Target="slideMasters/slideMaster1.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A8BE3D86-4CD7-F31D-54B6-EE995848C45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B268F4FE-A203-8B8F-CC9E-A2DCEF75E9B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A74DD2-8E53-470B-8646-02BB9552BE22}" type="datetimeFigureOut">
              <a:rPr lang="it-IT" smtClean="0"/>
              <a:t>10/10/2026</a:t>
            </a:fld>
            <a:endParaRPr lang="it-IT"/>
          </a:p>
        </p:txBody>
      </p:sp>
      <p:sp>
        <p:nvSpPr>
          <p:cNvPr id="4" name="Segnaposto piè di pagina 3">
            <a:extLst>
              <a:ext uri="{FF2B5EF4-FFF2-40B4-BE49-F238E27FC236}">
                <a16:creationId xmlns:a16="http://schemas.microsoft.com/office/drawing/2014/main" id="{BC51FBA9-2186-3F38-F1ED-F34B57E890B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83969695-C27F-4316-765E-65C28A0278D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BBB95B-02C2-41BB-A9B7-DDBB724675E3}" type="slidenum">
              <a:rPr lang="it-IT" smtClean="0"/>
              <a:t>‹N›</a:t>
            </a:fld>
            <a:endParaRPr lang="it-IT"/>
          </a:p>
        </p:txBody>
      </p:sp>
    </p:spTree>
    <p:extLst>
      <p:ext uri="{BB962C8B-B14F-4D97-AF65-F5344CB8AC3E}">
        <p14:creationId xmlns:p14="http://schemas.microsoft.com/office/powerpoint/2010/main" val="14409289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F1C294-2F5E-402F-ADF7-7076FF27C349}" type="datetimeFigureOut">
              <a:rPr lang="it-IT" smtClean="0"/>
              <a:t>10/10/2026</a:t>
            </a:fld>
            <a:endParaRPr lang="it-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C0288A-C98E-4CBE-B69D-C060B2E07BEB}" type="slidenum">
              <a:rPr lang="it-IT" smtClean="0"/>
              <a:t>‹N›</a:t>
            </a:fld>
            <a:endParaRPr lang="it-IT"/>
          </a:p>
        </p:txBody>
      </p:sp>
    </p:spTree>
    <p:extLst>
      <p:ext uri="{BB962C8B-B14F-4D97-AF65-F5344CB8AC3E}">
        <p14:creationId xmlns:p14="http://schemas.microsoft.com/office/powerpoint/2010/main" val="1929210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it-IT"/>
          </a:p>
        </p:txBody>
      </p:sp>
      <p:sp>
        <p:nvSpPr>
          <p:cNvPr id="3" name="Notes Placeholder 2"/>
          <p:cNvSpPr>
            <a:spLocks noGrp="1"/>
          </p:cNvSpPr>
          <p:nvPr>
            <p:ph type="body" sz="quarter" idx="3"/>
          </p:nvPr>
        </p:nvSpPr>
        <p:spPr/>
        <p:txBody>
          <a:bodyPr/>
          <a:lstStyle/>
          <a:p>
            <a:r>
              <a:t>This is the opening banner slide for 'MCP server, A2A, Skill, mamma mia che mal di testAI!'. The session is presented by: Andrea Tosato. This slide sets the visual theme for the presentation.</a:t>
            </a:r>
          </a:p>
        </p:txBody>
      </p:sp>
      <p:sp>
        <p:nvSpPr>
          <p:cNvPr id="4" name="Slide Number Placeholder 3"/>
          <p:cNvSpPr>
            <a:spLocks noGrp="1"/>
          </p:cNvSpPr>
          <p:nvPr>
            <p:ph type="sldNum" sz="quarter" idx="5"/>
          </p:nvPr>
        </p:nvSpPr>
        <p:spPr/>
        <p:txBody>
          <a:bodyPr/>
          <a:lstStyle/>
          <a:p>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it-IT"/>
          </a:p>
        </p:txBody>
      </p:sp>
      <p:sp>
        <p:nvSpPr>
          <p:cNvPr id="3" name="Notes Placeholder 2"/>
          <p:cNvSpPr>
            <a:spLocks noGrp="1"/>
          </p:cNvSpPr>
          <p:nvPr>
            <p:ph type="body" sz="quarter" idx="3"/>
          </p:nvPr>
        </p:nvSpPr>
        <p:spPr/>
        <p:txBody>
          <a:bodyPr/>
          <a:lstStyle/>
          <a:p>
            <a:r>
              <a:t>Sponsor acknowledgment slide. Take a moment to thank the event sponsors and explain their support for the conference.</a:t>
            </a:r>
          </a:p>
        </p:txBody>
      </p:sp>
      <p:sp>
        <p:nvSpPr>
          <p:cNvPr id="4" name="Slide Number Placeholder 3"/>
          <p:cNvSpPr>
            <a:spLocks noGrp="1"/>
          </p:cNvSpPr>
          <p:nvPr>
            <p:ph type="sldNum" sz="quarter" idx="5"/>
          </p:nvPr>
        </p:nvSpPr>
        <p:spPr/>
        <p:txBody>
          <a:bodyPr/>
          <a:lstStyle/>
          <a:p>
            <a:endParaRPr 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Percorso richiesto: prima definizioni e criteri di scelta MCP/A2A/Skill; poi motivazioni e runtime Microsoft Agent Framework; quindi composizione dei prompt, tipi di token, cache e ottimizzazione. Le demo rendono osservabili i concetti. Le slide complementari sono in appendice nascosta, non eliminate.</a:t>
            </a:r>
          </a:p>
        </p:txBody>
      </p:sp>
      <p:sp>
        <p:nvSpPr>
          <p:cNvPr id="4" name="Segnaposto numero diapositiva 3"/>
          <p:cNvSpPr>
            <a:spLocks noGrp="1"/>
          </p:cNvSpPr>
          <p:nvPr>
            <p:ph type="sldNum" sz="quarter" idx="5"/>
          </p:nvPr>
        </p:nvSpPr>
        <p:spPr/>
        <p:txBody>
          <a:bodyPr/>
          <a:lstStyle/>
          <a:p>
            <a:fld id="{47C0288A-C98E-4CBE-B69D-C060B2E07BEB}" type="slidenum">
              <a:rPr lang="it-IT" smtClean="0"/>
              <a:t>3</a:t>
            </a:fld>
            <a:endParaRPr lang="it-IT"/>
          </a:p>
        </p:txBody>
      </p:sp>
    </p:spTree>
    <p:extLst>
      <p:ext uri="{BB962C8B-B14F-4D97-AF65-F5344CB8AC3E}">
        <p14:creationId xmlns:p14="http://schemas.microsoft.com/office/powerpoint/2010/main" val="917673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Non iniziare dalla topologia. Chiedere prima quale responsabilità manca: operazione, capacità autonoma o procedura. Una Skill non è un server; il trasporto remoto da solo non implica un agente.</a:t>
            </a:r>
          </a:p>
        </p:txBody>
      </p:sp>
      <p:sp>
        <p:nvSpPr>
          <p:cNvPr id="4" name="Segnaposto numero diapositiva 3"/>
          <p:cNvSpPr>
            <a:spLocks noGrp="1"/>
          </p:cNvSpPr>
          <p:nvPr>
            <p:ph type="sldNum" sz="quarter" idx="5"/>
          </p:nvPr>
        </p:nvSpPr>
        <p:spPr/>
        <p:txBody>
          <a:bodyPr/>
          <a:lstStyle/>
          <a:p>
            <a:fld id="{47C0288A-C98E-4CBE-B69D-C060B2E07BEB}" type="slidenum">
              <a:rPr lang="it-IT" smtClean="0"/>
              <a:t>4</a:t>
            </a:fld>
            <a:endParaRPr lang="it-IT"/>
          </a:p>
        </p:txBody>
      </p:sp>
    </p:spTree>
    <p:extLst>
      <p:ext uri="{BB962C8B-B14F-4D97-AF65-F5344CB8AC3E}">
        <p14:creationId xmlns:p14="http://schemas.microsoft.com/office/powerpoint/2010/main" val="3797823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BASIC/MCP: Basic.Web crea lʼagente locale, scopre get_weather su Basic.McpServer e il modello può chiamarlo. Il server MCP esegue il tool senza usare un proprio modello. MCP supporta anche risorse e prompt: qui viene mostrato solo un tool. Il meteo è sintetico: Torino, pioggia, 14 °C.</a:t>
            </a:r>
          </a:p>
        </p:txBody>
      </p:sp>
      <p:sp>
        <p:nvSpPr>
          <p:cNvPr id="4" name="Segnaposto numero diapositiva 3"/>
          <p:cNvSpPr>
            <a:spLocks noGrp="1"/>
          </p:cNvSpPr>
          <p:nvPr>
            <p:ph type="sldNum" sz="quarter" idx="5"/>
          </p:nvPr>
        </p:nvSpPr>
        <p:spPr/>
        <p:txBody>
          <a:bodyPr/>
          <a:lstStyle/>
          <a:p>
            <a:fld id="{47C0288A-C98E-4CBE-B69D-C060B2E07BEB}" type="slidenum">
              <a:rPr lang="it-IT" smtClean="0"/>
              <a:t>6</a:t>
            </a:fld>
            <a:endParaRPr lang="it-IT"/>
          </a:p>
        </p:txBody>
      </p:sp>
    </p:spTree>
    <p:extLst>
      <p:ext uri="{BB962C8B-B14F-4D97-AF65-F5344CB8AC3E}">
        <p14:creationId xmlns:p14="http://schemas.microsoft.com/office/powerpoint/2010/main" val="1595794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MCP standardizza il collegamento tra client e server per tool, risorse e prompt. Nella demo viene mostrato il caso tool. Il modello sceglie un tool, il codice host esegue la chiamata; MCP non implica un LLM sul server. Un contratto comune facilita il riuso tra client diversi; autenticazione, autorizzazione e controlli applicativi restano necessari.</a:t>
            </a:r>
          </a:p>
        </p:txBody>
      </p:sp>
      <p:sp>
        <p:nvSpPr>
          <p:cNvPr id="4" name="Segnaposto numero diapositiva 3"/>
          <p:cNvSpPr>
            <a:spLocks noGrp="1"/>
          </p:cNvSpPr>
          <p:nvPr>
            <p:ph type="sldNum" sz="quarter" idx="5"/>
          </p:nvPr>
        </p:nvSpPr>
        <p:spPr/>
        <p:txBody>
          <a:bodyPr/>
          <a:lstStyle/>
          <a:p>
            <a:fld id="{47C0288A-C98E-4CBE-B69D-C060B2E07BEB}" type="slidenum">
              <a:rPr lang="it-IT" smtClean="0"/>
              <a:t>7</a:t>
            </a:fld>
            <a:endParaRPr lang="it-IT"/>
          </a:p>
        </p:txBody>
      </p:sp>
    </p:spTree>
    <p:extLst>
      <p:ext uri="{BB962C8B-B14F-4D97-AF65-F5344CB8AC3E}">
        <p14:creationId xmlns:p14="http://schemas.microsoft.com/office/powerpoint/2010/main" val="1469960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Il Web legge /cards/travel e invoca lo specialista con il binding HTTP/JSON A2A. TravelTipsAgent usa il modello remoto e un tool meteo locale. Nel percorso BASIC A2A non ci sono MCP o Skill. AssistenteViaggio nel Web presenta il risultato; non è un planner. Il protocollo non implica condivisione automatica del contesto.</a:t>
            </a:r>
          </a:p>
        </p:txBody>
      </p:sp>
      <p:sp>
        <p:nvSpPr>
          <p:cNvPr id="4" name="Segnaposto numero diapositiva 3"/>
          <p:cNvSpPr>
            <a:spLocks noGrp="1"/>
          </p:cNvSpPr>
          <p:nvPr>
            <p:ph type="sldNum" sz="quarter" idx="5"/>
          </p:nvPr>
        </p:nvSpPr>
        <p:spPr/>
        <p:txBody>
          <a:bodyPr/>
          <a:lstStyle/>
          <a:p>
            <a:fld id="{47C0288A-C98E-4CBE-B69D-C060B2E07BEB}" type="slidenum">
              <a:rPr lang="it-IT" smtClean="0"/>
              <a:t>9</a:t>
            </a:fld>
            <a:endParaRPr lang="it-IT"/>
          </a:p>
        </p:txBody>
      </p:sp>
    </p:spTree>
    <p:extLst>
      <p:ext uri="{BB962C8B-B14F-4D97-AF65-F5344CB8AC3E}">
        <p14:creationId xmlns:p14="http://schemas.microsoft.com/office/powerpoint/2010/main" val="85885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A2A e un protocollo di interoperabilita tra agenti. L agente remoto ha proprie capacita, contesto e processo decisionale. La Agent Card pubblica capacita e modalita di accesso; non e un meccanismo di autorizzazione. Un agente remoto puo usare a sua volta MCP e Skill. Nella demo il Web seleziona esplicitamente il percorso; non c e un orchestratore intelligente centrale.</a:t>
            </a:r>
          </a:p>
        </p:txBody>
      </p:sp>
      <p:sp>
        <p:nvSpPr>
          <p:cNvPr id="4" name="Segnaposto numero diapositiva 3"/>
          <p:cNvSpPr>
            <a:spLocks noGrp="1"/>
          </p:cNvSpPr>
          <p:nvPr>
            <p:ph type="sldNum" sz="quarter" idx="5"/>
          </p:nvPr>
        </p:nvSpPr>
        <p:spPr/>
        <p:txBody>
          <a:bodyPr/>
          <a:lstStyle/>
          <a:p>
            <a:fld id="{47C0288A-C98E-4CBE-B69D-C060B2E07BEB}" type="slidenum">
              <a:rPr lang="it-IT" smtClean="0"/>
              <a:t>10</a:t>
            </a:fld>
            <a:endParaRPr lang="it-IT"/>
          </a:p>
        </p:txBody>
      </p:sp>
    </p:spTree>
    <p:extLst>
      <p:ext uri="{BB962C8B-B14F-4D97-AF65-F5344CB8AC3E}">
        <p14:creationId xmlns:p14="http://schemas.microsoft.com/office/powerpoint/2010/main" val="2186277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Basic.Skill è una libreria e un insieme di file caricati nel processo Basic.Web. AgentSkillsProvider espone la Skill city-briefing; lʼagente chiama load_skill e segue SKILL.md usando get_weather, get_packing_list e get_travel_alerts, registrati nel codice. La sequenza è guidata dal modello, non imposta da una pipeline C#. Questa demo non esegue script. Le chiamate al modello restano su Foundry.</a:t>
            </a:r>
          </a:p>
        </p:txBody>
      </p:sp>
      <p:sp>
        <p:nvSpPr>
          <p:cNvPr id="4" name="Segnaposto numero diapositiva 3"/>
          <p:cNvSpPr>
            <a:spLocks noGrp="1"/>
          </p:cNvSpPr>
          <p:nvPr>
            <p:ph type="sldNum" sz="quarter" idx="5"/>
          </p:nvPr>
        </p:nvSpPr>
        <p:spPr/>
        <p:txBody>
          <a:bodyPr/>
          <a:lstStyle/>
          <a:p>
            <a:fld id="{47C0288A-C98E-4CBE-B69D-C060B2E07BEB}" type="slidenum">
              <a:rPr lang="it-IT" smtClean="0"/>
              <a:t>12</a:t>
            </a:fld>
            <a:endParaRPr lang="it-IT"/>
          </a:p>
        </p:txBody>
      </p:sp>
    </p:spTree>
    <p:extLst>
      <p:ext uri="{BB962C8B-B14F-4D97-AF65-F5344CB8AC3E}">
        <p14:creationId xmlns:p14="http://schemas.microsoft.com/office/powerpoint/2010/main" val="25799653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Una Agent Skill è un pacchetto di istruzioni e risorse, spesso organizzato in una directory con SKILL.md, nome e descrizione. Non è un protocollo di rete. In Agent Framework il provider pubblica il catalogo e il contenuto viene caricato quando pertinente. I tool eseguibili devono essere registrati e autorizzati separatamente. Il repository usa AgentSkillsProvider e tool C# locali.</a:t>
            </a:r>
          </a:p>
          <a:p>
            <a:endParaRPr lang="it-IT"/>
          </a:p>
          <a:p>
            <a:r>
              <a:rPr lang="it-IT"/>
              <a:t>Fonte: https://learn.microsoft.com/en-us/agent-framework/agents/skills (consultata 8 ottobre 2026).</a:t>
            </a:r>
          </a:p>
        </p:txBody>
      </p:sp>
      <p:sp>
        <p:nvSpPr>
          <p:cNvPr id="4" name="Segnaposto numero diapositiva 3"/>
          <p:cNvSpPr>
            <a:spLocks noGrp="1"/>
          </p:cNvSpPr>
          <p:nvPr>
            <p:ph type="sldNum" sz="quarter" idx="5"/>
          </p:nvPr>
        </p:nvSpPr>
        <p:spPr/>
        <p:txBody>
          <a:bodyPr/>
          <a:lstStyle/>
          <a:p>
            <a:fld id="{47C0288A-C98E-4CBE-B69D-C060B2E07BEB}" type="slidenum">
              <a:rPr lang="it-IT" smtClean="0"/>
              <a:t>13</a:t>
            </a:fld>
            <a:endParaRPr lang="it-IT"/>
          </a:p>
        </p:txBody>
      </p:sp>
    </p:spTree>
    <p:extLst>
      <p:ext uri="{BB962C8B-B14F-4D97-AF65-F5344CB8AC3E}">
        <p14:creationId xmlns:p14="http://schemas.microsoft.com/office/powerpoint/2010/main" val="71648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Distinguere protocollo di comunicazione e confezionamento della competenza. MCP fornisce strumenti, risorse e prompt. A2A collega agenti. Una Skill può guidare lʼuso di tool MCP; uno specialista A2A può usare MCP e Skill. La tabella descrive i confini della demo BASIC, non vincoli universali dei protocolli.</a:t>
            </a:r>
          </a:p>
        </p:txBody>
      </p:sp>
      <p:sp>
        <p:nvSpPr>
          <p:cNvPr id="4" name="Segnaposto numero diapositiva 3"/>
          <p:cNvSpPr>
            <a:spLocks noGrp="1"/>
          </p:cNvSpPr>
          <p:nvPr>
            <p:ph type="sldNum" sz="quarter" idx="5"/>
          </p:nvPr>
        </p:nvSpPr>
        <p:spPr/>
        <p:txBody>
          <a:bodyPr/>
          <a:lstStyle/>
          <a:p>
            <a:fld id="{47C0288A-C98E-4CBE-B69D-C060B2E07BEB}" type="slidenum">
              <a:rPr lang="it-IT" smtClean="0"/>
              <a:t>14</a:t>
            </a:fld>
            <a:endParaRPr lang="it-IT"/>
          </a:p>
        </p:txBody>
      </p:sp>
    </p:spTree>
    <p:extLst>
      <p:ext uri="{BB962C8B-B14F-4D97-AF65-F5344CB8AC3E}">
        <p14:creationId xmlns:p14="http://schemas.microsoft.com/office/powerpoint/2010/main" val="16814603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MAF fornisce astrazioni e runtime per agenti, tool, sessioni, contesto, middleware, osservabilità e workflow espliciti. Non è il modello, non è Aspire e non è obbligatorio per MCP/A2A/Skill. I provider supportano servizi diversi con capacità non necessariamente identiche. Il framework riduce codice di plumbing ma non sostituisce test, autorizzazione o scelta architetturale. Per una sola richiesta senza strumenti può bastare IChatClient.</a:t>
            </a:r>
          </a:p>
          <a:p>
            <a:endParaRPr lang="it-IT"/>
          </a:p>
          <a:p>
            <a:r>
              <a:rPr lang="it-IT"/>
              <a:t>Fonte: https://learn.microsoft.com/en-us/agent-framework/overview/ (consultata 8 ottobre 2026).</a:t>
            </a:r>
          </a:p>
        </p:txBody>
      </p:sp>
      <p:sp>
        <p:nvSpPr>
          <p:cNvPr id="4" name="Segnaposto numero diapositiva 3"/>
          <p:cNvSpPr>
            <a:spLocks noGrp="1"/>
          </p:cNvSpPr>
          <p:nvPr>
            <p:ph type="sldNum" sz="quarter" idx="5"/>
          </p:nvPr>
        </p:nvSpPr>
        <p:spPr/>
        <p:txBody>
          <a:bodyPr/>
          <a:lstStyle/>
          <a:p>
            <a:fld id="{47C0288A-C98E-4CBE-B69D-C060B2E07BEB}" type="slidenum">
              <a:rPr lang="it-IT" smtClean="0"/>
              <a:t>17</a:t>
            </a:fld>
            <a:endParaRPr lang="it-IT"/>
          </a:p>
        </p:txBody>
      </p:sp>
    </p:spTree>
    <p:extLst>
      <p:ext uri="{BB962C8B-B14F-4D97-AF65-F5344CB8AC3E}">
        <p14:creationId xmlns:p14="http://schemas.microsoft.com/office/powerpoint/2010/main" val="40471608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Schema concettuale: l applicazione passa input e sessione all agente; MAF assembla la richiesta e usa il client del modello. Se la risposta contiene tool call, il codice del runtime esegue funzioni consentite, aggiunge i risultati e richiama il modello. Il loop termina con una risposta finale o con errore/limite/cancellazione. I dettagli e l ordine sul wire dipendono dal client e provider; misurare le richieste effettive.</a:t>
            </a:r>
          </a:p>
          <a:p>
            <a:endParaRPr lang="it-IT"/>
          </a:p>
          <a:p>
            <a:r>
              <a:rPr lang="it-IT"/>
              <a:t>Fonte: https://learn.microsoft.com/en-us/agent-framework/overview/ (consultata 8 ottobre 2026).</a:t>
            </a:r>
          </a:p>
        </p:txBody>
      </p:sp>
      <p:sp>
        <p:nvSpPr>
          <p:cNvPr id="4" name="Segnaposto numero diapositiva 3"/>
          <p:cNvSpPr>
            <a:spLocks noGrp="1"/>
          </p:cNvSpPr>
          <p:nvPr>
            <p:ph type="sldNum" sz="quarter" idx="5"/>
          </p:nvPr>
        </p:nvSpPr>
        <p:spPr/>
        <p:txBody>
          <a:bodyPr/>
          <a:lstStyle/>
          <a:p>
            <a:fld id="{47C0288A-C98E-4CBE-B69D-C060B2E07BEB}" type="slidenum">
              <a:rPr lang="it-IT" smtClean="0"/>
              <a:t>18</a:t>
            </a:fld>
            <a:endParaRPr lang="it-IT"/>
          </a:p>
        </p:txBody>
      </p:sp>
    </p:spTree>
    <p:extLst>
      <p:ext uri="{BB962C8B-B14F-4D97-AF65-F5344CB8AC3E}">
        <p14:creationId xmlns:p14="http://schemas.microsoft.com/office/powerpoint/2010/main" val="29871972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La richiesta comprende messaggi con ruoli, definizioni strutturate dei tool e impostazioni di generazione. Le istruzioni di sistema/developer stabiliscono comportamento; messaggi user/assistant/tool rappresentano richiesta e interazioni. RAG e output dei tool sono dati non affidabili come istruzioni. Le impostazioni, ad esempio limiti di output o reasoning, non sono testo del prompt. Non tutte le parti sono sempre presenti; la serializzazione è specifica del provider.</a:t>
            </a:r>
          </a:p>
        </p:txBody>
      </p:sp>
      <p:sp>
        <p:nvSpPr>
          <p:cNvPr id="4" name="Segnaposto numero diapositiva 3"/>
          <p:cNvSpPr>
            <a:spLocks noGrp="1"/>
          </p:cNvSpPr>
          <p:nvPr>
            <p:ph type="sldNum" sz="quarter" idx="5"/>
          </p:nvPr>
        </p:nvSpPr>
        <p:spPr/>
        <p:txBody>
          <a:bodyPr/>
          <a:lstStyle/>
          <a:p>
            <a:fld id="{47C0288A-C98E-4CBE-B69D-C060B2E07BEB}" type="slidenum">
              <a:rPr lang="it-IT" smtClean="0"/>
              <a:t>20</a:t>
            </a:fld>
            <a:endParaRPr lang="it-IT"/>
          </a:p>
        </p:txBody>
      </p:sp>
    </p:spTree>
    <p:extLst>
      <p:ext uri="{BB962C8B-B14F-4D97-AF65-F5344CB8AC3E}">
        <p14:creationId xmlns:p14="http://schemas.microsoft.com/office/powerpoint/2010/main" val="33616843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Mappa concettuale, non promessa di ordine universale. ChatOptions.Instructions fornisce le istruzioni. I messaggi del run e la history della sessione forniscono la conversazione. Gli AIContextProviders aggiungono informazioni e capacita secondo il provider; AgentSkillsProvider gestisce le Skill. ChatOptions.Tools espone schemi di funzioni e tool. IChatClient/adattatore del provider serializza la richiesta effettiva. Una sessione non e una cache di token e non sostituisce il controllo di accesso.</a:t>
            </a:r>
          </a:p>
          <a:p>
            <a:endParaRPr lang="it-IT"/>
          </a:p>
          <a:p>
            <a:r>
              <a:rPr lang="it-IT"/>
              <a:t>Fonte: https://learn.microsoft.com/en-us/agent-framework/overview/ (consultata 8 ottobre 2026).</a:t>
            </a:r>
          </a:p>
        </p:txBody>
      </p:sp>
      <p:sp>
        <p:nvSpPr>
          <p:cNvPr id="4" name="Segnaposto numero diapositiva 3"/>
          <p:cNvSpPr>
            <a:spLocks noGrp="1"/>
          </p:cNvSpPr>
          <p:nvPr>
            <p:ph type="sldNum" sz="quarter" idx="5"/>
          </p:nvPr>
        </p:nvSpPr>
        <p:spPr/>
        <p:txBody>
          <a:bodyPr/>
          <a:lstStyle/>
          <a:p>
            <a:fld id="{47C0288A-C98E-4CBE-B69D-C060B2E07BEB}" type="slidenum">
              <a:rPr lang="it-IT" smtClean="0"/>
              <a:t>21</a:t>
            </a:fld>
            <a:endParaRPr lang="it-IT"/>
          </a:p>
        </p:txBody>
      </p:sp>
    </p:spTree>
    <p:extLst>
      <p:ext uri="{BB962C8B-B14F-4D97-AF65-F5344CB8AC3E}">
        <p14:creationId xmlns:p14="http://schemas.microsoft.com/office/powerpoint/2010/main" val="3973186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Un token e un unita del tokenizer, non una parola. Input include istruzioni, history, contesto e schemi degli strumenti. I cached token sono un sottoinsieme dell input, non un extra da sommare. Output puo comprendere risposta, tool-call arguments e reasoning non visibile per i modelli che lo espongono; i reasoning token non vanno risommati se inclusi nel contatore output. Media e dettagli cambiano tra provider e API. GPT-5.6+ puo esporre anche cache_write_tokens, con possibili oneri aggiuntivi: verificare listino e schema usage.</a:t>
            </a:r>
          </a:p>
          <a:p>
            <a:endParaRPr lang="it-IT"/>
          </a:p>
          <a:p>
            <a:r>
              <a:rPr lang="it-IT"/>
              <a:t>Fonte: https://learn.microsoft.com/en-us/azure/foundry/openai/how-to/prompt-caching (consultata 8 ottobre 2026).</a:t>
            </a:r>
          </a:p>
        </p:txBody>
      </p:sp>
      <p:sp>
        <p:nvSpPr>
          <p:cNvPr id="4" name="Segnaposto numero diapositiva 3"/>
          <p:cNvSpPr>
            <a:spLocks noGrp="1"/>
          </p:cNvSpPr>
          <p:nvPr>
            <p:ph type="sldNum" sz="quarter" idx="5"/>
          </p:nvPr>
        </p:nvSpPr>
        <p:spPr/>
        <p:txBody>
          <a:bodyPr/>
          <a:lstStyle/>
          <a:p>
            <a:fld id="{47C0288A-C98E-4CBE-B69D-C060B2E07BEB}" type="slidenum">
              <a:rPr lang="it-IT" smtClean="0"/>
              <a:t>22</a:t>
            </a:fld>
            <a:endParaRPr lang="it-IT"/>
          </a:p>
        </p:txBody>
      </p:sp>
    </p:spTree>
    <p:extLst>
      <p:ext uri="{BB962C8B-B14F-4D97-AF65-F5344CB8AC3E}">
        <p14:creationId xmlns:p14="http://schemas.microsoft.com/office/powerpoint/2010/main" val="1211313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Schema concettuale di organizzazione, non ordine sul wire garantito da MAF. Tenere identici istruzioni, tool schema, documenti realmente comuni e ordinamento. Spostare timestamp, request ID, utente e dati volatili in posizione successiva quando semantica e API lo consentono. Mantenere append-only la conversazione dove praticabile. Non promuovere documenti esterni a istruzioni di sistema. Verificare messaggi, schema tool e confini serializzati nel client del provider.</a:t>
            </a:r>
          </a:p>
          <a:p>
            <a:endParaRPr lang="it-IT"/>
          </a:p>
          <a:p>
            <a:r>
              <a:rPr lang="it-IT"/>
              <a:t>Fonte: https://learn.microsoft.com/en-us/azure/foundry/openai/how-to/prompt-caching (consultata 8 ottobre 2026).</a:t>
            </a:r>
          </a:p>
        </p:txBody>
      </p:sp>
      <p:sp>
        <p:nvSpPr>
          <p:cNvPr id="4" name="Segnaposto numero diapositiva 3"/>
          <p:cNvSpPr>
            <a:spLocks noGrp="1"/>
          </p:cNvSpPr>
          <p:nvPr>
            <p:ph type="sldNum" sz="quarter" idx="5"/>
          </p:nvPr>
        </p:nvSpPr>
        <p:spPr/>
        <p:txBody>
          <a:bodyPr/>
          <a:lstStyle/>
          <a:p>
            <a:fld id="{47C0288A-C98E-4CBE-B69D-C060B2E07BEB}" type="slidenum">
              <a:rPr lang="it-IT" smtClean="0"/>
              <a:t>23</a:t>
            </a:fld>
            <a:endParaRPr lang="it-IT"/>
          </a:p>
        </p:txBody>
      </p:sp>
    </p:spTree>
    <p:extLst>
      <p:ext uri="{BB962C8B-B14F-4D97-AF65-F5344CB8AC3E}">
        <p14:creationId xmlns:p14="http://schemas.microsoft.com/office/powerpoint/2010/main" val="36402650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Tariffe ipotetiche in dollari per milione di token, non listino: input 2; cache read 0,20; output 8. Stessa chat del ledger: input 10000 e output 1000. Senza cache: 0,020 + 0,008 = 0,028. Con 8000 cached: 0,004 + 0,0016 + 0,008 = 0,0136. Risparmio 51,4% sul totale, non 80%. Cache write zero. Per modelli con costi di cache write aggiungere gli oneri previsti dal listino; rate, categorie, regione e deployment vanno verificati.</a:t>
            </a:r>
          </a:p>
          <a:p>
            <a:endParaRPr lang="it-IT"/>
          </a:p>
          <a:p>
            <a:r>
              <a:rPr lang="it-IT"/>
              <a:t>Fonte: https://learn.microsoft.com/en-us/azure/foundry/openai/how-to/prompt-caching (consultata 8 ottobre 2026).</a:t>
            </a:r>
          </a:p>
        </p:txBody>
      </p:sp>
      <p:sp>
        <p:nvSpPr>
          <p:cNvPr id="4" name="Segnaposto numero diapositiva 3"/>
          <p:cNvSpPr>
            <a:spLocks noGrp="1"/>
          </p:cNvSpPr>
          <p:nvPr>
            <p:ph type="sldNum" sz="quarter" idx="5"/>
          </p:nvPr>
        </p:nvSpPr>
        <p:spPr/>
        <p:txBody>
          <a:bodyPr/>
          <a:lstStyle/>
          <a:p>
            <a:fld id="{47C0288A-C98E-4CBE-B69D-C060B2E07BEB}" type="slidenum">
              <a:rPr lang="it-IT" smtClean="0"/>
              <a:t>24</a:t>
            </a:fld>
            <a:endParaRPr lang="it-IT"/>
          </a:p>
        </p:txBody>
      </p:sp>
    </p:spTree>
    <p:extLst>
      <p:ext uri="{BB962C8B-B14F-4D97-AF65-F5344CB8AC3E}">
        <p14:creationId xmlns:p14="http://schemas.microsoft.com/office/powerpoint/2010/main" val="20760422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Il runtime rende configurabili istruzioni, context provider, history, tool e client: queste superfici influenzano il prefisso. La cache vive nel servizio del modello; MAF non rende automaticamente ogni run cacheable e la demo BASIC puo avere input sotto soglia. Nei modelli Azure OpenAI GPT-5.6+ supportati, prompt_cache_key e cache breakpoints possono migliorare il riuso; supporto e impostazioni specifici del provider vanno configurati nel client/opzioni compatibili, non inventando una proprieta universale di MAF. GPT-5.6+ Standard PAYG espone cache_write_tokens; i breakpoints espliciti non sono universali su ogni deployment. Fonti: panoramica MAF e prompt caching Azure.</a:t>
            </a:r>
          </a:p>
          <a:p>
            <a:endParaRPr lang="it-IT"/>
          </a:p>
          <a:p>
            <a:r>
              <a:rPr lang="it-IT"/>
              <a:t>Fonte: https://learn.microsoft.com/en-us/azure/foundry/openai/how-to/prompt-caching (consultata 8 ottobre 2026).</a:t>
            </a:r>
          </a:p>
        </p:txBody>
      </p:sp>
      <p:sp>
        <p:nvSpPr>
          <p:cNvPr id="4" name="Segnaposto numero diapositiva 3"/>
          <p:cNvSpPr>
            <a:spLocks noGrp="1"/>
          </p:cNvSpPr>
          <p:nvPr>
            <p:ph type="sldNum" sz="quarter" idx="5"/>
          </p:nvPr>
        </p:nvSpPr>
        <p:spPr/>
        <p:txBody>
          <a:bodyPr/>
          <a:lstStyle/>
          <a:p>
            <a:fld id="{47C0288A-C98E-4CBE-B69D-C060B2E07BEB}" type="slidenum">
              <a:rPr lang="it-IT" smtClean="0"/>
              <a:t>25</a:t>
            </a:fld>
            <a:endParaRPr lang="it-IT"/>
          </a:p>
        </p:txBody>
      </p:sp>
    </p:spTree>
    <p:extLst>
      <p:ext uri="{BB962C8B-B14F-4D97-AF65-F5344CB8AC3E}">
        <p14:creationId xmlns:p14="http://schemas.microsoft.com/office/powerpoint/2010/main" val="19714961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it-IT"/>
              <a:t>ORIGINE: 1nn0vAI Template.pptx, slide 16. Contenuto originale adattato al template Azure Day. Scenario, misure e listini sono quelli della fonte; non sono automaticamente dati della demo BASIC/ADVANCE. Verificare prezzi e disponibilità dei modelli prima di stime correnti.</a:t>
            </a:r>
          </a:p>
          <a:p>
            <a:endParaRPr lang="it-IT"/>
          </a:p>
          <a:p>
            <a:r>
              <a:rPr lang="it-IT"/>
              <a:t>[TEMPO: 3']
Usare questa slide come checklist di prompt review. Un prompt lungo non è necessariamente cattivo; un prompt breve non è necessariamente economico se genera chiamate inutili, chiarimenti o output errati.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0459684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Esempio applicato al meteo sintetico BASIC. Il prompt ottimizzato non e soltanto piu corto: definisce dominio, uso dei tool, formato e stop. Non rimuovere vincoli che preservano correttezza o sicurezza per risparmiare token. Evitare ripetizioni e policy incoerenti tra instructions, tool e Skill. Controllare gli effetti su test reali: citta supportata, citta assente, citta non supportata, tool in errore, tentativo di sovrascrivere dati.</a:t>
            </a:r>
          </a:p>
        </p:txBody>
      </p:sp>
      <p:sp>
        <p:nvSpPr>
          <p:cNvPr id="4" name="Segnaposto numero diapositiva 3"/>
          <p:cNvSpPr>
            <a:spLocks noGrp="1"/>
          </p:cNvSpPr>
          <p:nvPr>
            <p:ph type="sldNum" sz="quarter" idx="5"/>
          </p:nvPr>
        </p:nvSpPr>
        <p:spPr/>
        <p:txBody>
          <a:bodyPr/>
          <a:lstStyle/>
          <a:p>
            <a:fld id="{47C0288A-C98E-4CBE-B69D-C060B2E07BEB}" type="slidenum">
              <a:rPr lang="it-IT" smtClean="0"/>
              <a:t>27</a:t>
            </a:fld>
            <a:endParaRPr lang="it-IT"/>
          </a:p>
        </p:txBody>
      </p:sp>
    </p:spTree>
    <p:extLst>
      <p:ext uri="{BB962C8B-B14F-4D97-AF65-F5344CB8AC3E}">
        <p14:creationId xmlns:p14="http://schemas.microsoft.com/office/powerpoint/2010/main" val="8819576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Il costo complessivo dipende da quante chat riprocessano il contesto, non solo dalla lunghezza delle istruzioni iniziali. Ridurre risultati tool a campi utili e RAG a documenti pertinenti. Riassunti e compattazione devono conservare fatti, vincoli, provenienza e legami tool-call/result; un riassunto costa a sua volta token e puo perdere informazione. Evitare history tra utenti o tenant. Limitare loop, retry e output secondo il task; autorizzazioni e stop nel codice, non affidati solo al prompt.</a:t>
            </a:r>
          </a:p>
          <a:p>
            <a:endParaRPr lang="it-IT"/>
          </a:p>
          <a:p>
            <a:r>
              <a:rPr lang="it-IT"/>
              <a:t>Fonte: https://learn.microsoft.com/en-us/agent-framework/concepts/agents/conversations/session (consultata 8 ottobre 2026).</a:t>
            </a:r>
          </a:p>
        </p:txBody>
      </p:sp>
      <p:sp>
        <p:nvSpPr>
          <p:cNvPr id="4" name="Segnaposto numero diapositiva 3"/>
          <p:cNvSpPr>
            <a:spLocks noGrp="1"/>
          </p:cNvSpPr>
          <p:nvPr>
            <p:ph type="sldNum" sz="quarter" idx="5"/>
          </p:nvPr>
        </p:nvSpPr>
        <p:spPr/>
        <p:txBody>
          <a:bodyPr/>
          <a:lstStyle/>
          <a:p>
            <a:fld id="{47C0288A-C98E-4CBE-B69D-C060B2E07BEB}" type="slidenum">
              <a:rPr lang="it-IT" smtClean="0"/>
              <a:t>28</a:t>
            </a:fld>
            <a:endParaRPr lang="it-IT"/>
          </a:p>
        </p:txBody>
      </p:sp>
    </p:spTree>
    <p:extLst>
      <p:ext uri="{BB962C8B-B14F-4D97-AF65-F5344CB8AC3E}">
        <p14:creationId xmlns:p14="http://schemas.microsoft.com/office/powerpoint/2010/main" val="20117552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Riepilogo: MCP per operazioni/dati, A2A per delega a uno specialista, Skill per procedura del medesimo agente. Microsoft Agent Framework collega modello, strumenti, contesto e runtime, senza imporre multi-agent o un orchestratore centrale. Rendere il prompt un contratto osservabile. Ottimizzare l intera run, includendo agenti remoti, non solo la risposta. Cache read e write vanno misurati e prezzati secondo il provider, e la correttezza rimane il primo vincolo.</a:t>
            </a:r>
          </a:p>
        </p:txBody>
      </p:sp>
      <p:sp>
        <p:nvSpPr>
          <p:cNvPr id="4" name="Segnaposto numero diapositiva 3"/>
          <p:cNvSpPr>
            <a:spLocks noGrp="1"/>
          </p:cNvSpPr>
          <p:nvPr>
            <p:ph type="sldNum" sz="quarter" idx="5"/>
          </p:nvPr>
        </p:nvSpPr>
        <p:spPr/>
        <p:txBody>
          <a:bodyPr/>
          <a:lstStyle/>
          <a:p>
            <a:fld id="{47C0288A-C98E-4CBE-B69D-C060B2E07BEB}" type="slidenum">
              <a:rPr lang="it-IT" smtClean="0"/>
              <a:t>29</a:t>
            </a:fld>
            <a:endParaRPr lang="it-IT"/>
          </a:p>
        </p:txBody>
      </p:sp>
    </p:spTree>
    <p:extLst>
      <p:ext uri="{BB962C8B-B14F-4D97-AF65-F5344CB8AC3E}">
        <p14:creationId xmlns:p14="http://schemas.microsoft.com/office/powerpoint/2010/main" val="36495951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it-IT"/>
          </a:p>
        </p:txBody>
      </p:sp>
      <p:sp>
        <p:nvSpPr>
          <p:cNvPr id="3" name="Notes Placeholder 2"/>
          <p:cNvSpPr>
            <a:spLocks noGrp="1"/>
          </p:cNvSpPr>
          <p:nvPr>
            <p:ph type="body" sz="quarter" idx="3"/>
          </p:nvPr>
        </p:nvSpPr>
        <p:spPr/>
        <p:txBody>
          <a:bodyPr/>
          <a:lstStyle/>
          <a:p>
            <a:r>
              <a:t>Q&amp;A slide for 'MCP server, A2A, Skill, mamma mia che mal di testAI!'. This is time for audience questions and discussion. Prepare to address common questions about the topic and invite participation.</a:t>
            </a:r>
          </a:p>
        </p:txBody>
      </p:sp>
      <p:sp>
        <p:nvSpPr>
          <p:cNvPr id="4" name="Slide Number Placeholder 3"/>
          <p:cNvSpPr>
            <a:spLocks noGrp="1"/>
          </p:cNvSpPr>
          <p:nvPr>
            <p:ph type="sldNum" sz="quarter" idx="5"/>
          </p:nvPr>
        </p:nvSpPr>
        <p:spPr/>
        <p:txBody>
          <a:bodyPr/>
          <a:lstStyle/>
          <a:p>
            <a:endParaRPr lang="it-IT"/>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it-IT"/>
          </a:p>
        </p:txBody>
      </p:sp>
      <p:sp>
        <p:nvSpPr>
          <p:cNvPr id="3" name="Notes Placeholder 2"/>
          <p:cNvSpPr>
            <a:spLocks noGrp="1"/>
          </p:cNvSpPr>
          <p:nvPr>
            <p:ph type="body" sz="quarter" idx="3"/>
          </p:nvPr>
        </p:nvSpPr>
        <p:spPr/>
        <p:txBody>
          <a:bodyPr/>
          <a:lstStyle/>
          <a:p>
            <a:r>
              <a:t>Voting slide for 'MCP server, A2A, Skill, mamma mia che mal di testAI!'. Ask audience to scan the QR code or visit https://vote.dotnetdev.it/vote/l44tzzta/1304496 to vote. Emphasize the importance of feedback.</a:t>
            </a:r>
          </a:p>
        </p:txBody>
      </p:sp>
      <p:sp>
        <p:nvSpPr>
          <p:cNvPr id="4" name="Slide Number Placeholder 3"/>
          <p:cNvSpPr>
            <a:spLocks noGrp="1"/>
          </p:cNvSpPr>
          <p:nvPr>
            <p:ph type="sldNum" sz="quarter" idx="5"/>
          </p:nvPr>
        </p:nvSpPr>
        <p:spPr/>
        <p:txBody>
          <a:bodyPr/>
          <a:lstStyle/>
          <a:p>
            <a:endParaRPr lang="it-IT"/>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it-IT"/>
              <a:t>ORIGINE: 1nn0vAI Template.pptx, slide 17. Contenuto originale adattato al template Azure Day. Scenario, misure e listini sono quelli della fonte; non sono automaticamente dati della demo BASIC/ADVANCE. Verificare prezzi e disponibilità dei modelli prima di stime correnti.</a:t>
            </a:r>
          </a:p>
          <a:p>
            <a:endParaRPr lang="it-IT"/>
          </a:p>
          <a:p>
            <a:r>
              <a:rPr lang="it-IT"/>
              <a:t>[TEMPO: 4']
Spiegare i bucket senza doppio conteggio. Input totale può includere cached e cache write; reasoning è incluso nell'output. Un valore assente non vale zero. La semantica del provider e della rate card deve essere congelata nella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8992467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it-IT"/>
              <a:t>ORIGINE: 1nn0vAI Template.pptx, slide 18. Contenuto originale adattato al template Azure Day. Scenario, misure e listini sono quelli della fonte; non sono automaticamente dati della demo BASIC/ADVANCE. Verificare prezzi e disponibilità dei modelli prima di stime correnti.</a:t>
            </a:r>
          </a:p>
          <a:p>
            <a:endParaRPr lang="it-IT"/>
          </a:p>
          <a:p>
            <a:r>
              <a:rPr lang="it-IT"/>
              <a:t>[TEMPO: 3']
Buone pratiche: prefisso stabile e identico, dati dinamici in coda, versionare prompt/tool, osservare hit rate. Non gonfiare il prompt solo per inseguire la cache. Una cache miss è spesso spiegabile da piccole variazioni o soglie.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21621436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it-IT"/>
              <a:t>ORIGINE: 1nn0vAI Template.pptx, slide 19. Contenuto originale adattato al template Azure Day. Scenario, misure e listini sono quelli della fonte; non sono automaticamente dati della demo BASIC/ADVANCE. Verificare prezzi e disponibilità dei modelli prima di stime correnti.</a:t>
            </a:r>
          </a:p>
          <a:p>
            <a:endParaRPr lang="it-IT"/>
          </a:p>
          <a:p>
            <a:r>
              <a:rPr lang="it-IT"/>
              <a:t>[TEMPO: 3']
Scomporre la latenza. Prompt e output più lunghi tendono ad aumentare lavoro e costo, ma il trade-off reale va misurato. Nell'app la risposta è bufferizzata: il tempo alla prima risposta non equivale al time-to-first-token streaming del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986293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jpg"/><Relationship Id="rId4" Type="http://schemas.openxmlformats.org/officeDocument/2006/relationships/image" Target="../media/image4.jpe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2.wdp"/><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2.wdp"/><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5.xml"/><Relationship Id="rId5" Type="http://schemas.openxmlformats.org/officeDocument/2006/relationships/image" Target="../media/image5.jpg"/><Relationship Id="rId4" Type="http://schemas.openxmlformats.org/officeDocument/2006/relationships/image" Target="../media/image4.jpeg"/></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8" Type="http://schemas.openxmlformats.org/officeDocument/2006/relationships/image" Target="../media/image10.png"/><Relationship Id="rId3" Type="http://schemas.microsoft.com/office/2007/relationships/hdphoto" Target="../media/hdphoto2.wdp"/><Relationship Id="rId7"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Master" Target="../slideMasters/slideMaster5.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2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ference 2">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39836AA-E138-48A5-BA71-0DF9A3EA6287}"/>
              </a:ext>
            </a:extLst>
          </p:cNvPr>
          <p:cNvSpPr/>
          <p:nvPr userDrawn="1"/>
        </p:nvSpPr>
        <p:spPr>
          <a:xfrm>
            <a:off x="-456228" y="5247248"/>
            <a:ext cx="13104457" cy="1610751"/>
          </a:xfrm>
          <a:prstGeom prst="rect">
            <a:avLst/>
          </a:prstGeom>
          <a:solidFill>
            <a:schemeClr val="bg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640590A5-426A-D0A1-28BC-0BA5BD1ED82F}"/>
              </a:ext>
            </a:extLst>
          </p:cNvPr>
          <p:cNvSpPr>
            <a:spLocks noGrp="1"/>
          </p:cNvSpPr>
          <p:nvPr>
            <p:ph type="title"/>
          </p:nvPr>
        </p:nvSpPr>
        <p:spPr>
          <a:xfrm>
            <a:off x="552450" y="-270192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4252513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ype="title" preserve="1">
  <p:cSld name="Title">
    <p:bg>
      <p:bgPr>
        <a:solidFill>
          <a:srgbClr val="EFD485"/>
        </a:solidFill>
        <a:effectLst/>
      </p:bgPr>
    </p:bg>
    <p:spTree>
      <p:nvGrpSpPr>
        <p:cNvPr id="1" name="Shape 9"/>
        <p:cNvGrpSpPr/>
        <p:nvPr/>
      </p:nvGrpSpPr>
      <p:grpSpPr>
        <a:xfrm>
          <a:off x="0" y="0"/>
          <a:ext cx="0" cy="0"/>
          <a:chOff x="0" y="0"/>
          <a:chExt cx="0" cy="0"/>
        </a:xfrm>
      </p:grpSpPr>
      <p:sp>
        <p:nvSpPr>
          <p:cNvPr id="11" name="Google Shape;11;p2"/>
          <p:cNvSpPr txBox="1">
            <a:spLocks noGrp="1"/>
          </p:cNvSpPr>
          <p:nvPr>
            <p:ph type="ctrTitle" hasCustomPrompt="1"/>
          </p:nvPr>
        </p:nvSpPr>
        <p:spPr>
          <a:xfrm>
            <a:off x="4379200" y="35644"/>
            <a:ext cx="7812800" cy="3133956"/>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4800"/>
              <a:buNone/>
              <a:defRPr sz="4400">
                <a:solidFill>
                  <a:srgbClr val="3B3838"/>
                </a:solidFill>
              </a:defRPr>
            </a:lvl1pPr>
            <a:lvl2pPr lvl="1" algn="ctr">
              <a:spcBef>
                <a:spcPts val="0"/>
              </a:spcBef>
              <a:spcAft>
                <a:spcPts val="0"/>
              </a:spcAft>
              <a:buClr>
                <a:srgbClr val="FFFFFF"/>
              </a:buClr>
              <a:buSzPts val="4800"/>
              <a:buNone/>
              <a:defRPr sz="6400">
                <a:solidFill>
                  <a:srgbClr val="FFFFFF"/>
                </a:solidFill>
              </a:defRPr>
            </a:lvl2pPr>
            <a:lvl3pPr lvl="2" algn="ctr">
              <a:spcBef>
                <a:spcPts val="0"/>
              </a:spcBef>
              <a:spcAft>
                <a:spcPts val="0"/>
              </a:spcAft>
              <a:buClr>
                <a:srgbClr val="FFFFFF"/>
              </a:buClr>
              <a:buSzPts val="4800"/>
              <a:buNone/>
              <a:defRPr sz="6400">
                <a:solidFill>
                  <a:srgbClr val="FFFFFF"/>
                </a:solidFill>
              </a:defRPr>
            </a:lvl3pPr>
            <a:lvl4pPr lvl="3" algn="ctr">
              <a:spcBef>
                <a:spcPts val="0"/>
              </a:spcBef>
              <a:spcAft>
                <a:spcPts val="0"/>
              </a:spcAft>
              <a:buClr>
                <a:srgbClr val="FFFFFF"/>
              </a:buClr>
              <a:buSzPts val="4800"/>
              <a:buNone/>
              <a:defRPr sz="6400">
                <a:solidFill>
                  <a:srgbClr val="FFFFFF"/>
                </a:solidFill>
              </a:defRPr>
            </a:lvl4pPr>
            <a:lvl5pPr lvl="4" algn="ctr">
              <a:spcBef>
                <a:spcPts val="0"/>
              </a:spcBef>
              <a:spcAft>
                <a:spcPts val="0"/>
              </a:spcAft>
              <a:buClr>
                <a:srgbClr val="FFFFFF"/>
              </a:buClr>
              <a:buSzPts val="4800"/>
              <a:buNone/>
              <a:defRPr sz="6400">
                <a:solidFill>
                  <a:srgbClr val="FFFFFF"/>
                </a:solidFill>
              </a:defRPr>
            </a:lvl5pPr>
            <a:lvl6pPr lvl="5" algn="ctr">
              <a:spcBef>
                <a:spcPts val="0"/>
              </a:spcBef>
              <a:spcAft>
                <a:spcPts val="0"/>
              </a:spcAft>
              <a:buClr>
                <a:srgbClr val="FFFFFF"/>
              </a:buClr>
              <a:buSzPts val="4800"/>
              <a:buNone/>
              <a:defRPr sz="6400">
                <a:solidFill>
                  <a:srgbClr val="FFFFFF"/>
                </a:solidFill>
              </a:defRPr>
            </a:lvl6pPr>
            <a:lvl7pPr lvl="6" algn="ctr">
              <a:spcBef>
                <a:spcPts val="0"/>
              </a:spcBef>
              <a:spcAft>
                <a:spcPts val="0"/>
              </a:spcAft>
              <a:buClr>
                <a:srgbClr val="FFFFFF"/>
              </a:buClr>
              <a:buSzPts val="4800"/>
              <a:buNone/>
              <a:defRPr sz="6400">
                <a:solidFill>
                  <a:srgbClr val="FFFFFF"/>
                </a:solidFill>
              </a:defRPr>
            </a:lvl7pPr>
            <a:lvl8pPr lvl="7" algn="ctr">
              <a:spcBef>
                <a:spcPts val="0"/>
              </a:spcBef>
              <a:spcAft>
                <a:spcPts val="0"/>
              </a:spcAft>
              <a:buClr>
                <a:srgbClr val="FFFFFF"/>
              </a:buClr>
              <a:buSzPts val="4800"/>
              <a:buNone/>
              <a:defRPr sz="6400">
                <a:solidFill>
                  <a:srgbClr val="FFFFFF"/>
                </a:solidFill>
              </a:defRPr>
            </a:lvl8pPr>
            <a:lvl9pPr lvl="8" algn="ctr">
              <a:spcBef>
                <a:spcPts val="0"/>
              </a:spcBef>
              <a:spcAft>
                <a:spcPts val="0"/>
              </a:spcAft>
              <a:buClr>
                <a:srgbClr val="FFFFFF"/>
              </a:buClr>
              <a:buSzPts val="4800"/>
              <a:buNone/>
              <a:defRPr sz="6400">
                <a:solidFill>
                  <a:srgbClr val="FFFFFF"/>
                </a:solidFill>
              </a:defRPr>
            </a:lvl9pPr>
          </a:lstStyle>
          <a:p>
            <a:r>
              <a:rPr lang="it-IT" dirty="0"/>
              <a:t>Session Title</a:t>
            </a:r>
            <a:endParaRPr dirty="0"/>
          </a:p>
        </p:txBody>
      </p:sp>
      <p:pic>
        <p:nvPicPr>
          <p:cNvPr id="7" name="Immagine 6">
            <a:extLst>
              <a:ext uri="{FF2B5EF4-FFF2-40B4-BE49-F238E27FC236}">
                <a16:creationId xmlns:a16="http://schemas.microsoft.com/office/drawing/2014/main" id="{B8B7FDCE-5AB0-0496-3C32-CD549583896F}"/>
              </a:ext>
            </a:extLst>
          </p:cNvPr>
          <p:cNvPicPr>
            <a:picLocks noChangeAspect="1"/>
          </p:cNvPicPr>
          <p:nvPr userDrawn="1"/>
        </p:nvPicPr>
        <p:blipFill>
          <a:blip r:embed="rId2">
            <a:extLst>
              <a:ext uri="{28A0092B-C50C-407E-A947-70E740481C1C}">
                <a14:useLocalDpi xmlns:a14="http://schemas.microsoft.com/office/drawing/2010/main" val="0"/>
              </a:ext>
            </a:extLst>
          </a:blip>
          <a:srcRect t="56744"/>
          <a:stretch>
            <a:fillRect/>
          </a:stretch>
        </p:blipFill>
        <p:spPr>
          <a:xfrm>
            <a:off x="0" y="3891516"/>
            <a:ext cx="12192000" cy="2966484"/>
          </a:xfrm>
          <a:prstGeom prst="rect">
            <a:avLst/>
          </a:prstGeom>
        </p:spPr>
      </p:pic>
    </p:spTree>
    <p:extLst>
      <p:ext uri="{BB962C8B-B14F-4D97-AF65-F5344CB8AC3E}">
        <p14:creationId xmlns:p14="http://schemas.microsoft.com/office/powerpoint/2010/main" val="2649634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nference 2">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39836AA-E138-48A5-BA71-0DF9A3EA6287}"/>
              </a:ext>
            </a:extLst>
          </p:cNvPr>
          <p:cNvSpPr/>
          <p:nvPr userDrawn="1"/>
        </p:nvSpPr>
        <p:spPr>
          <a:xfrm>
            <a:off x="-456228" y="5247248"/>
            <a:ext cx="13104457" cy="1610751"/>
          </a:xfrm>
          <a:prstGeom prst="rect">
            <a:avLst/>
          </a:prstGeom>
          <a:solidFill>
            <a:schemeClr val="bg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640590A5-426A-D0A1-28BC-0BA5BD1ED82F}"/>
              </a:ext>
            </a:extLst>
          </p:cNvPr>
          <p:cNvSpPr>
            <a:spLocks noGrp="1"/>
          </p:cNvSpPr>
          <p:nvPr>
            <p:ph type="title"/>
          </p:nvPr>
        </p:nvSpPr>
        <p:spPr>
          <a:xfrm>
            <a:off x="552450" y="-270192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943243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ference 3">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39836AA-E138-48A5-BA71-0DF9A3EA6287}"/>
              </a:ext>
            </a:extLst>
          </p:cNvPr>
          <p:cNvSpPr/>
          <p:nvPr userDrawn="1"/>
        </p:nvSpPr>
        <p:spPr>
          <a:xfrm>
            <a:off x="-196948" y="3165232"/>
            <a:ext cx="12845177" cy="3692768"/>
          </a:xfrm>
          <a:prstGeom prst="rect">
            <a:avLst/>
          </a:prstGeom>
          <a:solidFill>
            <a:schemeClr val="bg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4400" b="0" i="0" u="none" strike="noStrike" kern="1200" cap="none" spc="0" normalizeH="0" baseline="0" noProof="0" dirty="0">
                <a:ln>
                  <a:noFill/>
                </a:ln>
                <a:solidFill>
                  <a:srgbClr val="3B3838"/>
                </a:solidFill>
                <a:effectLst/>
                <a:uLnTx/>
                <a:uFillTx/>
                <a:latin typeface="Calibri" panose="020F0502020204030204"/>
                <a:ea typeface="+mn-ea"/>
                <a:cs typeface="+mn-cs"/>
              </a:rPr>
              <a:t>Titolo</a:t>
            </a:r>
          </a:p>
        </p:txBody>
      </p:sp>
      <p:sp>
        <p:nvSpPr>
          <p:cNvPr id="3" name="Title 2">
            <a:extLst>
              <a:ext uri="{FF2B5EF4-FFF2-40B4-BE49-F238E27FC236}">
                <a16:creationId xmlns:a16="http://schemas.microsoft.com/office/drawing/2014/main" id="{37CEDCFE-2CDD-6133-F929-5516C5D66B9A}"/>
              </a:ext>
            </a:extLst>
          </p:cNvPr>
          <p:cNvSpPr>
            <a:spLocks noGrp="1"/>
          </p:cNvSpPr>
          <p:nvPr>
            <p:ph type="title"/>
          </p:nvPr>
        </p:nvSpPr>
        <p:spPr>
          <a:xfrm>
            <a:off x="1314450" y="-289242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3334831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EFD485"/>
        </a:solid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1B3740AF-E675-42BE-A189-ABCECA1A81AE}"/>
              </a:ext>
            </a:extLst>
          </p:cNvPr>
          <p:cNvSpPr/>
          <p:nvPr userDrawn="1"/>
        </p:nvSpPr>
        <p:spPr>
          <a:xfrm>
            <a:off x="4794736" y="1308294"/>
            <a:ext cx="2602523" cy="24196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ttangolo 9">
            <a:extLst>
              <a:ext uri="{FF2B5EF4-FFF2-40B4-BE49-F238E27FC236}">
                <a16:creationId xmlns:a16="http://schemas.microsoft.com/office/drawing/2014/main" id="{51E6DB1A-82C4-4D31-BAD7-53B0226442FB}"/>
              </a:ext>
            </a:extLst>
          </p:cNvPr>
          <p:cNvSpPr/>
          <p:nvPr userDrawn="1"/>
        </p:nvSpPr>
        <p:spPr>
          <a:xfrm>
            <a:off x="0" y="5187462"/>
            <a:ext cx="12192000" cy="102694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5400" b="0" i="0" u="none" strike="noStrike" kern="1200" cap="none" spc="0" normalizeH="0" baseline="0" noProof="0" dirty="0">
              <a:ln>
                <a:noFill/>
              </a:ln>
              <a:solidFill>
                <a:srgbClr val="0B78BD"/>
              </a:solidFill>
              <a:effectLst/>
              <a:uLnTx/>
              <a:uFillTx/>
              <a:latin typeface="Calibri" panose="020F0502020204030204"/>
              <a:ea typeface="+mn-ea"/>
              <a:cs typeface="+mn-cs"/>
            </a:endParaRPr>
          </a:p>
        </p:txBody>
      </p:sp>
      <p:sp>
        <p:nvSpPr>
          <p:cNvPr id="11" name="Segnaposto immagine 2">
            <a:extLst>
              <a:ext uri="{FF2B5EF4-FFF2-40B4-BE49-F238E27FC236}">
                <a16:creationId xmlns:a16="http://schemas.microsoft.com/office/drawing/2014/main" id="{9024054E-FC58-4A9F-88D6-B1508DD55DBB}"/>
              </a:ext>
            </a:extLst>
          </p:cNvPr>
          <p:cNvSpPr>
            <a:spLocks noGrp="1"/>
          </p:cNvSpPr>
          <p:nvPr>
            <p:ph type="pic" idx="1"/>
          </p:nvPr>
        </p:nvSpPr>
        <p:spPr>
          <a:xfrm>
            <a:off x="4794737" y="1308294"/>
            <a:ext cx="2602523" cy="241964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12" name="CasellaDiTesto 11">
            <a:extLst>
              <a:ext uri="{FF2B5EF4-FFF2-40B4-BE49-F238E27FC236}">
                <a16:creationId xmlns:a16="http://schemas.microsoft.com/office/drawing/2014/main" id="{9E73A9E7-9566-4807-80F0-C8A8ACDB8D9B}"/>
              </a:ext>
            </a:extLst>
          </p:cNvPr>
          <p:cNvSpPr txBox="1"/>
          <p:nvPr userDrawn="1"/>
        </p:nvSpPr>
        <p:spPr>
          <a:xfrm>
            <a:off x="2559289" y="5285433"/>
            <a:ext cx="707341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4800" b="0" i="0" u="none" strike="noStrike" kern="1200" cap="none" spc="0" normalizeH="0" baseline="0" noProof="0" dirty="0">
                <a:ln>
                  <a:noFill/>
                </a:ln>
                <a:solidFill>
                  <a:srgbClr val="3B3838"/>
                </a:solidFill>
                <a:effectLst/>
                <a:uLnTx/>
                <a:uFillTx/>
                <a:latin typeface="Calibri" panose="020F0502020204030204"/>
                <a:ea typeface="+mn-ea"/>
                <a:cs typeface="+mn-cs"/>
              </a:rPr>
              <a:t>Vote for this session!!</a:t>
            </a:r>
          </a:p>
        </p:txBody>
      </p:sp>
      <p:sp>
        <p:nvSpPr>
          <p:cNvPr id="2" name="Title 1">
            <a:extLst>
              <a:ext uri="{FF2B5EF4-FFF2-40B4-BE49-F238E27FC236}">
                <a16:creationId xmlns:a16="http://schemas.microsoft.com/office/drawing/2014/main" id="{B9D9E8B8-64F5-4140-851E-42BCB6CFA89E}"/>
              </a:ext>
            </a:extLst>
          </p:cNvPr>
          <p:cNvSpPr>
            <a:spLocks noGrp="1"/>
          </p:cNvSpPr>
          <p:nvPr>
            <p:ph type="title"/>
          </p:nvPr>
        </p:nvSpPr>
        <p:spPr>
          <a:xfrm>
            <a:off x="457200" y="-287337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2459192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estion">
    <p:bg>
      <p:bgPr>
        <a:solidFill>
          <a:schemeClr val="bg1"/>
        </a:solidFill>
        <a:effectLst/>
      </p:bgPr>
    </p:bg>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A9BBBF5A-31D2-2699-19F4-AA649B4BFB7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450286" y="5023939"/>
            <a:ext cx="1332411" cy="1332411"/>
          </a:xfrm>
          <a:prstGeom prst="rect">
            <a:avLst/>
          </a:prstGeom>
        </p:spPr>
      </p:pic>
      <p:pic>
        <p:nvPicPr>
          <p:cNvPr id="10" name="Picture 9" descr="Yellow and blue symbols">
            <a:extLst>
              <a:ext uri="{FF2B5EF4-FFF2-40B4-BE49-F238E27FC236}">
                <a16:creationId xmlns:a16="http://schemas.microsoft.com/office/drawing/2014/main" id="{F166FFCD-9468-2B31-BCAA-F7AAC91BF12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77440" y="0"/>
            <a:ext cx="9814560" cy="6858000"/>
          </a:xfrm>
          <a:prstGeom prst="rect">
            <a:avLst/>
          </a:prstGeom>
        </p:spPr>
      </p:pic>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9929004" y="6356350"/>
            <a:ext cx="1853693" cy="365125"/>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it-IT" sz="1800" b="0" i="0" u="none" strike="noStrike" kern="1200" cap="none" spc="0" normalizeH="0" baseline="0" noProof="0" dirty="0" err="1">
                <a:ln>
                  <a:noFill/>
                </a:ln>
                <a:solidFill>
                  <a:prstClr val="black"/>
                </a:solidFill>
                <a:effectLst/>
                <a:uLnTx/>
                <a:uFillTx/>
                <a:latin typeface="Calibri" panose="020F0502020204030204"/>
                <a:ea typeface="+mn-ea"/>
                <a:cs typeface="+mn-cs"/>
              </a:rPr>
              <a:t>AzureDayTorino</a:t>
            </a:r>
            <a:endParaRPr kumimoji="0" lang="it-IT"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2625634" y="6356350"/>
            <a:ext cx="787908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hasCustomPrompt="1"/>
          </p:nvPr>
        </p:nvSpPr>
        <p:spPr>
          <a:xfrm>
            <a:off x="2625634" y="316559"/>
            <a:ext cx="9157063" cy="662782"/>
          </a:xfrm>
          <a:prstGeom prst="rect">
            <a:avLst/>
          </a:prstGeom>
        </p:spPr>
        <p:txBody>
          <a:bodyPr vert="horz" lIns="91440" tIns="45720" rIns="91440" bIns="45720" rtlCol="0" anchor="ctr">
            <a:normAutofit/>
          </a:bodyPr>
          <a:lstStyle>
            <a:lvl1pPr algn="ctr">
              <a:defRPr>
                <a:solidFill>
                  <a:srgbClr val="3B3838"/>
                </a:solidFill>
                <a:latin typeface="+mn-lt"/>
              </a:defRPr>
            </a:lvl1pPr>
          </a:lstStyle>
          <a:p>
            <a:r>
              <a:rPr lang="it-IT" dirty="0" err="1"/>
              <a:t>Question</a:t>
            </a:r>
            <a:r>
              <a:rPr lang="it-IT" dirty="0"/>
              <a:t> Time</a:t>
            </a:r>
          </a:p>
        </p:txBody>
      </p:sp>
      <p:pic>
        <p:nvPicPr>
          <p:cNvPr id="5" name="Google Shape;77;p15" descr="photo-1434030216411-0b793f4b4173.jpg">
            <a:extLst>
              <a:ext uri="{FF2B5EF4-FFF2-40B4-BE49-F238E27FC236}">
                <a16:creationId xmlns:a16="http://schemas.microsoft.com/office/drawing/2014/main" id="{722A8524-7FE9-45F2-ADA9-A2F63D65BDF5}"/>
              </a:ext>
            </a:extLst>
          </p:cNvPr>
          <p:cNvPicPr preferRelativeResize="0"/>
          <p:nvPr userDrawn="1"/>
        </p:nvPicPr>
        <p:blipFill rotWithShape="1">
          <a:blip r:embed="rId5">
            <a:alphaModFix/>
          </a:blip>
          <a:srcRect l="28831" r="30600"/>
          <a:stretch/>
        </p:blipFill>
        <p:spPr>
          <a:xfrm>
            <a:off x="0" y="0"/>
            <a:ext cx="2377440" cy="6858000"/>
          </a:xfrm>
          <a:prstGeom prst="rect">
            <a:avLst/>
          </a:prstGeom>
          <a:noFill/>
          <a:ln>
            <a:noFill/>
          </a:ln>
        </p:spPr>
      </p:pic>
    </p:spTree>
    <p:extLst>
      <p:ext uri="{BB962C8B-B14F-4D97-AF65-F5344CB8AC3E}">
        <p14:creationId xmlns:p14="http://schemas.microsoft.com/office/powerpoint/2010/main" val="4124889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mo">
    <p:bg>
      <p:bgPr>
        <a:solidFill>
          <a:srgbClr val="EFD485"/>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10A40383-6BE9-4A38-84CE-E391022B5B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1552" y="727916"/>
            <a:ext cx="11128896" cy="5814413"/>
          </a:xfrm>
          <a:prstGeom prst="rect">
            <a:avLst/>
          </a:prstGeom>
          <a:effectLst>
            <a:outerShdw dist="50800" dir="5400000" algn="ctr" rotWithShape="0">
              <a:srgbClr val="000000">
                <a:alpha val="16000"/>
              </a:srgbClr>
            </a:outerShdw>
          </a:effectLst>
        </p:spPr>
      </p:pic>
      <p:sp>
        <p:nvSpPr>
          <p:cNvPr id="4" name="Segnaposto titolo 1">
            <a:extLst>
              <a:ext uri="{FF2B5EF4-FFF2-40B4-BE49-F238E27FC236}">
                <a16:creationId xmlns:a16="http://schemas.microsoft.com/office/drawing/2014/main" id="{A6C10EFC-5B15-4541-BF67-29984B125E7D}"/>
              </a:ext>
            </a:extLst>
          </p:cNvPr>
          <p:cNvSpPr>
            <a:spLocks noGrp="1"/>
          </p:cNvSpPr>
          <p:nvPr>
            <p:ph type="title" hasCustomPrompt="1"/>
          </p:nvPr>
        </p:nvSpPr>
        <p:spPr>
          <a:xfrm>
            <a:off x="1118047" y="-3837229"/>
            <a:ext cx="9261565" cy="662782"/>
          </a:xfrm>
          <a:prstGeom prst="rect">
            <a:avLst/>
          </a:prstGeom>
        </p:spPr>
        <p:txBody>
          <a:bodyPr vert="horz" lIns="91440" tIns="45720" rIns="91440" bIns="45720" rtlCol="0" anchor="ctr">
            <a:normAutofit/>
          </a:bodyPr>
          <a:lstStyle>
            <a:lvl1pPr algn="ctr">
              <a:defRPr>
                <a:solidFill>
                  <a:schemeClr val="bg1"/>
                </a:solidFill>
                <a:latin typeface="+mn-lt"/>
              </a:defRPr>
            </a:lvl1pPr>
          </a:lstStyle>
          <a:p>
            <a:r>
              <a:rPr lang="it-IT" dirty="0"/>
              <a:t>Demo</a:t>
            </a:r>
          </a:p>
        </p:txBody>
      </p:sp>
      <p:sp>
        <p:nvSpPr>
          <p:cNvPr id="2" name="TextBox 1">
            <a:extLst>
              <a:ext uri="{FF2B5EF4-FFF2-40B4-BE49-F238E27FC236}">
                <a16:creationId xmlns:a16="http://schemas.microsoft.com/office/drawing/2014/main" id="{A43EA002-27DD-2DF0-5B8E-E5D0488B87F0}"/>
              </a:ext>
            </a:extLst>
          </p:cNvPr>
          <p:cNvSpPr txBox="1"/>
          <p:nvPr userDrawn="1"/>
        </p:nvSpPr>
        <p:spPr>
          <a:xfrm>
            <a:off x="1562100" y="438150"/>
            <a:ext cx="1009834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4400" b="0" i="0" u="none" strike="noStrike" kern="1200" cap="none" spc="0" normalizeH="0" baseline="0" noProof="0" dirty="0">
                <a:ln>
                  <a:noFill/>
                </a:ln>
                <a:solidFill>
                  <a:prstClr val="white"/>
                </a:solidFill>
                <a:effectLst/>
                <a:uLnTx/>
                <a:uFillTx/>
                <a:latin typeface="Calibri" panose="020F0502020204030204"/>
                <a:ea typeface="+mn-ea"/>
                <a:cs typeface="+mn-cs"/>
              </a:rPr>
              <a:t>Demo</a:t>
            </a:r>
          </a:p>
        </p:txBody>
      </p:sp>
    </p:spTree>
    <p:extLst>
      <p:ext uri="{BB962C8B-B14F-4D97-AF65-F5344CB8AC3E}">
        <p14:creationId xmlns:p14="http://schemas.microsoft.com/office/powerpoint/2010/main" val="3797794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preserve="1" userDrawn="1">
  <p:cSld name="1_Title">
    <p:bg>
      <p:bgPr>
        <a:solidFill>
          <a:schemeClr val="bg1"/>
        </a:solidFill>
        <a:effectLst/>
      </p:bgPr>
    </p:bg>
    <p:spTree>
      <p:nvGrpSpPr>
        <p:cNvPr id="1" name="Shape 9"/>
        <p:cNvGrpSpPr/>
        <p:nvPr/>
      </p:nvGrpSpPr>
      <p:grpSpPr>
        <a:xfrm>
          <a:off x="0" y="0"/>
          <a:ext cx="0" cy="0"/>
          <a:chOff x="0" y="0"/>
          <a:chExt cx="0" cy="0"/>
        </a:xfrm>
      </p:grpSpPr>
      <p:pic>
        <p:nvPicPr>
          <p:cNvPr id="3" name="Immagine 2">
            <a:extLst>
              <a:ext uri="{FF2B5EF4-FFF2-40B4-BE49-F238E27FC236}">
                <a16:creationId xmlns:a16="http://schemas.microsoft.com/office/drawing/2014/main" id="{E614E76A-DB37-2759-82D3-7560F8F07AF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698476" y="248859"/>
            <a:ext cx="1332411" cy="1332411"/>
          </a:xfrm>
          <a:prstGeom prst="rect">
            <a:avLst/>
          </a:prstGeom>
        </p:spPr>
      </p:pic>
      <p:sp>
        <p:nvSpPr>
          <p:cNvPr id="4" name="CasellaDiTesto 3">
            <a:extLst>
              <a:ext uri="{FF2B5EF4-FFF2-40B4-BE49-F238E27FC236}">
                <a16:creationId xmlns:a16="http://schemas.microsoft.com/office/drawing/2014/main" id="{E32C6391-BD02-E1A8-6B3B-AFF1CE3F23FD}"/>
              </a:ext>
            </a:extLst>
          </p:cNvPr>
          <p:cNvSpPr txBox="1"/>
          <p:nvPr userDrawn="1"/>
        </p:nvSpPr>
        <p:spPr>
          <a:xfrm>
            <a:off x="2236596" y="1150247"/>
            <a:ext cx="776067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3200" b="0" i="0" u="none" strike="noStrike" kern="1200" cap="none" spc="0" normalizeH="0" baseline="0" noProof="0" dirty="0">
                <a:ln>
                  <a:noFill/>
                </a:ln>
                <a:solidFill>
                  <a:srgbClr val="EFD485"/>
                </a:solidFill>
                <a:effectLst/>
                <a:uLnTx/>
                <a:uFillTx/>
                <a:latin typeface="Calibri" panose="020F0502020204030204"/>
                <a:ea typeface="+mn-ea"/>
                <a:cs typeface="+mn-cs"/>
              </a:rPr>
              <a:t>Platinum Sponsor</a:t>
            </a:r>
          </a:p>
        </p:txBody>
      </p:sp>
      <p:pic>
        <p:nvPicPr>
          <p:cNvPr id="1026" name="Picture 2" descr="Microsoft">
            <a:extLst>
              <a:ext uri="{FF2B5EF4-FFF2-40B4-BE49-F238E27FC236}">
                <a16:creationId xmlns:a16="http://schemas.microsoft.com/office/drawing/2014/main" id="{D3BB2535-1392-4C23-5759-4C1907BA4950}"/>
              </a:ext>
            </a:extLst>
          </p:cNvPr>
          <p:cNvPicPr>
            <a:picLocks noChangeAspect="1" noChangeArrowheads="1"/>
          </p:cNvPicPr>
          <p:nvPr userDrawn="1"/>
        </p:nvPicPr>
        <p:blipFill>
          <a:blip r:embed="rId4">
            <a:alphaModFix/>
            <a:extLst>
              <a:ext uri="{28A0092B-C50C-407E-A947-70E740481C1C}">
                <a14:useLocalDpi xmlns:a14="http://schemas.microsoft.com/office/drawing/2010/main" val="0"/>
              </a:ext>
            </a:extLst>
          </a:blip>
          <a:srcRect/>
          <a:stretch>
            <a:fillRect/>
          </a:stretch>
        </p:blipFill>
        <p:spPr bwMode="auto">
          <a:xfrm>
            <a:off x="850828" y="1735022"/>
            <a:ext cx="4488506" cy="224425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SC Technology">
            <a:extLst>
              <a:ext uri="{FF2B5EF4-FFF2-40B4-BE49-F238E27FC236}">
                <a16:creationId xmlns:a16="http://schemas.microsoft.com/office/drawing/2014/main" id="{2128AA76-60B4-001D-B5BA-3E2DB5A29910}"/>
              </a:ext>
            </a:extLst>
          </p:cNvPr>
          <p:cNvPicPr>
            <a:picLocks noChangeAspect="1" noChangeArrowheads="1"/>
          </p:cNvPicPr>
          <p:nvPr userDrawn="1"/>
        </p:nvPicPr>
        <p:blipFill>
          <a:blip r:embed="rId5">
            <a:alphaModFix/>
            <a:extLst>
              <a:ext uri="{28A0092B-C50C-407E-A947-70E740481C1C}">
                <a14:useLocalDpi xmlns:a14="http://schemas.microsoft.com/office/drawing/2010/main" val="0"/>
              </a:ext>
            </a:extLst>
          </a:blip>
          <a:srcRect/>
          <a:stretch>
            <a:fillRect/>
          </a:stretch>
        </p:blipFill>
        <p:spPr bwMode="auto">
          <a:xfrm>
            <a:off x="6403826" y="1783485"/>
            <a:ext cx="4294650" cy="2147325"/>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72C9EFB4-E3DC-D36E-EE4C-272D764688FB}"/>
              </a:ext>
            </a:extLst>
          </p:cNvPr>
          <p:cNvSpPr txBox="1"/>
          <p:nvPr userDrawn="1"/>
        </p:nvSpPr>
        <p:spPr>
          <a:xfrm>
            <a:off x="2353080" y="4107475"/>
            <a:ext cx="776067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3200" b="0" i="0" u="none" strike="noStrike" kern="1200" cap="none" spc="0" normalizeH="0" baseline="0" noProof="0" dirty="0">
                <a:ln>
                  <a:noFill/>
                </a:ln>
                <a:solidFill>
                  <a:srgbClr val="EFD485"/>
                </a:solidFill>
                <a:effectLst/>
                <a:uLnTx/>
                <a:uFillTx/>
                <a:latin typeface="Calibri" panose="020F0502020204030204"/>
                <a:ea typeface="+mn-ea"/>
                <a:cs typeface="+mn-cs"/>
              </a:rPr>
              <a:t>Technical Sponsor</a:t>
            </a:r>
          </a:p>
        </p:txBody>
      </p:sp>
      <p:pic>
        <p:nvPicPr>
          <p:cNvPr id="1030" name="Picture 6" descr="DotNetCode">
            <a:extLst>
              <a:ext uri="{FF2B5EF4-FFF2-40B4-BE49-F238E27FC236}">
                <a16:creationId xmlns:a16="http://schemas.microsoft.com/office/drawing/2014/main" id="{FC15D550-E442-432B-D4DE-B12B0F5FD966}"/>
              </a:ext>
            </a:extLst>
          </p:cNvPr>
          <p:cNvPicPr>
            <a:picLocks noChangeAspect="1" noChangeArrowheads="1"/>
          </p:cNvPicPr>
          <p:nvPr userDrawn="1"/>
        </p:nvPicPr>
        <p:blipFill>
          <a:blip r:embed="rId6">
            <a:alphaModFix/>
            <a:extLst>
              <a:ext uri="{28A0092B-C50C-407E-A947-70E740481C1C}">
                <a14:useLocalDpi xmlns:a14="http://schemas.microsoft.com/office/drawing/2010/main" val="0"/>
              </a:ext>
            </a:extLst>
          </a:blip>
          <a:srcRect/>
          <a:stretch>
            <a:fillRect/>
          </a:stretch>
        </p:blipFill>
        <p:spPr bwMode="auto">
          <a:xfrm>
            <a:off x="5394580" y="4908403"/>
            <a:ext cx="1677676"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orino .NET">
            <a:extLst>
              <a:ext uri="{FF2B5EF4-FFF2-40B4-BE49-F238E27FC236}">
                <a16:creationId xmlns:a16="http://schemas.microsoft.com/office/drawing/2014/main" id="{35D98248-AB12-478D-17B0-9DA5F79F8FC3}"/>
              </a:ext>
            </a:extLst>
          </p:cNvPr>
          <p:cNvPicPr>
            <a:picLocks noChangeAspect="1" noChangeArrowheads="1"/>
          </p:cNvPicPr>
          <p:nvPr userDrawn="1"/>
        </p:nvPicPr>
        <p:blipFill>
          <a:blip r:embed="rId7">
            <a:alphaModFix/>
            <a:extLst>
              <a:ext uri="{28A0092B-C50C-407E-A947-70E740481C1C}">
                <a14:useLocalDpi xmlns:a14="http://schemas.microsoft.com/office/drawing/2010/main" val="0"/>
              </a:ext>
            </a:extLst>
          </a:blip>
          <a:srcRect/>
          <a:stretch>
            <a:fillRect/>
          </a:stretch>
        </p:blipFill>
        <p:spPr bwMode="auto">
          <a:xfrm>
            <a:off x="3247313" y="4908403"/>
            <a:ext cx="1677676"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JetBrains">
            <a:extLst>
              <a:ext uri="{FF2B5EF4-FFF2-40B4-BE49-F238E27FC236}">
                <a16:creationId xmlns:a16="http://schemas.microsoft.com/office/drawing/2014/main" id="{45C8FAB0-5A19-4FA2-A639-C8EA6B509AF7}"/>
              </a:ext>
            </a:extLst>
          </p:cNvPr>
          <p:cNvPicPr>
            <a:picLocks noChangeAspect="1" noChangeArrowheads="1"/>
          </p:cNvPicPr>
          <p:nvPr userDrawn="1"/>
        </p:nvPicPr>
        <p:blipFill>
          <a:blip r:embed="rId8">
            <a:alphaModFix/>
            <a:extLst>
              <a:ext uri="{28A0092B-C50C-407E-A947-70E740481C1C}">
                <a14:useLocalDpi xmlns:a14="http://schemas.microsoft.com/office/drawing/2010/main" val="0"/>
              </a:ext>
            </a:extLst>
          </a:blip>
          <a:srcRect/>
          <a:stretch>
            <a:fillRect/>
          </a:stretch>
        </p:blipFill>
        <p:spPr bwMode="auto">
          <a:xfrm>
            <a:off x="7675073" y="4871163"/>
            <a:ext cx="1752156" cy="87607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6E16C56-782E-468B-FB94-31162E11800F}"/>
              </a:ext>
            </a:extLst>
          </p:cNvPr>
          <p:cNvSpPr>
            <a:spLocks noGrp="1"/>
          </p:cNvSpPr>
          <p:nvPr>
            <p:ph type="title"/>
          </p:nvPr>
        </p:nvSpPr>
        <p:spPr>
          <a:xfrm>
            <a:off x="81534" y="-416877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947727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preserve="1" userDrawn="1">
  <p:cSld name="1_Title">
    <p:bg>
      <p:bgPr>
        <a:solidFill>
          <a:schemeClr val="bg1"/>
        </a:solidFill>
        <a:effectLst/>
      </p:bgPr>
    </p:bg>
    <p:spTree>
      <p:nvGrpSpPr>
        <p:cNvPr id="1" name="Shape 9"/>
        <p:cNvGrpSpPr/>
        <p:nvPr/>
      </p:nvGrpSpPr>
      <p:grpSpPr>
        <a:xfrm>
          <a:off x="0" y="0"/>
          <a:ext cx="0" cy="0"/>
          <a:chOff x="0" y="0"/>
          <a:chExt cx="0" cy="0"/>
        </a:xfrm>
      </p:grpSpPr>
      <p:pic>
        <p:nvPicPr>
          <p:cNvPr id="3" name="Immagine 2">
            <a:extLst>
              <a:ext uri="{FF2B5EF4-FFF2-40B4-BE49-F238E27FC236}">
                <a16:creationId xmlns:a16="http://schemas.microsoft.com/office/drawing/2014/main" id="{E614E76A-DB37-2759-82D3-7560F8F07AF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698476" y="248859"/>
            <a:ext cx="1332411" cy="1332411"/>
          </a:xfrm>
          <a:prstGeom prst="rect">
            <a:avLst/>
          </a:prstGeom>
        </p:spPr>
      </p:pic>
      <p:sp>
        <p:nvSpPr>
          <p:cNvPr id="4" name="CasellaDiTesto 3">
            <a:extLst>
              <a:ext uri="{FF2B5EF4-FFF2-40B4-BE49-F238E27FC236}">
                <a16:creationId xmlns:a16="http://schemas.microsoft.com/office/drawing/2014/main" id="{E32C6391-BD02-E1A8-6B3B-AFF1CE3F23FD}"/>
              </a:ext>
            </a:extLst>
          </p:cNvPr>
          <p:cNvSpPr txBox="1"/>
          <p:nvPr userDrawn="1"/>
        </p:nvSpPr>
        <p:spPr>
          <a:xfrm>
            <a:off x="2236596" y="1150247"/>
            <a:ext cx="776067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3200" b="0" i="0" u="none" strike="noStrike" kern="1200" cap="none" spc="0" normalizeH="0" baseline="0" noProof="0" dirty="0">
                <a:ln>
                  <a:noFill/>
                </a:ln>
                <a:solidFill>
                  <a:srgbClr val="EFD485"/>
                </a:solidFill>
                <a:effectLst/>
                <a:uLnTx/>
                <a:uFillTx/>
                <a:latin typeface="Calibri" panose="020F0502020204030204"/>
                <a:ea typeface="+mn-ea"/>
                <a:cs typeface="+mn-cs"/>
              </a:rPr>
              <a:t>Platinum Sponsor</a:t>
            </a:r>
          </a:p>
        </p:txBody>
      </p:sp>
      <p:pic>
        <p:nvPicPr>
          <p:cNvPr id="1026" name="Picture 2" descr="Microsoft">
            <a:extLst>
              <a:ext uri="{FF2B5EF4-FFF2-40B4-BE49-F238E27FC236}">
                <a16:creationId xmlns:a16="http://schemas.microsoft.com/office/drawing/2014/main" id="{D3BB2535-1392-4C23-5759-4C1907BA4950}"/>
              </a:ext>
            </a:extLst>
          </p:cNvPr>
          <p:cNvPicPr>
            <a:picLocks noChangeAspect="1" noChangeArrowheads="1"/>
          </p:cNvPicPr>
          <p:nvPr userDrawn="1"/>
        </p:nvPicPr>
        <p:blipFill>
          <a:blip r:embed="rId4">
            <a:alphaModFix/>
            <a:extLst>
              <a:ext uri="{28A0092B-C50C-407E-A947-70E740481C1C}">
                <a14:useLocalDpi xmlns:a14="http://schemas.microsoft.com/office/drawing/2010/main" val="0"/>
              </a:ext>
            </a:extLst>
          </a:blip>
          <a:srcRect/>
          <a:stretch>
            <a:fillRect/>
          </a:stretch>
        </p:blipFill>
        <p:spPr bwMode="auto">
          <a:xfrm>
            <a:off x="850828" y="1735022"/>
            <a:ext cx="4488506" cy="224425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SC Technology">
            <a:extLst>
              <a:ext uri="{FF2B5EF4-FFF2-40B4-BE49-F238E27FC236}">
                <a16:creationId xmlns:a16="http://schemas.microsoft.com/office/drawing/2014/main" id="{2128AA76-60B4-001D-B5BA-3E2DB5A29910}"/>
              </a:ext>
            </a:extLst>
          </p:cNvPr>
          <p:cNvPicPr>
            <a:picLocks noChangeAspect="1" noChangeArrowheads="1"/>
          </p:cNvPicPr>
          <p:nvPr userDrawn="1"/>
        </p:nvPicPr>
        <p:blipFill>
          <a:blip r:embed="rId5">
            <a:alphaModFix/>
            <a:extLst>
              <a:ext uri="{28A0092B-C50C-407E-A947-70E740481C1C}">
                <a14:useLocalDpi xmlns:a14="http://schemas.microsoft.com/office/drawing/2010/main" val="0"/>
              </a:ext>
            </a:extLst>
          </a:blip>
          <a:srcRect/>
          <a:stretch>
            <a:fillRect/>
          </a:stretch>
        </p:blipFill>
        <p:spPr bwMode="auto">
          <a:xfrm>
            <a:off x="6403826" y="1783485"/>
            <a:ext cx="4294650" cy="2147325"/>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72C9EFB4-E3DC-D36E-EE4C-272D764688FB}"/>
              </a:ext>
            </a:extLst>
          </p:cNvPr>
          <p:cNvSpPr txBox="1"/>
          <p:nvPr userDrawn="1"/>
        </p:nvSpPr>
        <p:spPr>
          <a:xfrm>
            <a:off x="2353080" y="4107475"/>
            <a:ext cx="776067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3200" b="0" i="0" u="none" strike="noStrike" kern="1200" cap="none" spc="0" normalizeH="0" baseline="0" noProof="0" dirty="0">
                <a:ln>
                  <a:noFill/>
                </a:ln>
                <a:solidFill>
                  <a:srgbClr val="EFD485"/>
                </a:solidFill>
                <a:effectLst/>
                <a:uLnTx/>
                <a:uFillTx/>
                <a:latin typeface="Calibri" panose="020F0502020204030204"/>
                <a:ea typeface="+mn-ea"/>
                <a:cs typeface="+mn-cs"/>
              </a:rPr>
              <a:t>Technical Sponsor</a:t>
            </a:r>
          </a:p>
        </p:txBody>
      </p:sp>
      <p:pic>
        <p:nvPicPr>
          <p:cNvPr id="1030" name="Picture 6" descr="DotNetCode">
            <a:extLst>
              <a:ext uri="{FF2B5EF4-FFF2-40B4-BE49-F238E27FC236}">
                <a16:creationId xmlns:a16="http://schemas.microsoft.com/office/drawing/2014/main" id="{FC15D550-E442-432B-D4DE-B12B0F5FD966}"/>
              </a:ext>
            </a:extLst>
          </p:cNvPr>
          <p:cNvPicPr>
            <a:picLocks noChangeAspect="1" noChangeArrowheads="1"/>
          </p:cNvPicPr>
          <p:nvPr userDrawn="1"/>
        </p:nvPicPr>
        <p:blipFill>
          <a:blip r:embed="rId6">
            <a:alphaModFix/>
            <a:extLst>
              <a:ext uri="{28A0092B-C50C-407E-A947-70E740481C1C}">
                <a14:useLocalDpi xmlns:a14="http://schemas.microsoft.com/office/drawing/2010/main" val="0"/>
              </a:ext>
            </a:extLst>
          </a:blip>
          <a:srcRect/>
          <a:stretch>
            <a:fillRect/>
          </a:stretch>
        </p:blipFill>
        <p:spPr bwMode="auto">
          <a:xfrm>
            <a:off x="5219922" y="4908403"/>
            <a:ext cx="1677676"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orino .NET">
            <a:extLst>
              <a:ext uri="{FF2B5EF4-FFF2-40B4-BE49-F238E27FC236}">
                <a16:creationId xmlns:a16="http://schemas.microsoft.com/office/drawing/2014/main" id="{35D98248-AB12-478D-17B0-9DA5F79F8FC3}"/>
              </a:ext>
            </a:extLst>
          </p:cNvPr>
          <p:cNvPicPr>
            <a:picLocks noChangeAspect="1" noChangeArrowheads="1"/>
          </p:cNvPicPr>
          <p:nvPr userDrawn="1"/>
        </p:nvPicPr>
        <p:blipFill>
          <a:blip r:embed="rId7">
            <a:alphaModFix/>
            <a:extLst>
              <a:ext uri="{28A0092B-C50C-407E-A947-70E740481C1C}">
                <a14:useLocalDpi xmlns:a14="http://schemas.microsoft.com/office/drawing/2010/main" val="0"/>
              </a:ext>
            </a:extLst>
          </a:blip>
          <a:srcRect/>
          <a:stretch>
            <a:fillRect/>
          </a:stretch>
        </p:blipFill>
        <p:spPr bwMode="auto">
          <a:xfrm>
            <a:off x="2764771" y="4889643"/>
            <a:ext cx="1677676"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JetBrains">
            <a:extLst>
              <a:ext uri="{FF2B5EF4-FFF2-40B4-BE49-F238E27FC236}">
                <a16:creationId xmlns:a16="http://schemas.microsoft.com/office/drawing/2014/main" id="{45C8FAB0-5A19-4FA2-A639-C8EA6B509AF7}"/>
              </a:ext>
            </a:extLst>
          </p:cNvPr>
          <p:cNvPicPr>
            <a:picLocks noChangeAspect="1" noChangeArrowheads="1"/>
          </p:cNvPicPr>
          <p:nvPr userDrawn="1"/>
        </p:nvPicPr>
        <p:blipFill>
          <a:blip r:embed="rId8">
            <a:alphaModFix/>
            <a:extLst>
              <a:ext uri="{28A0092B-C50C-407E-A947-70E740481C1C}">
                <a14:useLocalDpi xmlns:a14="http://schemas.microsoft.com/office/drawing/2010/main" val="0"/>
              </a:ext>
            </a:extLst>
          </a:blip>
          <a:srcRect/>
          <a:stretch>
            <a:fillRect/>
          </a:stretch>
        </p:blipFill>
        <p:spPr bwMode="auto">
          <a:xfrm>
            <a:off x="7675073" y="4871163"/>
            <a:ext cx="1752156" cy="87607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6E16C56-782E-468B-FB94-31162E11800F}"/>
              </a:ext>
            </a:extLst>
          </p:cNvPr>
          <p:cNvSpPr>
            <a:spLocks noGrp="1"/>
          </p:cNvSpPr>
          <p:nvPr>
            <p:ph type="title"/>
          </p:nvPr>
        </p:nvSpPr>
        <p:spPr>
          <a:xfrm>
            <a:off x="81534" y="-416877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689425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1AC213-F388-4E21-98C4-36E6E89F2D9A}"/>
              </a:ext>
            </a:extLst>
          </p:cNvPr>
          <p:cNvSpPr>
            <a:spLocks noGrp="1"/>
          </p:cNvSpPr>
          <p:nvPr>
            <p:ph type="ctrTitle"/>
          </p:nvPr>
        </p:nvSpPr>
        <p:spPr>
          <a:xfrm>
            <a:off x="576776" y="1600200"/>
            <a:ext cx="11205921" cy="2387600"/>
          </a:xfrm>
        </p:spPr>
        <p:txBody>
          <a:bodyPr anchor="ctr"/>
          <a:lstStyle>
            <a:lvl1pPr algn="ctr">
              <a:defRPr sz="4400">
                <a:latin typeface="+mn-lt"/>
              </a:defRPr>
            </a:lvl1pPr>
          </a:lstStyle>
          <a:p>
            <a:r>
              <a:rPr lang="it-IT" dirty="0"/>
              <a:t>Fare clic per modificare lo stile del titolo dello schema</a:t>
            </a:r>
          </a:p>
        </p:txBody>
      </p:sp>
      <p:sp>
        <p:nvSpPr>
          <p:cNvPr id="3" name="Sottotitolo 2">
            <a:extLst>
              <a:ext uri="{FF2B5EF4-FFF2-40B4-BE49-F238E27FC236}">
                <a16:creationId xmlns:a16="http://schemas.microsoft.com/office/drawing/2014/main" id="{2816E0C6-E17F-4FDB-8980-765ACC03A172}"/>
              </a:ext>
            </a:extLst>
          </p:cNvPr>
          <p:cNvSpPr>
            <a:spLocks noGrp="1"/>
          </p:cNvSpPr>
          <p:nvPr>
            <p:ph type="subTitle" idx="1"/>
          </p:nvPr>
        </p:nvSpPr>
        <p:spPr>
          <a:xfrm>
            <a:off x="576775" y="4344194"/>
            <a:ext cx="11205921"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AA79011E-D390-43E9-A2A7-33EA50B34A2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D52116E-899F-443D-9DAC-ADEC6441CF29}"/>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974020F4-9E0A-40BD-8784-A68D91CBF059}"/>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1078812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924B6594-436E-4CB3-AD0B-3DF1CF78567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B579950-EAE6-44C5-8A5A-B17F721DAEB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BD6E3443-EB60-437C-AB50-5D4C81480687}"/>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0965ADC6-875C-482E-A5A7-491A1C4430FA}"/>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1015115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60E1D9-830C-42E5-B43B-29DB0C744A32}"/>
              </a:ext>
            </a:extLst>
          </p:cNvPr>
          <p:cNvSpPr>
            <a:spLocks noGrp="1"/>
          </p:cNvSpPr>
          <p:nvPr>
            <p:ph type="title"/>
          </p:nvPr>
        </p:nvSpPr>
        <p:spPr>
          <a:xfrm>
            <a:off x="576776" y="1736726"/>
            <a:ext cx="11205921" cy="2852737"/>
          </a:xfrm>
        </p:spPr>
        <p:txBody>
          <a:bodyPr anchor="b"/>
          <a:lstStyle>
            <a:lvl1pPr>
              <a:defRPr sz="6000"/>
            </a:lvl1p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59591FCF-D95B-487B-A7A1-F791F33EB6EB}"/>
              </a:ext>
            </a:extLst>
          </p:cNvPr>
          <p:cNvSpPr>
            <a:spLocks noGrp="1"/>
          </p:cNvSpPr>
          <p:nvPr>
            <p:ph type="body" idx="1"/>
          </p:nvPr>
        </p:nvSpPr>
        <p:spPr>
          <a:xfrm>
            <a:off x="576776" y="4596754"/>
            <a:ext cx="1120592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dirty="0"/>
              <a:t>Fare clic per modificare gli stili del testo dello schema</a:t>
            </a:r>
          </a:p>
        </p:txBody>
      </p:sp>
      <p:sp>
        <p:nvSpPr>
          <p:cNvPr id="4" name="Segnaposto data 3">
            <a:extLst>
              <a:ext uri="{FF2B5EF4-FFF2-40B4-BE49-F238E27FC236}">
                <a16:creationId xmlns:a16="http://schemas.microsoft.com/office/drawing/2014/main" id="{1A098EBC-55A3-4699-8138-556E5BB637D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6C5592B-641A-418A-A3A0-1A3EA60A3B17}"/>
              </a:ext>
            </a:extLst>
          </p:cNvPr>
          <p:cNvSpPr>
            <a:spLocks noGrp="1"/>
          </p:cNvSpPr>
          <p:nvPr>
            <p:ph type="ftr" sz="quarter" idx="11"/>
          </p:nvPr>
        </p:nvSpPr>
        <p:spPr/>
        <p:txBody>
          <a:bodyPr/>
          <a:lstStyle/>
          <a:p>
            <a:endParaRPr lang="it-IT"/>
          </a:p>
        </p:txBody>
      </p:sp>
      <p:sp>
        <p:nvSpPr>
          <p:cNvPr id="8" name="Segnaposto titolo 1">
            <a:extLst>
              <a:ext uri="{FF2B5EF4-FFF2-40B4-BE49-F238E27FC236}">
                <a16:creationId xmlns:a16="http://schemas.microsoft.com/office/drawing/2014/main" id="{8C1A526D-BDB6-48B9-BE01-73554F395FF1}"/>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5268416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4DDB07BF-6C79-4467-ACB1-0767E3771EDC}"/>
              </a:ext>
            </a:extLst>
          </p:cNvPr>
          <p:cNvSpPr>
            <a:spLocks noGrp="1"/>
          </p:cNvSpPr>
          <p:nvPr>
            <p:ph sz="half" idx="1"/>
          </p:nvPr>
        </p:nvSpPr>
        <p:spPr>
          <a:xfrm>
            <a:off x="581759" y="1825625"/>
            <a:ext cx="5129723"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AA3F5DFD-F0C1-4DC6-875A-D8417FB428B1}"/>
              </a:ext>
            </a:extLst>
          </p:cNvPr>
          <p:cNvSpPr>
            <a:spLocks noGrp="1"/>
          </p:cNvSpPr>
          <p:nvPr>
            <p:ph sz="half" idx="2"/>
          </p:nvPr>
        </p:nvSpPr>
        <p:spPr>
          <a:xfrm>
            <a:off x="6652974" y="1825625"/>
            <a:ext cx="5129723" cy="435133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data 4">
            <a:extLst>
              <a:ext uri="{FF2B5EF4-FFF2-40B4-BE49-F238E27FC236}">
                <a16:creationId xmlns:a16="http://schemas.microsoft.com/office/drawing/2014/main" id="{3255D52C-1AD6-485F-97E2-A18AE2C9BBE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606CB1CD-EEE9-47F1-B168-D7DCFBDB8307}"/>
              </a:ext>
            </a:extLst>
          </p:cNvPr>
          <p:cNvSpPr>
            <a:spLocks noGrp="1"/>
          </p:cNvSpPr>
          <p:nvPr>
            <p:ph type="ftr" sz="quarter" idx="11"/>
          </p:nvPr>
        </p:nvSpPr>
        <p:spPr/>
        <p:txBody>
          <a:bodyPr/>
          <a:lstStyle/>
          <a:p>
            <a:endParaRPr lang="it-IT"/>
          </a:p>
        </p:txBody>
      </p:sp>
      <p:sp>
        <p:nvSpPr>
          <p:cNvPr id="7" name="Segnaposto titolo 1">
            <a:extLst>
              <a:ext uri="{FF2B5EF4-FFF2-40B4-BE49-F238E27FC236}">
                <a16:creationId xmlns:a16="http://schemas.microsoft.com/office/drawing/2014/main" id="{B915A429-AA51-465F-99BF-0EDBF7ED997B}"/>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3231010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fronto">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28A0B334-5A2E-420D-B34F-0C59C82F6877}"/>
              </a:ext>
            </a:extLst>
          </p:cNvPr>
          <p:cNvSpPr>
            <a:spLocks noGrp="1"/>
          </p:cNvSpPr>
          <p:nvPr>
            <p:ph type="body" idx="1"/>
          </p:nvPr>
        </p:nvSpPr>
        <p:spPr>
          <a:xfrm>
            <a:off x="576775" y="1674203"/>
            <a:ext cx="521911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4" name="Segnaposto contenuto 3">
            <a:extLst>
              <a:ext uri="{FF2B5EF4-FFF2-40B4-BE49-F238E27FC236}">
                <a16:creationId xmlns:a16="http://schemas.microsoft.com/office/drawing/2014/main" id="{F3888714-BC9E-4F0C-9BCB-271CD43D7529}"/>
              </a:ext>
            </a:extLst>
          </p:cNvPr>
          <p:cNvSpPr>
            <a:spLocks noGrp="1"/>
          </p:cNvSpPr>
          <p:nvPr>
            <p:ph sz="half" idx="2"/>
          </p:nvPr>
        </p:nvSpPr>
        <p:spPr>
          <a:xfrm>
            <a:off x="576775" y="2505075"/>
            <a:ext cx="5219113"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testo 4">
            <a:extLst>
              <a:ext uri="{FF2B5EF4-FFF2-40B4-BE49-F238E27FC236}">
                <a16:creationId xmlns:a16="http://schemas.microsoft.com/office/drawing/2014/main" id="{59DBCF60-51E3-49AF-B7E7-0E0D5D215F6E}"/>
              </a:ext>
            </a:extLst>
          </p:cNvPr>
          <p:cNvSpPr>
            <a:spLocks noGrp="1"/>
          </p:cNvSpPr>
          <p:nvPr>
            <p:ph type="body" sz="quarter" idx="3"/>
          </p:nvPr>
        </p:nvSpPr>
        <p:spPr>
          <a:xfrm>
            <a:off x="6563584" y="1681163"/>
            <a:ext cx="521911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6" name="Segnaposto contenuto 5">
            <a:extLst>
              <a:ext uri="{FF2B5EF4-FFF2-40B4-BE49-F238E27FC236}">
                <a16:creationId xmlns:a16="http://schemas.microsoft.com/office/drawing/2014/main" id="{C5EE61DC-AAA5-4E2D-BF46-D00329A5C184}"/>
              </a:ext>
            </a:extLst>
          </p:cNvPr>
          <p:cNvSpPr>
            <a:spLocks noGrp="1"/>
          </p:cNvSpPr>
          <p:nvPr>
            <p:ph sz="quarter" idx="4"/>
          </p:nvPr>
        </p:nvSpPr>
        <p:spPr>
          <a:xfrm>
            <a:off x="6563584" y="2505075"/>
            <a:ext cx="5219113"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7" name="Segnaposto data 6">
            <a:extLst>
              <a:ext uri="{FF2B5EF4-FFF2-40B4-BE49-F238E27FC236}">
                <a16:creationId xmlns:a16="http://schemas.microsoft.com/office/drawing/2014/main" id="{7AAF0436-58B6-47F6-8E11-84D919C7EDD5}"/>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8" name="Segnaposto piè di pagina 7">
            <a:extLst>
              <a:ext uri="{FF2B5EF4-FFF2-40B4-BE49-F238E27FC236}">
                <a16:creationId xmlns:a16="http://schemas.microsoft.com/office/drawing/2014/main" id="{3CE0F1DC-C34B-4F16-A8A1-59B2D4B6A93E}"/>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FF69F79A-A6ED-473E-82AC-E596A5C35CF6}"/>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1661269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3183397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577963-0FD6-4635-A1A8-B7BCF35F3DB8}"/>
              </a:ext>
            </a:extLst>
          </p:cNvPr>
          <p:cNvSpPr>
            <a:spLocks noGrp="1"/>
          </p:cNvSpPr>
          <p:nvPr>
            <p:ph type="title"/>
          </p:nvPr>
        </p:nvSpPr>
        <p:spPr>
          <a:xfrm>
            <a:off x="576776" y="1587657"/>
            <a:ext cx="4360984" cy="888865"/>
          </a:xfrm>
        </p:spPr>
        <p:txBody>
          <a:bodyPr anchor="b"/>
          <a:lstStyle>
            <a:lvl1pPr>
              <a:defRPr sz="3200">
                <a:solidFill>
                  <a:srgbClr val="0B78BD"/>
                </a:solidFill>
              </a:defRPr>
            </a:lvl1pPr>
          </a:lstStyle>
          <a:p>
            <a:endParaRPr lang="it-IT" dirty="0"/>
          </a:p>
        </p:txBody>
      </p:sp>
      <p:sp>
        <p:nvSpPr>
          <p:cNvPr id="3" name="Segnaposto contenuto 2">
            <a:extLst>
              <a:ext uri="{FF2B5EF4-FFF2-40B4-BE49-F238E27FC236}">
                <a16:creationId xmlns:a16="http://schemas.microsoft.com/office/drawing/2014/main" id="{A56285E0-D2CF-45EC-824F-708C57150102}"/>
              </a:ext>
            </a:extLst>
          </p:cNvPr>
          <p:cNvSpPr>
            <a:spLocks noGrp="1"/>
          </p:cNvSpPr>
          <p:nvPr>
            <p:ph idx="1"/>
          </p:nvPr>
        </p:nvSpPr>
        <p:spPr>
          <a:xfrm>
            <a:off x="5552031" y="1587657"/>
            <a:ext cx="6230666" cy="4544968"/>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testo 3">
            <a:extLst>
              <a:ext uri="{FF2B5EF4-FFF2-40B4-BE49-F238E27FC236}">
                <a16:creationId xmlns:a16="http://schemas.microsoft.com/office/drawing/2014/main" id="{3085BD09-F8F1-4CF7-88B9-307E74D0BF7C}"/>
              </a:ext>
            </a:extLst>
          </p:cNvPr>
          <p:cNvSpPr>
            <a:spLocks noGrp="1"/>
          </p:cNvSpPr>
          <p:nvPr>
            <p:ph type="body" sz="half" idx="2"/>
          </p:nvPr>
        </p:nvSpPr>
        <p:spPr>
          <a:xfrm>
            <a:off x="576776" y="2880880"/>
            <a:ext cx="4360984" cy="325174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870B2838-7774-49C1-8FBD-409204B26A84}"/>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99A51A0-997F-4635-8FEA-B4232644B8D3}"/>
              </a:ext>
            </a:extLst>
          </p:cNvPr>
          <p:cNvSpPr>
            <a:spLocks noGrp="1"/>
          </p:cNvSpPr>
          <p:nvPr>
            <p:ph type="ftr" sz="quarter" idx="11"/>
          </p:nvPr>
        </p:nvSpPr>
        <p:spPr/>
        <p:txBody>
          <a:bodyPr/>
          <a:lstStyle/>
          <a:p>
            <a:endParaRPr lang="it-IT"/>
          </a:p>
        </p:txBody>
      </p:sp>
      <p:sp>
        <p:nvSpPr>
          <p:cNvPr id="10" name="Segnaposto titolo 1">
            <a:extLst>
              <a:ext uri="{FF2B5EF4-FFF2-40B4-BE49-F238E27FC236}">
                <a16:creationId xmlns:a16="http://schemas.microsoft.com/office/drawing/2014/main" id="{79FE1DD2-21EE-470A-9002-2A465A11EC14}"/>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chemeClr val="bg1"/>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12041257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5C9793-0D22-47FF-B7AF-15663D5AAA52}"/>
              </a:ext>
            </a:extLst>
          </p:cNvPr>
          <p:cNvSpPr>
            <a:spLocks noGrp="1"/>
          </p:cNvSpPr>
          <p:nvPr>
            <p:ph type="title"/>
          </p:nvPr>
        </p:nvSpPr>
        <p:spPr>
          <a:xfrm>
            <a:off x="576776" y="1528096"/>
            <a:ext cx="4360984" cy="1031965"/>
          </a:xfrm>
        </p:spPr>
        <p:txBody>
          <a:bodyPr anchor="b"/>
          <a:lstStyle>
            <a:lvl1pPr>
              <a:defRPr sz="3200">
                <a:solidFill>
                  <a:srgbClr val="0B78BD"/>
                </a:solidFill>
                <a:latin typeface="+mn-lt"/>
              </a:defRPr>
            </a:lvl1pPr>
          </a:lstStyle>
          <a:p>
            <a:endParaRPr lang="it-IT" dirty="0"/>
          </a:p>
        </p:txBody>
      </p:sp>
      <p:sp>
        <p:nvSpPr>
          <p:cNvPr id="3" name="Segnaposto immagine 2">
            <a:extLst>
              <a:ext uri="{FF2B5EF4-FFF2-40B4-BE49-F238E27FC236}">
                <a16:creationId xmlns:a16="http://schemas.microsoft.com/office/drawing/2014/main" id="{3CCCD409-2A98-495F-9E05-476EDBD282E4}"/>
              </a:ext>
            </a:extLst>
          </p:cNvPr>
          <p:cNvSpPr>
            <a:spLocks noGrp="1"/>
          </p:cNvSpPr>
          <p:nvPr>
            <p:ph type="pic" idx="1"/>
          </p:nvPr>
        </p:nvSpPr>
        <p:spPr>
          <a:xfrm>
            <a:off x="5753687" y="1515291"/>
            <a:ext cx="6029010" cy="434575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1B9D9E80-627A-4D17-9029-E14C8D64554E}"/>
              </a:ext>
            </a:extLst>
          </p:cNvPr>
          <p:cNvSpPr>
            <a:spLocks noGrp="1"/>
          </p:cNvSpPr>
          <p:nvPr>
            <p:ph type="body" sz="half" idx="2"/>
          </p:nvPr>
        </p:nvSpPr>
        <p:spPr>
          <a:xfrm>
            <a:off x="576776" y="2807711"/>
            <a:ext cx="4360984" cy="309966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76802470-52B8-47E4-BB8D-82F7917C3C1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6AF4365-DBFC-499C-9A07-D4D2E10D012F}"/>
              </a:ext>
            </a:extLst>
          </p:cNvPr>
          <p:cNvSpPr>
            <a:spLocks noGrp="1"/>
          </p:cNvSpPr>
          <p:nvPr>
            <p:ph type="ftr" sz="quarter" idx="11"/>
          </p:nvPr>
        </p:nvSpPr>
        <p:spPr/>
        <p:txBody>
          <a:bodyPr/>
          <a:lstStyle/>
          <a:p>
            <a:endParaRPr lang="it-IT"/>
          </a:p>
        </p:txBody>
      </p:sp>
      <p:sp>
        <p:nvSpPr>
          <p:cNvPr id="10" name="Segnaposto titolo 1">
            <a:extLst>
              <a:ext uri="{FF2B5EF4-FFF2-40B4-BE49-F238E27FC236}">
                <a16:creationId xmlns:a16="http://schemas.microsoft.com/office/drawing/2014/main" id="{FFE944BF-EBE0-41F2-8211-C03DD2ED131E}"/>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chemeClr val="bg1"/>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3711681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olo e testo verticale">
    <p:spTree>
      <p:nvGrpSpPr>
        <p:cNvPr id="1" name=""/>
        <p:cNvGrpSpPr/>
        <p:nvPr/>
      </p:nvGrpSpPr>
      <p:grpSpPr>
        <a:xfrm>
          <a:off x="0" y="0"/>
          <a:ext cx="0" cy="0"/>
          <a:chOff x="0" y="0"/>
          <a:chExt cx="0" cy="0"/>
        </a:xfrm>
      </p:grpSpPr>
      <p:sp>
        <p:nvSpPr>
          <p:cNvPr id="3" name="Segnaposto testo verticale 2">
            <a:extLst>
              <a:ext uri="{FF2B5EF4-FFF2-40B4-BE49-F238E27FC236}">
                <a16:creationId xmlns:a16="http://schemas.microsoft.com/office/drawing/2014/main" id="{8F76DF86-3239-4301-B70B-A13C8ABA856A}"/>
              </a:ext>
            </a:extLst>
          </p:cNvPr>
          <p:cNvSpPr>
            <a:spLocks noGrp="1"/>
          </p:cNvSpPr>
          <p:nvPr>
            <p:ph type="body" orient="vert" idx="1"/>
          </p:nvPr>
        </p:nvSpPr>
        <p:spPr/>
        <p:txBody>
          <a:bodyPr vert="eaVert"/>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DA96C9C4-33F1-4020-8250-3D1B97B5C41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AAD5C8DC-1645-450C-9B4E-D669ED3CB47A}"/>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A3481035-E8B5-4DD5-8880-5DE2CCECAFAE}"/>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8900382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3D8386C-D3E1-4E69-B768-5BEB28C40A40}"/>
              </a:ext>
            </a:extLst>
          </p:cNvPr>
          <p:cNvSpPr>
            <a:spLocks noGrp="1"/>
          </p:cNvSpPr>
          <p:nvPr>
            <p:ph type="title" orient="vert"/>
          </p:nvPr>
        </p:nvSpPr>
        <p:spPr>
          <a:xfrm>
            <a:off x="9153797" y="1554479"/>
            <a:ext cx="2628900" cy="4622484"/>
          </a:xfrm>
        </p:spPr>
        <p:txBody>
          <a:bodyPr vert="eaVert"/>
          <a:lstStyle>
            <a:lvl1pPr>
              <a:defRPr>
                <a:solidFill>
                  <a:srgbClr val="0B78BD"/>
                </a:solidFill>
              </a:defRPr>
            </a:lvl1pPr>
          </a:lstStyle>
          <a:p>
            <a:r>
              <a:rPr lang="it-IT" dirty="0"/>
              <a:t>Fare clic per modificare lo stile del titolo dello schema</a:t>
            </a:r>
          </a:p>
        </p:txBody>
      </p:sp>
      <p:sp>
        <p:nvSpPr>
          <p:cNvPr id="3" name="Segnaposto testo verticale 2">
            <a:extLst>
              <a:ext uri="{FF2B5EF4-FFF2-40B4-BE49-F238E27FC236}">
                <a16:creationId xmlns:a16="http://schemas.microsoft.com/office/drawing/2014/main" id="{7640F96A-A1E5-4D89-80FC-898C746DECAF}"/>
              </a:ext>
            </a:extLst>
          </p:cNvPr>
          <p:cNvSpPr>
            <a:spLocks noGrp="1"/>
          </p:cNvSpPr>
          <p:nvPr>
            <p:ph type="body" orient="vert" idx="1"/>
          </p:nvPr>
        </p:nvSpPr>
        <p:spPr>
          <a:xfrm>
            <a:off x="1619793" y="1554479"/>
            <a:ext cx="7534003" cy="4622483"/>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661DD45-3A69-404E-8FF2-1C4D2905171F}"/>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7303782C-43DE-45B5-A0FE-964602A910B7}"/>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9EE02F72-0479-433E-8790-EFB53CB0BF09}"/>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a:t>Fare clic per modificare lo stile del titolo </a:t>
            </a:r>
            <a:endParaRPr lang="it-IT" dirty="0"/>
          </a:p>
        </p:txBody>
      </p:sp>
    </p:spTree>
    <p:extLst>
      <p:ext uri="{BB962C8B-B14F-4D97-AF65-F5344CB8AC3E}">
        <p14:creationId xmlns:p14="http://schemas.microsoft.com/office/powerpoint/2010/main" val="34930921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ponsor">
    <p:bg>
      <p:bgPr>
        <a:solidFill>
          <a:srgbClr val="2980B9"/>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093F780-3792-B716-DF8B-9B207C0219E3}"/>
              </a:ext>
            </a:extLst>
          </p:cNvPr>
          <p:cNvSpPr>
            <a:spLocks noGrp="1"/>
          </p:cNvSpPr>
          <p:nvPr>
            <p:ph type="title" hasCustomPrompt="1"/>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t>SPONSOR</a:t>
            </a:r>
          </a:p>
        </p:txBody>
      </p:sp>
      <p:pic>
        <p:nvPicPr>
          <p:cNvPr id="3" name="Picture 2">
            <a:extLst>
              <a:ext uri="{FF2B5EF4-FFF2-40B4-BE49-F238E27FC236}">
                <a16:creationId xmlns:a16="http://schemas.microsoft.com/office/drawing/2014/main" id="{64E909C6-DF0D-DE15-8B93-92695214EC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50680" y="3559717"/>
            <a:ext cx="2942997" cy="771039"/>
          </a:xfrm>
          <a:prstGeom prst="rect">
            <a:avLst/>
          </a:prstGeom>
        </p:spPr>
      </p:pic>
      <p:pic>
        <p:nvPicPr>
          <p:cNvPr id="6" name="Picture 2" descr="Deutsch">
            <a:extLst>
              <a:ext uri="{FF2B5EF4-FFF2-40B4-BE49-F238E27FC236}">
                <a16:creationId xmlns:a16="http://schemas.microsoft.com/office/drawing/2014/main" id="{963216CC-5A04-9AF1-8CD2-A6030DAA2D9E}"/>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9642" r="11546"/>
          <a:stretch/>
        </p:blipFill>
        <p:spPr bwMode="auto">
          <a:xfrm>
            <a:off x="1198323" y="3222650"/>
            <a:ext cx="2478065" cy="13101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23C5F0A-A16B-1A40-47EF-E16B206B618F}"/>
              </a:ext>
            </a:extLst>
          </p:cNvPr>
          <p:cNvPicPr>
            <a:picLocks noChangeAspect="1"/>
          </p:cNvPicPr>
          <p:nvPr userDrawn="1"/>
        </p:nvPicPr>
        <p:blipFill>
          <a:blip r:embed="rId4"/>
          <a:srcRect b="44560"/>
          <a:stretch>
            <a:fillRect/>
          </a:stretch>
        </p:blipFill>
        <p:spPr>
          <a:xfrm>
            <a:off x="5121223" y="3751748"/>
            <a:ext cx="1785606" cy="386979"/>
          </a:xfrm>
          <a:prstGeom prst="rect">
            <a:avLst/>
          </a:prstGeom>
        </p:spPr>
      </p:pic>
    </p:spTree>
    <p:extLst>
      <p:ext uri="{BB962C8B-B14F-4D97-AF65-F5344CB8AC3E}">
        <p14:creationId xmlns:p14="http://schemas.microsoft.com/office/powerpoint/2010/main" val="18331734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76303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Dem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8A769-0733-E91B-A402-21DD319B4E9C}"/>
              </a:ext>
            </a:extLst>
          </p:cNvPr>
          <p:cNvSpPr>
            <a:spLocks noGrp="1"/>
          </p:cNvSpPr>
          <p:nvPr>
            <p:ph type="title" hasCustomPrompt="1"/>
          </p:nvPr>
        </p:nvSpPr>
        <p:spPr>
          <a:xfrm>
            <a:off x="881406" y="2891508"/>
            <a:ext cx="10515600" cy="1325563"/>
          </a:xfrm>
          <a:prstGeom prst="rect">
            <a:avLst/>
          </a:prstGeom>
        </p:spPr>
        <p:txBody>
          <a:bodyPr anchor="ctr"/>
          <a:lstStyle>
            <a:lvl1pPr algn="ctr">
              <a:defRPr sz="8000">
                <a:solidFill>
                  <a:schemeClr val="bg1"/>
                </a:solidFill>
              </a:defRPr>
            </a:lvl1pPr>
          </a:lstStyle>
          <a:p>
            <a:r>
              <a:rPr lang="en-US" dirty="0"/>
              <a:t>DEMO</a:t>
            </a:r>
            <a:endParaRPr lang="it-IT" dirty="0"/>
          </a:p>
        </p:txBody>
      </p:sp>
      <p:pic>
        <p:nvPicPr>
          <p:cNvPr id="5" name="Picture 4">
            <a:extLst>
              <a:ext uri="{FF2B5EF4-FFF2-40B4-BE49-F238E27FC236}">
                <a16:creationId xmlns:a16="http://schemas.microsoft.com/office/drawing/2014/main" id="{F9929FF4-8E52-4BE4-4128-D3CFE846C1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25296" y="-256954"/>
            <a:ext cx="3341408" cy="2227606"/>
          </a:xfrm>
          <a:prstGeom prst="rect">
            <a:avLst/>
          </a:prstGeom>
        </p:spPr>
      </p:pic>
      <p:pic>
        <p:nvPicPr>
          <p:cNvPr id="4" name="Picture 3">
            <a:extLst>
              <a:ext uri="{FF2B5EF4-FFF2-40B4-BE49-F238E27FC236}">
                <a16:creationId xmlns:a16="http://schemas.microsoft.com/office/drawing/2014/main" id="{5ECFF343-FC71-0874-141A-1219EBAC1019}"/>
              </a:ext>
            </a:extLst>
          </p:cNvPr>
          <p:cNvPicPr>
            <a:picLocks noChangeAspect="1"/>
          </p:cNvPicPr>
          <p:nvPr userDrawn="1"/>
        </p:nvPicPr>
        <p:blipFill>
          <a:blip r:embed="rId3"/>
          <a:srcRect l="27280" t="23642" r="27655" b="39536"/>
          <a:stretch>
            <a:fillRect/>
          </a:stretch>
        </p:blipFill>
        <p:spPr>
          <a:xfrm>
            <a:off x="6665874" y="1162557"/>
            <a:ext cx="800738" cy="312578"/>
          </a:xfrm>
          <a:prstGeom prst="rect">
            <a:avLst/>
          </a:prstGeom>
        </p:spPr>
      </p:pic>
      <p:pic>
        <p:nvPicPr>
          <p:cNvPr id="6" name="Picture 5">
            <a:extLst>
              <a:ext uri="{FF2B5EF4-FFF2-40B4-BE49-F238E27FC236}">
                <a16:creationId xmlns:a16="http://schemas.microsoft.com/office/drawing/2014/main" id="{97E59BEA-6962-B718-DA69-CB6353513035}"/>
              </a:ext>
            </a:extLst>
          </p:cNvPr>
          <p:cNvPicPr>
            <a:picLocks noChangeAspect="1"/>
          </p:cNvPicPr>
          <p:nvPr userDrawn="1"/>
        </p:nvPicPr>
        <p:blipFill>
          <a:blip r:embed="rId4"/>
          <a:stretch>
            <a:fillRect/>
          </a:stretch>
        </p:blipFill>
        <p:spPr>
          <a:xfrm>
            <a:off x="158974" y="5768964"/>
            <a:ext cx="2195378" cy="831502"/>
          </a:xfrm>
          <a:prstGeom prst="rect">
            <a:avLst/>
          </a:prstGeom>
        </p:spPr>
      </p:pic>
      <p:pic>
        <p:nvPicPr>
          <p:cNvPr id="10" name="Picture 9">
            <a:extLst>
              <a:ext uri="{FF2B5EF4-FFF2-40B4-BE49-F238E27FC236}">
                <a16:creationId xmlns:a16="http://schemas.microsoft.com/office/drawing/2014/main" id="{95A4788F-D708-EE0C-EA21-AFBF25B7CB5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744505" y="5898410"/>
            <a:ext cx="3662682" cy="959590"/>
          </a:xfrm>
          <a:prstGeom prst="rect">
            <a:avLst/>
          </a:prstGeom>
        </p:spPr>
      </p:pic>
      <p:pic>
        <p:nvPicPr>
          <p:cNvPr id="12" name="Picture 2" descr="Deutsch">
            <a:extLst>
              <a:ext uri="{FF2B5EF4-FFF2-40B4-BE49-F238E27FC236}">
                <a16:creationId xmlns:a16="http://schemas.microsoft.com/office/drawing/2014/main" id="{7784792C-02ED-FEAB-248C-DCAC237B6374}"/>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9642" r="11546"/>
          <a:stretch/>
        </p:blipFill>
        <p:spPr bwMode="auto">
          <a:xfrm>
            <a:off x="4067760" y="5714920"/>
            <a:ext cx="2185816" cy="115561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383BD2B7-3AD3-A11B-1B7A-59AC8ADB43E9}"/>
              </a:ext>
            </a:extLst>
          </p:cNvPr>
          <p:cNvPicPr>
            <a:picLocks noChangeAspect="1"/>
          </p:cNvPicPr>
          <p:nvPr userDrawn="1"/>
        </p:nvPicPr>
        <p:blipFill>
          <a:blip r:embed="rId7"/>
          <a:srcRect b="44560"/>
          <a:stretch>
            <a:fillRect/>
          </a:stretch>
        </p:blipFill>
        <p:spPr>
          <a:xfrm>
            <a:off x="6606238" y="6184715"/>
            <a:ext cx="1785606" cy="386979"/>
          </a:xfrm>
          <a:prstGeom prst="rect">
            <a:avLst/>
          </a:prstGeom>
        </p:spPr>
      </p:pic>
    </p:spTree>
    <p:extLst>
      <p:ext uri="{BB962C8B-B14F-4D97-AF65-F5344CB8AC3E}">
        <p14:creationId xmlns:p14="http://schemas.microsoft.com/office/powerpoint/2010/main" val="35773689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1AC213-F388-4E21-98C4-36E6E89F2D9A}"/>
              </a:ext>
            </a:extLst>
          </p:cNvPr>
          <p:cNvSpPr>
            <a:spLocks noGrp="1"/>
          </p:cNvSpPr>
          <p:nvPr>
            <p:ph type="ctrTitle"/>
          </p:nvPr>
        </p:nvSpPr>
        <p:spPr>
          <a:xfrm>
            <a:off x="1523999" y="1600200"/>
            <a:ext cx="10258698" cy="2387600"/>
          </a:xfrm>
        </p:spPr>
        <p:txBody>
          <a:bodyPr anchor="ctr"/>
          <a:lstStyle>
            <a:lvl1pPr algn="ctr">
              <a:defRPr sz="4400">
                <a:latin typeface="+mn-lt"/>
              </a:defRPr>
            </a:lvl1pPr>
          </a:lstStyle>
          <a:p>
            <a:r>
              <a:rPr lang="it-IT" dirty="0"/>
              <a:t>Fare clic per modificare lo stile del titolo dello schema</a:t>
            </a:r>
          </a:p>
        </p:txBody>
      </p:sp>
      <p:sp>
        <p:nvSpPr>
          <p:cNvPr id="3" name="Sottotitolo 2">
            <a:extLst>
              <a:ext uri="{FF2B5EF4-FFF2-40B4-BE49-F238E27FC236}">
                <a16:creationId xmlns:a16="http://schemas.microsoft.com/office/drawing/2014/main" id="{2816E0C6-E17F-4FDB-8980-765ACC03A172}"/>
              </a:ext>
            </a:extLst>
          </p:cNvPr>
          <p:cNvSpPr>
            <a:spLocks noGrp="1"/>
          </p:cNvSpPr>
          <p:nvPr>
            <p:ph type="subTitle" idx="1"/>
          </p:nvPr>
        </p:nvSpPr>
        <p:spPr>
          <a:xfrm>
            <a:off x="1523999" y="4344194"/>
            <a:ext cx="10258697"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AA79011E-D390-43E9-A2A7-33EA50B34A2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D52116E-899F-443D-9DAC-ADEC6441CF29}"/>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974020F4-9E0A-40BD-8784-A68D91CBF059}"/>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a:t>Fare clic per modificare lo stile del titolo </a:t>
            </a:r>
            <a:endParaRPr lang="it-IT" dirty="0"/>
          </a:p>
        </p:txBody>
      </p:sp>
    </p:spTree>
    <p:extLst>
      <p:ext uri="{BB962C8B-B14F-4D97-AF65-F5344CB8AC3E}">
        <p14:creationId xmlns:p14="http://schemas.microsoft.com/office/powerpoint/2010/main" val="18480298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924B6594-436E-4CB3-AD0B-3DF1CF78567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B579950-EAE6-44C5-8A5A-B17F721DAEB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BD6E3443-EB60-437C-AB50-5D4C81480687}"/>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0965ADC6-875C-482E-A5A7-491A1C4430FA}"/>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6077736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60E1D9-830C-42E5-B43B-29DB0C744A32}"/>
              </a:ext>
            </a:extLst>
          </p:cNvPr>
          <p:cNvSpPr>
            <a:spLocks noGrp="1"/>
          </p:cNvSpPr>
          <p:nvPr>
            <p:ph type="title"/>
          </p:nvPr>
        </p:nvSpPr>
        <p:spPr>
          <a:xfrm>
            <a:off x="1619794" y="1736726"/>
            <a:ext cx="10162903"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59591FCF-D95B-487B-A7A1-F791F33EB6EB}"/>
              </a:ext>
            </a:extLst>
          </p:cNvPr>
          <p:cNvSpPr>
            <a:spLocks noGrp="1"/>
          </p:cNvSpPr>
          <p:nvPr>
            <p:ph type="body" idx="1"/>
          </p:nvPr>
        </p:nvSpPr>
        <p:spPr>
          <a:xfrm>
            <a:off x="1619794" y="4596754"/>
            <a:ext cx="10162903"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1A098EBC-55A3-4699-8138-556E5BB637D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6C5592B-641A-418A-A3A0-1A3EA60A3B17}"/>
              </a:ext>
            </a:extLst>
          </p:cNvPr>
          <p:cNvSpPr>
            <a:spLocks noGrp="1"/>
          </p:cNvSpPr>
          <p:nvPr>
            <p:ph type="ftr" sz="quarter" idx="11"/>
          </p:nvPr>
        </p:nvSpPr>
        <p:spPr/>
        <p:txBody>
          <a:bodyPr/>
          <a:lstStyle/>
          <a:p>
            <a:endParaRPr lang="it-IT"/>
          </a:p>
        </p:txBody>
      </p:sp>
      <p:sp>
        <p:nvSpPr>
          <p:cNvPr id="8" name="Segnaposto titolo 1">
            <a:extLst>
              <a:ext uri="{FF2B5EF4-FFF2-40B4-BE49-F238E27FC236}">
                <a16:creationId xmlns:a16="http://schemas.microsoft.com/office/drawing/2014/main" id="{8C1A526D-BDB6-48B9-BE01-73554F395FF1}"/>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4291266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4DDB07BF-6C79-4467-ACB1-0767E3771EDC}"/>
              </a:ext>
            </a:extLst>
          </p:cNvPr>
          <p:cNvSpPr>
            <a:spLocks noGrp="1"/>
          </p:cNvSpPr>
          <p:nvPr>
            <p:ph sz="half" idx="1"/>
          </p:nvPr>
        </p:nvSpPr>
        <p:spPr>
          <a:xfrm>
            <a:off x="1607193" y="1825625"/>
            <a:ext cx="4713052"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AA3F5DFD-F0C1-4DC6-875A-D8417FB428B1}"/>
              </a:ext>
            </a:extLst>
          </p:cNvPr>
          <p:cNvSpPr>
            <a:spLocks noGrp="1"/>
          </p:cNvSpPr>
          <p:nvPr>
            <p:ph sz="half" idx="2"/>
          </p:nvPr>
        </p:nvSpPr>
        <p:spPr>
          <a:xfrm>
            <a:off x="6897189" y="1825625"/>
            <a:ext cx="4885508"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3255D52C-1AD6-485F-97E2-A18AE2C9BBE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606CB1CD-EEE9-47F1-B168-D7DCFBDB8307}"/>
              </a:ext>
            </a:extLst>
          </p:cNvPr>
          <p:cNvSpPr>
            <a:spLocks noGrp="1"/>
          </p:cNvSpPr>
          <p:nvPr>
            <p:ph type="ftr" sz="quarter" idx="11"/>
          </p:nvPr>
        </p:nvSpPr>
        <p:spPr/>
        <p:txBody>
          <a:bodyPr/>
          <a:lstStyle/>
          <a:p>
            <a:endParaRPr lang="it-IT"/>
          </a:p>
        </p:txBody>
      </p:sp>
      <p:sp>
        <p:nvSpPr>
          <p:cNvPr id="7" name="Segnaposto titolo 1">
            <a:extLst>
              <a:ext uri="{FF2B5EF4-FFF2-40B4-BE49-F238E27FC236}">
                <a16:creationId xmlns:a16="http://schemas.microsoft.com/office/drawing/2014/main" id="{B915A429-AA51-465F-99BF-0EDBF7ED997B}"/>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6022485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fronto">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28A0B334-5A2E-420D-B34F-0C59C82F6877}"/>
              </a:ext>
            </a:extLst>
          </p:cNvPr>
          <p:cNvSpPr>
            <a:spLocks noGrp="1"/>
          </p:cNvSpPr>
          <p:nvPr>
            <p:ph type="body" idx="1"/>
          </p:nvPr>
        </p:nvSpPr>
        <p:spPr>
          <a:xfrm>
            <a:off x="1619795" y="1681163"/>
            <a:ext cx="487244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4" name="Segnaposto contenuto 3">
            <a:extLst>
              <a:ext uri="{FF2B5EF4-FFF2-40B4-BE49-F238E27FC236}">
                <a16:creationId xmlns:a16="http://schemas.microsoft.com/office/drawing/2014/main" id="{F3888714-BC9E-4F0C-9BCB-271CD43D7529}"/>
              </a:ext>
            </a:extLst>
          </p:cNvPr>
          <p:cNvSpPr>
            <a:spLocks noGrp="1"/>
          </p:cNvSpPr>
          <p:nvPr>
            <p:ph sz="half" idx="2"/>
          </p:nvPr>
        </p:nvSpPr>
        <p:spPr>
          <a:xfrm>
            <a:off x="1619795" y="2505075"/>
            <a:ext cx="4872446"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testo 4">
            <a:extLst>
              <a:ext uri="{FF2B5EF4-FFF2-40B4-BE49-F238E27FC236}">
                <a16:creationId xmlns:a16="http://schemas.microsoft.com/office/drawing/2014/main" id="{59DBCF60-51E3-49AF-B7E7-0E0D5D215F6E}"/>
              </a:ext>
            </a:extLst>
          </p:cNvPr>
          <p:cNvSpPr>
            <a:spLocks noGrp="1"/>
          </p:cNvSpPr>
          <p:nvPr>
            <p:ph type="body" sz="quarter" idx="3"/>
          </p:nvPr>
        </p:nvSpPr>
        <p:spPr>
          <a:xfrm>
            <a:off x="6910251" y="1681163"/>
            <a:ext cx="487244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6" name="Segnaposto contenuto 5">
            <a:extLst>
              <a:ext uri="{FF2B5EF4-FFF2-40B4-BE49-F238E27FC236}">
                <a16:creationId xmlns:a16="http://schemas.microsoft.com/office/drawing/2014/main" id="{C5EE61DC-AAA5-4E2D-BF46-D00329A5C184}"/>
              </a:ext>
            </a:extLst>
          </p:cNvPr>
          <p:cNvSpPr>
            <a:spLocks noGrp="1"/>
          </p:cNvSpPr>
          <p:nvPr>
            <p:ph sz="quarter" idx="4"/>
          </p:nvPr>
        </p:nvSpPr>
        <p:spPr>
          <a:xfrm>
            <a:off x="6910251" y="2505075"/>
            <a:ext cx="4872446"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7" name="Segnaposto data 6">
            <a:extLst>
              <a:ext uri="{FF2B5EF4-FFF2-40B4-BE49-F238E27FC236}">
                <a16:creationId xmlns:a16="http://schemas.microsoft.com/office/drawing/2014/main" id="{7AAF0436-58B6-47F6-8E11-84D919C7EDD5}"/>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8" name="Segnaposto piè di pagina 7">
            <a:extLst>
              <a:ext uri="{FF2B5EF4-FFF2-40B4-BE49-F238E27FC236}">
                <a16:creationId xmlns:a16="http://schemas.microsoft.com/office/drawing/2014/main" id="{3CE0F1DC-C34B-4F16-A8A1-59B2D4B6A93E}"/>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FF69F79A-A6ED-473E-82AC-E596A5C35CF6}"/>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42416754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data 2">
            <a:extLst>
              <a:ext uri="{FF2B5EF4-FFF2-40B4-BE49-F238E27FC236}">
                <a16:creationId xmlns:a16="http://schemas.microsoft.com/office/drawing/2014/main" id="{93497BDC-F780-482A-B00D-623003EBCC4C}"/>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4" name="Segnaposto piè di pagina 3">
            <a:extLst>
              <a:ext uri="{FF2B5EF4-FFF2-40B4-BE49-F238E27FC236}">
                <a16:creationId xmlns:a16="http://schemas.microsoft.com/office/drawing/2014/main" id="{9DF9F76F-F710-4222-8AE8-D8EF547FE2E9}"/>
              </a:ext>
            </a:extLst>
          </p:cNvPr>
          <p:cNvSpPr>
            <a:spLocks noGrp="1"/>
          </p:cNvSpPr>
          <p:nvPr>
            <p:ph type="ftr" sz="quarter" idx="11"/>
          </p:nvPr>
        </p:nvSpPr>
        <p:spPr/>
        <p:txBody>
          <a:bodyPr/>
          <a:lstStyle/>
          <a:p>
            <a:endParaRPr lang="it-IT" dirty="0"/>
          </a:p>
        </p:txBody>
      </p:sp>
      <p:sp>
        <p:nvSpPr>
          <p:cNvPr id="5" name="Segnaposto titolo 1">
            <a:extLst>
              <a:ext uri="{FF2B5EF4-FFF2-40B4-BE49-F238E27FC236}">
                <a16:creationId xmlns:a16="http://schemas.microsoft.com/office/drawing/2014/main" id="{5F8448A6-BA0D-48F5-901B-CA9C0E8926F6}"/>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31676887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52777D80-3793-46C5-9B6B-BF992CAF3CCE}"/>
              </a:ext>
            </a:extLst>
          </p:cNvPr>
          <p:cNvSpPr/>
          <p:nvPr userDrawn="1"/>
        </p:nvSpPr>
        <p:spPr>
          <a:xfrm>
            <a:off x="0" y="6195216"/>
            <a:ext cx="12192000" cy="662783"/>
          </a:xfrm>
          <a:prstGeom prst="rect">
            <a:avLst/>
          </a:prstGeom>
          <a:solidFill>
            <a:srgbClr val="EFD4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p:txBody>
          <a:bodyPr/>
          <a:lstStyle>
            <a:lvl1pPr>
              <a:defRPr>
                <a:solidFill>
                  <a:schemeClr val="bg1"/>
                </a:solidFill>
              </a:defRPr>
            </a:lvl1pPr>
          </a:lstStyle>
          <a:p>
            <a:r>
              <a:rPr lang="it-IT" dirty="0"/>
              <a:t>#AzureDayRome</a:t>
            </a:r>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p:txBody>
          <a:bodyPr/>
          <a:lstStyle>
            <a:lvl1pPr>
              <a:defRPr>
                <a:solidFill>
                  <a:schemeClr val="bg1"/>
                </a:solidFill>
              </a:defRPr>
            </a:lvl1pPr>
          </a:lstStyle>
          <a:p>
            <a:endParaRPr lang="it-IT" dirty="0"/>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31796267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577963-0FD6-4635-A1A8-B7BCF35F3DB8}"/>
              </a:ext>
            </a:extLst>
          </p:cNvPr>
          <p:cNvSpPr>
            <a:spLocks noGrp="1"/>
          </p:cNvSpPr>
          <p:nvPr>
            <p:ph type="title"/>
          </p:nvPr>
        </p:nvSpPr>
        <p:spPr>
          <a:xfrm>
            <a:off x="1619794" y="1587657"/>
            <a:ext cx="3932237" cy="888865"/>
          </a:xfrm>
        </p:spPr>
        <p:txBody>
          <a:bodyPr anchor="b"/>
          <a:lstStyle>
            <a:lvl1pPr>
              <a:defRPr sz="3200">
                <a:solidFill>
                  <a:srgbClr val="3B3838"/>
                </a:solidFill>
              </a:defRPr>
            </a:lvl1pPr>
          </a:lstStyle>
          <a:p>
            <a:endParaRPr lang="it-IT" dirty="0"/>
          </a:p>
        </p:txBody>
      </p:sp>
      <p:sp>
        <p:nvSpPr>
          <p:cNvPr id="3" name="Segnaposto contenuto 2">
            <a:extLst>
              <a:ext uri="{FF2B5EF4-FFF2-40B4-BE49-F238E27FC236}">
                <a16:creationId xmlns:a16="http://schemas.microsoft.com/office/drawing/2014/main" id="{A56285E0-D2CF-45EC-824F-708C57150102}"/>
              </a:ext>
            </a:extLst>
          </p:cNvPr>
          <p:cNvSpPr>
            <a:spLocks noGrp="1"/>
          </p:cNvSpPr>
          <p:nvPr>
            <p:ph idx="1"/>
          </p:nvPr>
        </p:nvSpPr>
        <p:spPr>
          <a:xfrm>
            <a:off x="5839097" y="1587657"/>
            <a:ext cx="5943600" cy="4544968"/>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testo 3">
            <a:extLst>
              <a:ext uri="{FF2B5EF4-FFF2-40B4-BE49-F238E27FC236}">
                <a16:creationId xmlns:a16="http://schemas.microsoft.com/office/drawing/2014/main" id="{3085BD09-F8F1-4CF7-88B9-307E74D0BF7C}"/>
              </a:ext>
            </a:extLst>
          </p:cNvPr>
          <p:cNvSpPr>
            <a:spLocks noGrp="1"/>
          </p:cNvSpPr>
          <p:nvPr>
            <p:ph type="body" sz="half" idx="2"/>
          </p:nvPr>
        </p:nvSpPr>
        <p:spPr>
          <a:xfrm>
            <a:off x="1619794" y="2880880"/>
            <a:ext cx="3932237" cy="325174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870B2838-7774-49C1-8FBD-409204B26A84}"/>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99A51A0-997F-4635-8FEA-B4232644B8D3}"/>
              </a:ext>
            </a:extLst>
          </p:cNvPr>
          <p:cNvSpPr>
            <a:spLocks noGrp="1"/>
          </p:cNvSpPr>
          <p:nvPr>
            <p:ph type="ftr" sz="quarter" idx="11"/>
          </p:nvPr>
        </p:nvSpPr>
        <p:spPr/>
        <p:txBody>
          <a:bodyPr/>
          <a:lstStyle/>
          <a:p>
            <a:endParaRPr lang="it-IT"/>
          </a:p>
        </p:txBody>
      </p:sp>
      <p:sp>
        <p:nvSpPr>
          <p:cNvPr id="8" name="Segnaposto titolo 1">
            <a:extLst>
              <a:ext uri="{FF2B5EF4-FFF2-40B4-BE49-F238E27FC236}">
                <a16:creationId xmlns:a16="http://schemas.microsoft.com/office/drawing/2014/main" id="{88C52628-7CD8-4B9E-85F2-AA6D0F451AE1}"/>
              </a:ext>
            </a:extLst>
          </p:cNvPr>
          <p:cNvSpPr txBox="1">
            <a:spLocks/>
          </p:cNvSpPr>
          <p:nvPr userDrawn="1"/>
        </p:nvSpPr>
        <p:spPr>
          <a:xfrm>
            <a:off x="1463039" y="18255"/>
            <a:ext cx="1072895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Segoe UI" panose="020B0502040204020203" pitchFamily="34" charset="0"/>
                <a:ea typeface="+mj-ea"/>
                <a:cs typeface="Segoe UI" panose="020B0502040204020203" pitchFamily="34" charset="0"/>
              </a:defRPr>
            </a:lvl1pPr>
          </a:lstStyle>
          <a:p>
            <a:r>
              <a:rPr lang="it-IT"/>
              <a:t>Fare clic per modificare lo stile del titolo </a:t>
            </a:r>
            <a:endParaRPr lang="it-IT" dirty="0"/>
          </a:p>
        </p:txBody>
      </p:sp>
      <p:sp>
        <p:nvSpPr>
          <p:cNvPr id="9" name="Segnaposto titolo 1">
            <a:extLst>
              <a:ext uri="{FF2B5EF4-FFF2-40B4-BE49-F238E27FC236}">
                <a16:creationId xmlns:a16="http://schemas.microsoft.com/office/drawing/2014/main" id="{3F1D8162-967F-491C-8075-478356124555}"/>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26886952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5C9793-0D22-47FF-B7AF-15663D5AAA52}"/>
              </a:ext>
            </a:extLst>
          </p:cNvPr>
          <p:cNvSpPr>
            <a:spLocks noGrp="1"/>
          </p:cNvSpPr>
          <p:nvPr>
            <p:ph type="title"/>
          </p:nvPr>
        </p:nvSpPr>
        <p:spPr>
          <a:xfrm>
            <a:off x="1619794" y="1515291"/>
            <a:ext cx="3932237" cy="1031965"/>
          </a:xfrm>
        </p:spPr>
        <p:txBody>
          <a:bodyPr anchor="b"/>
          <a:lstStyle>
            <a:lvl1pPr>
              <a:defRPr sz="3200">
                <a:solidFill>
                  <a:srgbClr val="3B3838"/>
                </a:solidFill>
                <a:latin typeface="+mn-lt"/>
              </a:defRPr>
            </a:lvl1pPr>
          </a:lstStyle>
          <a:p>
            <a:endParaRPr lang="it-IT" dirty="0"/>
          </a:p>
        </p:txBody>
      </p:sp>
      <p:sp>
        <p:nvSpPr>
          <p:cNvPr id="3" name="Segnaposto immagine 2">
            <a:extLst>
              <a:ext uri="{FF2B5EF4-FFF2-40B4-BE49-F238E27FC236}">
                <a16:creationId xmlns:a16="http://schemas.microsoft.com/office/drawing/2014/main" id="{3CCCD409-2A98-495F-9E05-476EDBD282E4}"/>
              </a:ext>
            </a:extLst>
          </p:cNvPr>
          <p:cNvSpPr>
            <a:spLocks noGrp="1"/>
          </p:cNvSpPr>
          <p:nvPr>
            <p:ph type="pic" idx="1"/>
          </p:nvPr>
        </p:nvSpPr>
        <p:spPr>
          <a:xfrm>
            <a:off x="5969725" y="1515291"/>
            <a:ext cx="5812971" cy="434575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1B9D9E80-627A-4D17-9029-E14C8D64554E}"/>
              </a:ext>
            </a:extLst>
          </p:cNvPr>
          <p:cNvSpPr>
            <a:spLocks noGrp="1"/>
          </p:cNvSpPr>
          <p:nvPr>
            <p:ph type="body" sz="half" idx="2"/>
          </p:nvPr>
        </p:nvSpPr>
        <p:spPr>
          <a:xfrm>
            <a:off x="1619793" y="2761388"/>
            <a:ext cx="3932237" cy="309966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76802470-52B8-47E4-BB8D-82F7917C3C1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6AF4365-DBFC-499C-9A07-D4D2E10D012F}"/>
              </a:ext>
            </a:extLst>
          </p:cNvPr>
          <p:cNvSpPr>
            <a:spLocks noGrp="1"/>
          </p:cNvSpPr>
          <p:nvPr>
            <p:ph type="ftr" sz="quarter" idx="11"/>
          </p:nvPr>
        </p:nvSpPr>
        <p:spPr/>
        <p:txBody>
          <a:bodyPr/>
          <a:lstStyle/>
          <a:p>
            <a:endParaRPr lang="it-IT"/>
          </a:p>
        </p:txBody>
      </p:sp>
      <p:sp>
        <p:nvSpPr>
          <p:cNvPr id="8" name="Segnaposto titolo 1">
            <a:extLst>
              <a:ext uri="{FF2B5EF4-FFF2-40B4-BE49-F238E27FC236}">
                <a16:creationId xmlns:a16="http://schemas.microsoft.com/office/drawing/2014/main" id="{0BE16406-DCB4-4984-8046-F9EFFF081186}"/>
              </a:ext>
            </a:extLst>
          </p:cNvPr>
          <p:cNvSpPr txBox="1">
            <a:spLocks/>
          </p:cNvSpPr>
          <p:nvPr userDrawn="1"/>
        </p:nvSpPr>
        <p:spPr>
          <a:xfrm>
            <a:off x="1463039" y="18255"/>
            <a:ext cx="1072895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Segoe UI" panose="020B0502040204020203" pitchFamily="34" charset="0"/>
                <a:ea typeface="+mj-ea"/>
                <a:cs typeface="Segoe UI" panose="020B0502040204020203" pitchFamily="34" charset="0"/>
              </a:defRPr>
            </a:lvl1pPr>
          </a:lstStyle>
          <a:p>
            <a:r>
              <a:rPr lang="it-IT" dirty="0"/>
              <a:t>Fare clic per modificare lo stile del titolo </a:t>
            </a:r>
          </a:p>
        </p:txBody>
      </p:sp>
      <p:sp>
        <p:nvSpPr>
          <p:cNvPr id="9" name="Segnaposto titolo 1">
            <a:extLst>
              <a:ext uri="{FF2B5EF4-FFF2-40B4-BE49-F238E27FC236}">
                <a16:creationId xmlns:a16="http://schemas.microsoft.com/office/drawing/2014/main" id="{E5B1B50D-5827-411C-8C68-4B6FEA76FB11}"/>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38679466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olo e testo verticale">
    <p:spTree>
      <p:nvGrpSpPr>
        <p:cNvPr id="1" name=""/>
        <p:cNvGrpSpPr/>
        <p:nvPr/>
      </p:nvGrpSpPr>
      <p:grpSpPr>
        <a:xfrm>
          <a:off x="0" y="0"/>
          <a:ext cx="0" cy="0"/>
          <a:chOff x="0" y="0"/>
          <a:chExt cx="0" cy="0"/>
        </a:xfrm>
      </p:grpSpPr>
      <p:sp>
        <p:nvSpPr>
          <p:cNvPr id="3" name="Segnaposto testo verticale 2">
            <a:extLst>
              <a:ext uri="{FF2B5EF4-FFF2-40B4-BE49-F238E27FC236}">
                <a16:creationId xmlns:a16="http://schemas.microsoft.com/office/drawing/2014/main" id="{8F76DF86-3239-4301-B70B-A13C8ABA856A}"/>
              </a:ext>
            </a:extLst>
          </p:cNvPr>
          <p:cNvSpPr>
            <a:spLocks noGrp="1"/>
          </p:cNvSpPr>
          <p:nvPr>
            <p:ph type="body" orient="vert" idx="1"/>
          </p:nvPr>
        </p:nvSpPr>
        <p:spPr/>
        <p:txBody>
          <a:bodyPr vert="eaVert"/>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DA96C9C4-33F1-4020-8250-3D1B97B5C41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AAD5C8DC-1645-450C-9B4E-D669ED3CB47A}"/>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A3481035-E8B5-4DD5-8880-5DE2CCECAFAE}"/>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132879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3D8386C-D3E1-4E69-B768-5BEB28C40A40}"/>
              </a:ext>
            </a:extLst>
          </p:cNvPr>
          <p:cNvSpPr>
            <a:spLocks noGrp="1"/>
          </p:cNvSpPr>
          <p:nvPr>
            <p:ph type="title" orient="vert"/>
          </p:nvPr>
        </p:nvSpPr>
        <p:spPr>
          <a:xfrm>
            <a:off x="9153797" y="1554479"/>
            <a:ext cx="2628900" cy="4622484"/>
          </a:xfrm>
        </p:spPr>
        <p:txBody>
          <a:bodyPr vert="eaVert"/>
          <a:lstStyle>
            <a:lvl1pPr>
              <a:defRPr>
                <a:solidFill>
                  <a:srgbClr val="3B3838"/>
                </a:solidFill>
              </a:defRPr>
            </a:lvl1pPr>
          </a:lstStyle>
          <a:p>
            <a:r>
              <a:rPr lang="it-IT" dirty="0"/>
              <a:t>Fare clic per modificare lo stile del titolo dello schema</a:t>
            </a:r>
          </a:p>
        </p:txBody>
      </p:sp>
      <p:sp>
        <p:nvSpPr>
          <p:cNvPr id="3" name="Segnaposto testo verticale 2">
            <a:extLst>
              <a:ext uri="{FF2B5EF4-FFF2-40B4-BE49-F238E27FC236}">
                <a16:creationId xmlns:a16="http://schemas.microsoft.com/office/drawing/2014/main" id="{7640F96A-A1E5-4D89-80FC-898C746DECAF}"/>
              </a:ext>
            </a:extLst>
          </p:cNvPr>
          <p:cNvSpPr>
            <a:spLocks noGrp="1"/>
          </p:cNvSpPr>
          <p:nvPr>
            <p:ph type="body" orient="vert" idx="1"/>
          </p:nvPr>
        </p:nvSpPr>
        <p:spPr>
          <a:xfrm>
            <a:off x="1619793" y="1554479"/>
            <a:ext cx="7534003" cy="4622483"/>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661DD45-3A69-404E-8FF2-1C4D2905171F}"/>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7303782C-43DE-45B5-A0FE-964602A910B7}"/>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9EE02F72-0479-433E-8790-EFB53CB0BF09}"/>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17620568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1AC213-F388-4E21-98C4-36E6E89F2D9A}"/>
              </a:ext>
            </a:extLst>
          </p:cNvPr>
          <p:cNvSpPr>
            <a:spLocks noGrp="1"/>
          </p:cNvSpPr>
          <p:nvPr>
            <p:ph type="ctrTitle"/>
          </p:nvPr>
        </p:nvSpPr>
        <p:spPr>
          <a:xfrm>
            <a:off x="2625633" y="1600200"/>
            <a:ext cx="9157063" cy="2387600"/>
          </a:xfrm>
        </p:spPr>
        <p:txBody>
          <a:bodyPr anchor="ctr"/>
          <a:lstStyle>
            <a:lvl1pPr algn="ctr">
              <a:defRPr sz="4400">
                <a:latin typeface="+mn-lt"/>
              </a:defRPr>
            </a:lvl1pPr>
          </a:lstStyle>
          <a:p>
            <a:r>
              <a:rPr lang="it-IT" dirty="0"/>
              <a:t>Fare clic per modificare lo stile del titolo dello schema</a:t>
            </a:r>
          </a:p>
        </p:txBody>
      </p:sp>
      <p:sp>
        <p:nvSpPr>
          <p:cNvPr id="3" name="Sottotitolo 2">
            <a:extLst>
              <a:ext uri="{FF2B5EF4-FFF2-40B4-BE49-F238E27FC236}">
                <a16:creationId xmlns:a16="http://schemas.microsoft.com/office/drawing/2014/main" id="{2816E0C6-E17F-4FDB-8980-765ACC03A172}"/>
              </a:ext>
            </a:extLst>
          </p:cNvPr>
          <p:cNvSpPr>
            <a:spLocks noGrp="1"/>
          </p:cNvSpPr>
          <p:nvPr>
            <p:ph type="subTitle" idx="1"/>
          </p:nvPr>
        </p:nvSpPr>
        <p:spPr>
          <a:xfrm>
            <a:off x="2625634" y="4344194"/>
            <a:ext cx="91570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AA79011E-D390-43E9-A2A7-33EA50B34A2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D52116E-899F-443D-9DAC-ADEC6441CF29}"/>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974020F4-9E0A-40BD-8784-A68D91CBF059}"/>
              </a:ext>
            </a:extLst>
          </p:cNvPr>
          <p:cNvSpPr txBox="1">
            <a:spLocks/>
          </p:cNvSpPr>
          <p:nvPr userDrawn="1"/>
        </p:nvSpPr>
        <p:spPr>
          <a:xfrm>
            <a:off x="2625633" y="316559"/>
            <a:ext cx="9157064" cy="66278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26589536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924B6594-436E-4CB3-AD0B-3DF1CF78567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B579950-EAE6-44C5-8A5A-B17F721DAEB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BD6E3443-EB60-437C-AB50-5D4C81480687}"/>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0965ADC6-875C-482E-A5A7-491A1C4430FA}"/>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2597384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60E1D9-830C-42E5-B43B-29DB0C744A32}"/>
              </a:ext>
            </a:extLst>
          </p:cNvPr>
          <p:cNvSpPr>
            <a:spLocks noGrp="1"/>
          </p:cNvSpPr>
          <p:nvPr>
            <p:ph type="title"/>
          </p:nvPr>
        </p:nvSpPr>
        <p:spPr>
          <a:xfrm>
            <a:off x="2625634" y="1736726"/>
            <a:ext cx="9157063" cy="2852737"/>
          </a:xfrm>
        </p:spPr>
        <p:txBody>
          <a:bodyPr anchor="b"/>
          <a:lstStyle>
            <a:lvl1pPr>
              <a:defRPr sz="6000"/>
            </a:lvl1p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59591FCF-D95B-487B-A7A1-F791F33EB6EB}"/>
              </a:ext>
            </a:extLst>
          </p:cNvPr>
          <p:cNvSpPr>
            <a:spLocks noGrp="1"/>
          </p:cNvSpPr>
          <p:nvPr>
            <p:ph type="body" idx="1"/>
          </p:nvPr>
        </p:nvSpPr>
        <p:spPr>
          <a:xfrm>
            <a:off x="2625634" y="4596754"/>
            <a:ext cx="9157063"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dirty="0"/>
              <a:t>Fare clic per modificare gli stili del testo dello schema</a:t>
            </a:r>
          </a:p>
        </p:txBody>
      </p:sp>
      <p:sp>
        <p:nvSpPr>
          <p:cNvPr id="4" name="Segnaposto data 3">
            <a:extLst>
              <a:ext uri="{FF2B5EF4-FFF2-40B4-BE49-F238E27FC236}">
                <a16:creationId xmlns:a16="http://schemas.microsoft.com/office/drawing/2014/main" id="{1A098EBC-55A3-4699-8138-556E5BB637D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6C5592B-641A-418A-A3A0-1A3EA60A3B17}"/>
              </a:ext>
            </a:extLst>
          </p:cNvPr>
          <p:cNvSpPr>
            <a:spLocks noGrp="1"/>
          </p:cNvSpPr>
          <p:nvPr>
            <p:ph type="ftr" sz="quarter" idx="11"/>
          </p:nvPr>
        </p:nvSpPr>
        <p:spPr/>
        <p:txBody>
          <a:bodyPr/>
          <a:lstStyle/>
          <a:p>
            <a:endParaRPr lang="it-IT"/>
          </a:p>
        </p:txBody>
      </p:sp>
      <p:sp>
        <p:nvSpPr>
          <p:cNvPr id="8" name="Segnaposto titolo 1">
            <a:extLst>
              <a:ext uri="{FF2B5EF4-FFF2-40B4-BE49-F238E27FC236}">
                <a16:creationId xmlns:a16="http://schemas.microsoft.com/office/drawing/2014/main" id="{8C1A526D-BDB6-48B9-BE01-73554F395FF1}"/>
              </a:ext>
            </a:extLst>
          </p:cNvPr>
          <p:cNvSpPr txBox="1">
            <a:spLocks/>
          </p:cNvSpPr>
          <p:nvPr userDrawn="1"/>
        </p:nvSpPr>
        <p:spPr>
          <a:xfrm>
            <a:off x="2625634" y="316559"/>
            <a:ext cx="9157063" cy="66278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22468324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4DDB07BF-6C79-4467-ACB1-0767E3771EDC}"/>
              </a:ext>
            </a:extLst>
          </p:cNvPr>
          <p:cNvSpPr>
            <a:spLocks noGrp="1"/>
          </p:cNvSpPr>
          <p:nvPr>
            <p:ph sz="half" idx="1"/>
          </p:nvPr>
        </p:nvSpPr>
        <p:spPr>
          <a:xfrm>
            <a:off x="2625634" y="1835513"/>
            <a:ext cx="4323805" cy="435133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contenuto 3">
            <a:extLst>
              <a:ext uri="{FF2B5EF4-FFF2-40B4-BE49-F238E27FC236}">
                <a16:creationId xmlns:a16="http://schemas.microsoft.com/office/drawing/2014/main" id="{AA3F5DFD-F0C1-4DC6-875A-D8417FB428B1}"/>
              </a:ext>
            </a:extLst>
          </p:cNvPr>
          <p:cNvSpPr>
            <a:spLocks noGrp="1"/>
          </p:cNvSpPr>
          <p:nvPr>
            <p:ph sz="half" idx="2"/>
          </p:nvPr>
        </p:nvSpPr>
        <p:spPr>
          <a:xfrm>
            <a:off x="7458891" y="1825625"/>
            <a:ext cx="4323805" cy="435133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data 4">
            <a:extLst>
              <a:ext uri="{FF2B5EF4-FFF2-40B4-BE49-F238E27FC236}">
                <a16:creationId xmlns:a16="http://schemas.microsoft.com/office/drawing/2014/main" id="{3255D52C-1AD6-485F-97E2-A18AE2C9BBE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606CB1CD-EEE9-47F1-B168-D7DCFBDB8307}"/>
              </a:ext>
            </a:extLst>
          </p:cNvPr>
          <p:cNvSpPr>
            <a:spLocks noGrp="1"/>
          </p:cNvSpPr>
          <p:nvPr>
            <p:ph type="ftr" sz="quarter" idx="11"/>
          </p:nvPr>
        </p:nvSpPr>
        <p:spPr/>
        <p:txBody>
          <a:bodyPr/>
          <a:lstStyle/>
          <a:p>
            <a:endParaRPr lang="it-IT"/>
          </a:p>
        </p:txBody>
      </p:sp>
      <p:sp>
        <p:nvSpPr>
          <p:cNvPr id="7" name="Segnaposto titolo 1">
            <a:extLst>
              <a:ext uri="{FF2B5EF4-FFF2-40B4-BE49-F238E27FC236}">
                <a16:creationId xmlns:a16="http://schemas.microsoft.com/office/drawing/2014/main" id="{B915A429-AA51-465F-99BF-0EDBF7ED997B}"/>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2458700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fronto">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28A0B334-5A2E-420D-B34F-0C59C82F6877}"/>
              </a:ext>
            </a:extLst>
          </p:cNvPr>
          <p:cNvSpPr>
            <a:spLocks noGrp="1"/>
          </p:cNvSpPr>
          <p:nvPr>
            <p:ph type="body" idx="1"/>
          </p:nvPr>
        </p:nvSpPr>
        <p:spPr>
          <a:xfrm>
            <a:off x="2625634" y="1664155"/>
            <a:ext cx="419317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4" name="Segnaposto contenuto 3">
            <a:extLst>
              <a:ext uri="{FF2B5EF4-FFF2-40B4-BE49-F238E27FC236}">
                <a16:creationId xmlns:a16="http://schemas.microsoft.com/office/drawing/2014/main" id="{F3888714-BC9E-4F0C-9BCB-271CD43D7529}"/>
              </a:ext>
            </a:extLst>
          </p:cNvPr>
          <p:cNvSpPr>
            <a:spLocks noGrp="1"/>
          </p:cNvSpPr>
          <p:nvPr>
            <p:ph sz="half" idx="2"/>
          </p:nvPr>
        </p:nvSpPr>
        <p:spPr>
          <a:xfrm>
            <a:off x="2625633" y="2527640"/>
            <a:ext cx="4193179"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testo 4">
            <a:extLst>
              <a:ext uri="{FF2B5EF4-FFF2-40B4-BE49-F238E27FC236}">
                <a16:creationId xmlns:a16="http://schemas.microsoft.com/office/drawing/2014/main" id="{59DBCF60-51E3-49AF-B7E7-0E0D5D215F6E}"/>
              </a:ext>
            </a:extLst>
          </p:cNvPr>
          <p:cNvSpPr>
            <a:spLocks noGrp="1"/>
          </p:cNvSpPr>
          <p:nvPr>
            <p:ph type="body" sz="quarter" idx="3"/>
          </p:nvPr>
        </p:nvSpPr>
        <p:spPr>
          <a:xfrm>
            <a:off x="7589519" y="1681163"/>
            <a:ext cx="419317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6" name="Segnaposto contenuto 5">
            <a:extLst>
              <a:ext uri="{FF2B5EF4-FFF2-40B4-BE49-F238E27FC236}">
                <a16:creationId xmlns:a16="http://schemas.microsoft.com/office/drawing/2014/main" id="{C5EE61DC-AAA5-4E2D-BF46-D00329A5C184}"/>
              </a:ext>
            </a:extLst>
          </p:cNvPr>
          <p:cNvSpPr>
            <a:spLocks noGrp="1"/>
          </p:cNvSpPr>
          <p:nvPr>
            <p:ph sz="quarter" idx="4"/>
          </p:nvPr>
        </p:nvSpPr>
        <p:spPr>
          <a:xfrm>
            <a:off x="7589519" y="2505075"/>
            <a:ext cx="4193177"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7" name="Segnaposto data 6">
            <a:extLst>
              <a:ext uri="{FF2B5EF4-FFF2-40B4-BE49-F238E27FC236}">
                <a16:creationId xmlns:a16="http://schemas.microsoft.com/office/drawing/2014/main" id="{7AAF0436-58B6-47F6-8E11-84D919C7EDD5}"/>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8" name="Segnaposto piè di pagina 7">
            <a:extLst>
              <a:ext uri="{FF2B5EF4-FFF2-40B4-BE49-F238E27FC236}">
                <a16:creationId xmlns:a16="http://schemas.microsoft.com/office/drawing/2014/main" id="{3CE0F1DC-C34B-4F16-A8A1-59B2D4B6A93E}"/>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FF69F79A-A6ED-473E-82AC-E596A5C35CF6}"/>
              </a:ext>
            </a:extLst>
          </p:cNvPr>
          <p:cNvSpPr>
            <a:spLocks noGrp="1"/>
          </p:cNvSpPr>
          <p:nvPr>
            <p:ph type="title"/>
          </p:nvPr>
        </p:nvSpPr>
        <p:spPr>
          <a:xfrm>
            <a:off x="2625633" y="316559"/>
            <a:ext cx="9157064"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9003091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data 2">
            <a:extLst>
              <a:ext uri="{FF2B5EF4-FFF2-40B4-BE49-F238E27FC236}">
                <a16:creationId xmlns:a16="http://schemas.microsoft.com/office/drawing/2014/main" id="{93497BDC-F780-482A-B00D-623003EBCC4C}"/>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4" name="Segnaposto piè di pagina 3">
            <a:extLst>
              <a:ext uri="{FF2B5EF4-FFF2-40B4-BE49-F238E27FC236}">
                <a16:creationId xmlns:a16="http://schemas.microsoft.com/office/drawing/2014/main" id="{9DF9F76F-F710-4222-8AE8-D8EF547FE2E9}"/>
              </a:ext>
            </a:extLst>
          </p:cNvPr>
          <p:cNvSpPr>
            <a:spLocks noGrp="1"/>
          </p:cNvSpPr>
          <p:nvPr>
            <p:ph type="ftr" sz="quarter" idx="11"/>
          </p:nvPr>
        </p:nvSpPr>
        <p:spPr/>
        <p:txBody>
          <a:bodyPr/>
          <a:lstStyle/>
          <a:p>
            <a:endParaRPr lang="it-IT" dirty="0"/>
          </a:p>
        </p:txBody>
      </p:sp>
      <p:sp>
        <p:nvSpPr>
          <p:cNvPr id="5" name="Segnaposto titolo 1">
            <a:extLst>
              <a:ext uri="{FF2B5EF4-FFF2-40B4-BE49-F238E27FC236}">
                <a16:creationId xmlns:a16="http://schemas.microsoft.com/office/drawing/2014/main" id="{5F8448A6-BA0D-48F5-901B-CA9C0E8926F6}"/>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72352017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72813758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577963-0FD6-4635-A1A8-B7BCF35F3DB8}"/>
              </a:ext>
            </a:extLst>
          </p:cNvPr>
          <p:cNvSpPr>
            <a:spLocks noGrp="1"/>
          </p:cNvSpPr>
          <p:nvPr>
            <p:ph type="title"/>
          </p:nvPr>
        </p:nvSpPr>
        <p:spPr>
          <a:xfrm>
            <a:off x="2625634" y="1587657"/>
            <a:ext cx="3592286" cy="888865"/>
          </a:xfrm>
        </p:spPr>
        <p:txBody>
          <a:bodyPr anchor="b"/>
          <a:lstStyle>
            <a:lvl1pPr>
              <a:defRPr sz="3200">
                <a:solidFill>
                  <a:srgbClr val="3B3838"/>
                </a:solidFill>
              </a:defRPr>
            </a:lvl1pPr>
          </a:lstStyle>
          <a:p>
            <a:endParaRPr lang="it-IT" dirty="0"/>
          </a:p>
        </p:txBody>
      </p:sp>
      <p:sp>
        <p:nvSpPr>
          <p:cNvPr id="3" name="Segnaposto contenuto 2">
            <a:extLst>
              <a:ext uri="{FF2B5EF4-FFF2-40B4-BE49-F238E27FC236}">
                <a16:creationId xmlns:a16="http://schemas.microsoft.com/office/drawing/2014/main" id="{A56285E0-D2CF-45EC-824F-708C57150102}"/>
              </a:ext>
            </a:extLst>
          </p:cNvPr>
          <p:cNvSpPr>
            <a:spLocks noGrp="1"/>
          </p:cNvSpPr>
          <p:nvPr>
            <p:ph idx="1"/>
          </p:nvPr>
        </p:nvSpPr>
        <p:spPr>
          <a:xfrm>
            <a:off x="6639971" y="1587657"/>
            <a:ext cx="5142726" cy="4544968"/>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testo 3">
            <a:extLst>
              <a:ext uri="{FF2B5EF4-FFF2-40B4-BE49-F238E27FC236}">
                <a16:creationId xmlns:a16="http://schemas.microsoft.com/office/drawing/2014/main" id="{3085BD09-F8F1-4CF7-88B9-307E74D0BF7C}"/>
              </a:ext>
            </a:extLst>
          </p:cNvPr>
          <p:cNvSpPr>
            <a:spLocks noGrp="1"/>
          </p:cNvSpPr>
          <p:nvPr>
            <p:ph type="body" sz="half" idx="2"/>
          </p:nvPr>
        </p:nvSpPr>
        <p:spPr>
          <a:xfrm>
            <a:off x="2625634" y="2874869"/>
            <a:ext cx="3592286" cy="325174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870B2838-7774-49C1-8FBD-409204B26A84}"/>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99A51A0-997F-4635-8FEA-B4232644B8D3}"/>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3F1D8162-967F-491C-8075-478356124555}"/>
              </a:ext>
            </a:extLst>
          </p:cNvPr>
          <p:cNvSpPr txBox="1">
            <a:spLocks/>
          </p:cNvSpPr>
          <p:nvPr userDrawn="1"/>
        </p:nvSpPr>
        <p:spPr>
          <a:xfrm>
            <a:off x="2625634" y="316559"/>
            <a:ext cx="9157063" cy="66278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28191508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5C9793-0D22-47FF-B7AF-15663D5AAA52}"/>
              </a:ext>
            </a:extLst>
          </p:cNvPr>
          <p:cNvSpPr>
            <a:spLocks noGrp="1"/>
          </p:cNvSpPr>
          <p:nvPr>
            <p:ph type="title"/>
          </p:nvPr>
        </p:nvSpPr>
        <p:spPr>
          <a:xfrm>
            <a:off x="2625635" y="1481773"/>
            <a:ext cx="3470366" cy="1031965"/>
          </a:xfrm>
        </p:spPr>
        <p:txBody>
          <a:bodyPr anchor="b"/>
          <a:lstStyle>
            <a:lvl1pPr>
              <a:defRPr sz="3200">
                <a:solidFill>
                  <a:srgbClr val="3B3838"/>
                </a:solidFill>
                <a:latin typeface="+mn-lt"/>
              </a:defRPr>
            </a:lvl1pPr>
          </a:lstStyle>
          <a:p>
            <a:endParaRPr lang="it-IT" dirty="0"/>
          </a:p>
        </p:txBody>
      </p:sp>
      <p:sp>
        <p:nvSpPr>
          <p:cNvPr id="3" name="Segnaposto immagine 2">
            <a:extLst>
              <a:ext uri="{FF2B5EF4-FFF2-40B4-BE49-F238E27FC236}">
                <a16:creationId xmlns:a16="http://schemas.microsoft.com/office/drawing/2014/main" id="{3CCCD409-2A98-495F-9E05-476EDBD282E4}"/>
              </a:ext>
            </a:extLst>
          </p:cNvPr>
          <p:cNvSpPr>
            <a:spLocks noGrp="1"/>
          </p:cNvSpPr>
          <p:nvPr>
            <p:ph type="pic" idx="1"/>
          </p:nvPr>
        </p:nvSpPr>
        <p:spPr>
          <a:xfrm>
            <a:off x="6609807" y="1481773"/>
            <a:ext cx="5172890" cy="43792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1B9D9E80-627A-4D17-9029-E14C8D64554E}"/>
              </a:ext>
            </a:extLst>
          </p:cNvPr>
          <p:cNvSpPr>
            <a:spLocks noGrp="1"/>
          </p:cNvSpPr>
          <p:nvPr>
            <p:ph type="body" sz="half" idx="2"/>
          </p:nvPr>
        </p:nvSpPr>
        <p:spPr>
          <a:xfrm>
            <a:off x="2625635" y="2740387"/>
            <a:ext cx="3470366" cy="309966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76802470-52B8-47E4-BB8D-82F7917C3C1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6AF4365-DBFC-499C-9A07-D4D2E10D012F}"/>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E5B1B50D-5827-411C-8C68-4B6FEA76FB11}"/>
              </a:ext>
            </a:extLst>
          </p:cNvPr>
          <p:cNvSpPr txBox="1">
            <a:spLocks/>
          </p:cNvSpPr>
          <p:nvPr userDrawn="1"/>
        </p:nvSpPr>
        <p:spPr>
          <a:xfrm>
            <a:off x="2625634" y="316559"/>
            <a:ext cx="9157063" cy="66278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13925617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olo e testo verticale">
    <p:spTree>
      <p:nvGrpSpPr>
        <p:cNvPr id="1" name=""/>
        <p:cNvGrpSpPr/>
        <p:nvPr/>
      </p:nvGrpSpPr>
      <p:grpSpPr>
        <a:xfrm>
          <a:off x="0" y="0"/>
          <a:ext cx="0" cy="0"/>
          <a:chOff x="0" y="0"/>
          <a:chExt cx="0" cy="0"/>
        </a:xfrm>
      </p:grpSpPr>
      <p:sp>
        <p:nvSpPr>
          <p:cNvPr id="3" name="Segnaposto testo verticale 2">
            <a:extLst>
              <a:ext uri="{FF2B5EF4-FFF2-40B4-BE49-F238E27FC236}">
                <a16:creationId xmlns:a16="http://schemas.microsoft.com/office/drawing/2014/main" id="{8F76DF86-3239-4301-B70B-A13C8ABA856A}"/>
              </a:ext>
            </a:extLst>
          </p:cNvPr>
          <p:cNvSpPr>
            <a:spLocks noGrp="1"/>
          </p:cNvSpPr>
          <p:nvPr>
            <p:ph type="body" orient="vert" idx="1"/>
          </p:nvPr>
        </p:nvSpPr>
        <p:spPr/>
        <p:txBody>
          <a:bodyPr vert="eaVert"/>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DA96C9C4-33F1-4020-8250-3D1B97B5C41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AAD5C8DC-1645-450C-9B4E-D669ED3CB47A}"/>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A3481035-E8B5-4DD5-8880-5DE2CCECAFAE}"/>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03812426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3D8386C-D3E1-4E69-B768-5BEB28C40A40}"/>
              </a:ext>
            </a:extLst>
          </p:cNvPr>
          <p:cNvSpPr>
            <a:spLocks noGrp="1"/>
          </p:cNvSpPr>
          <p:nvPr>
            <p:ph type="title" orient="vert"/>
          </p:nvPr>
        </p:nvSpPr>
        <p:spPr>
          <a:xfrm>
            <a:off x="9153797" y="1554479"/>
            <a:ext cx="2628900" cy="4622484"/>
          </a:xfrm>
        </p:spPr>
        <p:txBody>
          <a:bodyPr vert="eaVert"/>
          <a:lstStyle>
            <a:lvl1pPr>
              <a:defRPr>
                <a:solidFill>
                  <a:srgbClr val="3B3838"/>
                </a:solidFill>
              </a:defRPr>
            </a:lvl1pPr>
          </a:lstStyle>
          <a:p>
            <a:r>
              <a:rPr lang="it-IT" dirty="0"/>
              <a:t>Fare clic per modificare lo stile del titolo dello schema</a:t>
            </a:r>
          </a:p>
        </p:txBody>
      </p:sp>
      <p:sp>
        <p:nvSpPr>
          <p:cNvPr id="3" name="Segnaposto testo verticale 2">
            <a:extLst>
              <a:ext uri="{FF2B5EF4-FFF2-40B4-BE49-F238E27FC236}">
                <a16:creationId xmlns:a16="http://schemas.microsoft.com/office/drawing/2014/main" id="{7640F96A-A1E5-4D89-80FC-898C746DECAF}"/>
              </a:ext>
            </a:extLst>
          </p:cNvPr>
          <p:cNvSpPr>
            <a:spLocks noGrp="1"/>
          </p:cNvSpPr>
          <p:nvPr>
            <p:ph type="body" orient="vert" idx="1"/>
          </p:nvPr>
        </p:nvSpPr>
        <p:spPr>
          <a:xfrm>
            <a:off x="2625634" y="1554479"/>
            <a:ext cx="6528164" cy="4622483"/>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661DD45-3A69-404E-8FF2-1C4D2905171F}"/>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7303782C-43DE-45B5-A0FE-964602A910B7}"/>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9EE02F72-0479-433E-8790-EFB53CB0BF09}"/>
              </a:ext>
            </a:extLst>
          </p:cNvPr>
          <p:cNvSpPr txBox="1">
            <a:spLocks/>
          </p:cNvSpPr>
          <p:nvPr userDrawn="1"/>
        </p:nvSpPr>
        <p:spPr>
          <a:xfrm>
            <a:off x="2625634" y="316559"/>
            <a:ext cx="9157063" cy="66278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28059637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ferenc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1772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type="title" preserve="1">
  <p:cSld name="Speaker Intro 2">
    <p:bg>
      <p:bgPr>
        <a:solidFill>
          <a:srgbClr val="EFD485"/>
        </a:solidFill>
        <a:effectLst/>
      </p:bgPr>
    </p:bg>
    <p:spTree>
      <p:nvGrpSpPr>
        <p:cNvPr id="1" name="Shape 9"/>
        <p:cNvGrpSpPr/>
        <p:nvPr/>
      </p:nvGrpSpPr>
      <p:grpSpPr>
        <a:xfrm>
          <a:off x="0" y="0"/>
          <a:ext cx="0" cy="0"/>
          <a:chOff x="0" y="0"/>
          <a:chExt cx="0" cy="0"/>
        </a:xfrm>
      </p:grpSpPr>
      <p:pic>
        <p:nvPicPr>
          <p:cNvPr id="3" name="Immagine 2">
            <a:extLst>
              <a:ext uri="{FF2B5EF4-FFF2-40B4-BE49-F238E27FC236}">
                <a16:creationId xmlns:a16="http://schemas.microsoft.com/office/drawing/2014/main" id="{A3200B19-1F80-1FD4-FF41-354F78E65298}"/>
              </a:ext>
            </a:extLst>
          </p:cNvPr>
          <p:cNvPicPr>
            <a:picLocks noChangeAspect="1"/>
          </p:cNvPicPr>
          <p:nvPr userDrawn="1"/>
        </p:nvPicPr>
        <p:blipFill>
          <a:blip r:embed="rId2">
            <a:extLst>
              <a:ext uri="{28A0092B-C50C-407E-A947-70E740481C1C}">
                <a14:useLocalDpi xmlns:a14="http://schemas.microsoft.com/office/drawing/2010/main" val="0"/>
              </a:ext>
            </a:extLst>
          </a:blip>
          <a:srcRect t="54574"/>
          <a:stretch>
            <a:fillRect/>
          </a:stretch>
        </p:blipFill>
        <p:spPr>
          <a:xfrm>
            <a:off x="0" y="3742660"/>
            <a:ext cx="12192000" cy="3115340"/>
          </a:xfrm>
          <a:prstGeom prst="rect">
            <a:avLst/>
          </a:prstGeom>
        </p:spPr>
      </p:pic>
      <p:sp>
        <p:nvSpPr>
          <p:cNvPr id="11" name="Google Shape;11;p2"/>
          <p:cNvSpPr txBox="1">
            <a:spLocks noGrp="1"/>
          </p:cNvSpPr>
          <p:nvPr>
            <p:ph type="ctrTitle" hasCustomPrompt="1"/>
          </p:nvPr>
        </p:nvSpPr>
        <p:spPr>
          <a:xfrm>
            <a:off x="4379200" y="1289756"/>
            <a:ext cx="7812800" cy="36884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4800"/>
              <a:buNone/>
              <a:defRPr sz="6600">
                <a:solidFill>
                  <a:srgbClr val="3B3838"/>
                </a:solidFill>
              </a:defRPr>
            </a:lvl1pPr>
            <a:lvl2pPr lvl="1" algn="ctr">
              <a:spcBef>
                <a:spcPts val="0"/>
              </a:spcBef>
              <a:spcAft>
                <a:spcPts val="0"/>
              </a:spcAft>
              <a:buClr>
                <a:srgbClr val="FFFFFF"/>
              </a:buClr>
              <a:buSzPts val="4800"/>
              <a:buNone/>
              <a:defRPr sz="6400">
                <a:solidFill>
                  <a:srgbClr val="FFFFFF"/>
                </a:solidFill>
              </a:defRPr>
            </a:lvl2pPr>
            <a:lvl3pPr lvl="2" algn="ctr">
              <a:spcBef>
                <a:spcPts val="0"/>
              </a:spcBef>
              <a:spcAft>
                <a:spcPts val="0"/>
              </a:spcAft>
              <a:buClr>
                <a:srgbClr val="FFFFFF"/>
              </a:buClr>
              <a:buSzPts val="4800"/>
              <a:buNone/>
              <a:defRPr sz="6400">
                <a:solidFill>
                  <a:srgbClr val="FFFFFF"/>
                </a:solidFill>
              </a:defRPr>
            </a:lvl3pPr>
            <a:lvl4pPr lvl="3" algn="ctr">
              <a:spcBef>
                <a:spcPts val="0"/>
              </a:spcBef>
              <a:spcAft>
                <a:spcPts val="0"/>
              </a:spcAft>
              <a:buClr>
                <a:srgbClr val="FFFFFF"/>
              </a:buClr>
              <a:buSzPts val="4800"/>
              <a:buNone/>
              <a:defRPr sz="6400">
                <a:solidFill>
                  <a:srgbClr val="FFFFFF"/>
                </a:solidFill>
              </a:defRPr>
            </a:lvl4pPr>
            <a:lvl5pPr lvl="4" algn="ctr">
              <a:spcBef>
                <a:spcPts val="0"/>
              </a:spcBef>
              <a:spcAft>
                <a:spcPts val="0"/>
              </a:spcAft>
              <a:buClr>
                <a:srgbClr val="FFFFFF"/>
              </a:buClr>
              <a:buSzPts val="4800"/>
              <a:buNone/>
              <a:defRPr sz="6400">
                <a:solidFill>
                  <a:srgbClr val="FFFFFF"/>
                </a:solidFill>
              </a:defRPr>
            </a:lvl5pPr>
            <a:lvl6pPr lvl="5" algn="ctr">
              <a:spcBef>
                <a:spcPts val="0"/>
              </a:spcBef>
              <a:spcAft>
                <a:spcPts val="0"/>
              </a:spcAft>
              <a:buClr>
                <a:srgbClr val="FFFFFF"/>
              </a:buClr>
              <a:buSzPts val="4800"/>
              <a:buNone/>
              <a:defRPr sz="6400">
                <a:solidFill>
                  <a:srgbClr val="FFFFFF"/>
                </a:solidFill>
              </a:defRPr>
            </a:lvl6pPr>
            <a:lvl7pPr lvl="6" algn="ctr">
              <a:spcBef>
                <a:spcPts val="0"/>
              </a:spcBef>
              <a:spcAft>
                <a:spcPts val="0"/>
              </a:spcAft>
              <a:buClr>
                <a:srgbClr val="FFFFFF"/>
              </a:buClr>
              <a:buSzPts val="4800"/>
              <a:buNone/>
              <a:defRPr sz="6400">
                <a:solidFill>
                  <a:srgbClr val="FFFFFF"/>
                </a:solidFill>
              </a:defRPr>
            </a:lvl7pPr>
            <a:lvl8pPr lvl="7" algn="ctr">
              <a:spcBef>
                <a:spcPts val="0"/>
              </a:spcBef>
              <a:spcAft>
                <a:spcPts val="0"/>
              </a:spcAft>
              <a:buClr>
                <a:srgbClr val="FFFFFF"/>
              </a:buClr>
              <a:buSzPts val="4800"/>
              <a:buNone/>
              <a:defRPr sz="6400">
                <a:solidFill>
                  <a:srgbClr val="FFFFFF"/>
                </a:solidFill>
              </a:defRPr>
            </a:lvl8pPr>
            <a:lvl9pPr lvl="8" algn="ctr">
              <a:spcBef>
                <a:spcPts val="0"/>
              </a:spcBef>
              <a:spcAft>
                <a:spcPts val="0"/>
              </a:spcAft>
              <a:buClr>
                <a:srgbClr val="FFFFFF"/>
              </a:buClr>
              <a:buSzPts val="4800"/>
              <a:buNone/>
              <a:defRPr sz="6400">
                <a:solidFill>
                  <a:srgbClr val="FFFFFF"/>
                </a:solidFill>
              </a:defRPr>
            </a:lvl9pPr>
          </a:lstStyle>
          <a:p>
            <a:r>
              <a:rPr lang="it-IT" dirty="0"/>
              <a:t>Session Title</a:t>
            </a:r>
            <a:endParaRPr dirty="0"/>
          </a:p>
        </p:txBody>
      </p:sp>
    </p:spTree>
    <p:extLst>
      <p:ext uri="{BB962C8B-B14F-4D97-AF65-F5344CB8AC3E}">
        <p14:creationId xmlns:p14="http://schemas.microsoft.com/office/powerpoint/2010/main" val="392901898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ference 2">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39836AA-E138-48A5-BA71-0DF9A3EA6287}"/>
              </a:ext>
            </a:extLst>
          </p:cNvPr>
          <p:cNvSpPr/>
          <p:nvPr userDrawn="1"/>
        </p:nvSpPr>
        <p:spPr>
          <a:xfrm>
            <a:off x="-456228" y="5247248"/>
            <a:ext cx="13104457" cy="1610751"/>
          </a:xfrm>
          <a:prstGeom prst="rect">
            <a:avLst/>
          </a:prstGeom>
          <a:solidFill>
            <a:schemeClr val="bg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1476789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ference 3">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39836AA-E138-48A5-BA71-0DF9A3EA6287}"/>
              </a:ext>
            </a:extLst>
          </p:cNvPr>
          <p:cNvSpPr/>
          <p:nvPr userDrawn="1"/>
        </p:nvSpPr>
        <p:spPr>
          <a:xfrm>
            <a:off x="-196948" y="3165232"/>
            <a:ext cx="12845177" cy="3692768"/>
          </a:xfrm>
          <a:prstGeom prst="rect">
            <a:avLst/>
          </a:prstGeom>
          <a:solidFill>
            <a:schemeClr val="bg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4400" dirty="0">
                <a:solidFill>
                  <a:srgbClr val="3B3838"/>
                </a:solidFill>
              </a:rPr>
              <a:t>Titolo</a:t>
            </a:r>
          </a:p>
        </p:txBody>
      </p:sp>
    </p:spTree>
    <p:extLst>
      <p:ext uri="{BB962C8B-B14F-4D97-AF65-F5344CB8AC3E}">
        <p14:creationId xmlns:p14="http://schemas.microsoft.com/office/powerpoint/2010/main" val="202103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peaker Intro">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C27300C4-421D-4405-87C1-01BBAA9D102A}"/>
              </a:ext>
            </a:extLst>
          </p:cNvPr>
          <p:cNvSpPr/>
          <p:nvPr userDrawn="1"/>
        </p:nvSpPr>
        <p:spPr>
          <a:xfrm>
            <a:off x="4799426" y="1890747"/>
            <a:ext cx="2602523" cy="24196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Rettangolo 2">
            <a:extLst>
              <a:ext uri="{FF2B5EF4-FFF2-40B4-BE49-F238E27FC236}">
                <a16:creationId xmlns:a16="http://schemas.microsoft.com/office/drawing/2014/main" id="{3BC52BE1-DA7B-4B4B-A750-43DC5BAFD8E7}"/>
              </a:ext>
            </a:extLst>
          </p:cNvPr>
          <p:cNvSpPr/>
          <p:nvPr userDrawn="1"/>
        </p:nvSpPr>
        <p:spPr>
          <a:xfrm>
            <a:off x="0" y="5532119"/>
            <a:ext cx="12192000" cy="102694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5400" b="0" dirty="0">
                <a:solidFill>
                  <a:srgbClr val="3B3838"/>
                </a:solidFill>
                <a:latin typeface="+mn-lt"/>
              </a:rPr>
              <a:t>Session Title</a:t>
            </a:r>
          </a:p>
        </p:txBody>
      </p:sp>
      <p:sp>
        <p:nvSpPr>
          <p:cNvPr id="5" name="Segnaposto immagine 2">
            <a:extLst>
              <a:ext uri="{FF2B5EF4-FFF2-40B4-BE49-F238E27FC236}">
                <a16:creationId xmlns:a16="http://schemas.microsoft.com/office/drawing/2014/main" id="{87C983A3-DC74-4C7F-BA9E-8FD9BACC7845}"/>
              </a:ext>
            </a:extLst>
          </p:cNvPr>
          <p:cNvSpPr>
            <a:spLocks noGrp="1"/>
          </p:cNvSpPr>
          <p:nvPr>
            <p:ph type="pic" idx="1"/>
          </p:nvPr>
        </p:nvSpPr>
        <p:spPr>
          <a:xfrm>
            <a:off x="4799426" y="1896423"/>
            <a:ext cx="2602523" cy="241964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7" name="CasellaDiTesto 6">
            <a:extLst>
              <a:ext uri="{FF2B5EF4-FFF2-40B4-BE49-F238E27FC236}">
                <a16:creationId xmlns:a16="http://schemas.microsoft.com/office/drawing/2014/main" id="{805D74D9-99C3-442C-94A0-2256DCB3A8AD}"/>
              </a:ext>
            </a:extLst>
          </p:cNvPr>
          <p:cNvSpPr txBox="1"/>
          <p:nvPr userDrawn="1"/>
        </p:nvSpPr>
        <p:spPr>
          <a:xfrm>
            <a:off x="4799426" y="4441319"/>
            <a:ext cx="2602523" cy="523220"/>
          </a:xfrm>
          <a:prstGeom prst="rect">
            <a:avLst/>
          </a:prstGeom>
          <a:noFill/>
        </p:spPr>
        <p:txBody>
          <a:bodyPr wrap="square" rtlCol="0">
            <a:spAutoFit/>
          </a:bodyPr>
          <a:lstStyle/>
          <a:p>
            <a:pPr algn="ctr"/>
            <a:r>
              <a:rPr lang="it-IT" sz="2800" dirty="0">
                <a:solidFill>
                  <a:schemeClr val="bg1"/>
                </a:solidFill>
              </a:rPr>
              <a:t>Speaker Name</a:t>
            </a:r>
          </a:p>
        </p:txBody>
      </p:sp>
    </p:spTree>
    <p:extLst>
      <p:ext uri="{BB962C8B-B14F-4D97-AF65-F5344CB8AC3E}">
        <p14:creationId xmlns:p14="http://schemas.microsoft.com/office/powerpoint/2010/main" val="79881237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EFD485"/>
        </a:solid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1B3740AF-E675-42BE-A189-ABCECA1A81AE}"/>
              </a:ext>
            </a:extLst>
          </p:cNvPr>
          <p:cNvSpPr/>
          <p:nvPr userDrawn="1"/>
        </p:nvSpPr>
        <p:spPr>
          <a:xfrm>
            <a:off x="4794736" y="1308294"/>
            <a:ext cx="2602523" cy="24196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Rettangolo 9">
            <a:extLst>
              <a:ext uri="{FF2B5EF4-FFF2-40B4-BE49-F238E27FC236}">
                <a16:creationId xmlns:a16="http://schemas.microsoft.com/office/drawing/2014/main" id="{51E6DB1A-82C4-4D31-BAD7-53B0226442FB}"/>
              </a:ext>
            </a:extLst>
          </p:cNvPr>
          <p:cNvSpPr/>
          <p:nvPr userDrawn="1"/>
        </p:nvSpPr>
        <p:spPr>
          <a:xfrm>
            <a:off x="0" y="5187462"/>
            <a:ext cx="12192000" cy="102694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5400" b="0" dirty="0">
              <a:solidFill>
                <a:srgbClr val="0B78BD"/>
              </a:solidFill>
              <a:latin typeface="+mn-lt"/>
            </a:endParaRPr>
          </a:p>
        </p:txBody>
      </p:sp>
      <p:sp>
        <p:nvSpPr>
          <p:cNvPr id="11" name="Segnaposto immagine 2">
            <a:extLst>
              <a:ext uri="{FF2B5EF4-FFF2-40B4-BE49-F238E27FC236}">
                <a16:creationId xmlns:a16="http://schemas.microsoft.com/office/drawing/2014/main" id="{9024054E-FC58-4A9F-88D6-B1508DD55DBB}"/>
              </a:ext>
            </a:extLst>
          </p:cNvPr>
          <p:cNvSpPr>
            <a:spLocks noGrp="1"/>
          </p:cNvSpPr>
          <p:nvPr>
            <p:ph type="pic" idx="1"/>
          </p:nvPr>
        </p:nvSpPr>
        <p:spPr>
          <a:xfrm>
            <a:off x="4794737" y="1308294"/>
            <a:ext cx="2602523" cy="241964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12" name="CasellaDiTesto 11">
            <a:extLst>
              <a:ext uri="{FF2B5EF4-FFF2-40B4-BE49-F238E27FC236}">
                <a16:creationId xmlns:a16="http://schemas.microsoft.com/office/drawing/2014/main" id="{9E73A9E7-9566-4807-80F0-C8A8ACDB8D9B}"/>
              </a:ext>
            </a:extLst>
          </p:cNvPr>
          <p:cNvSpPr txBox="1"/>
          <p:nvPr userDrawn="1"/>
        </p:nvSpPr>
        <p:spPr>
          <a:xfrm>
            <a:off x="4794735" y="3727937"/>
            <a:ext cx="2602523" cy="523220"/>
          </a:xfrm>
          <a:prstGeom prst="rect">
            <a:avLst/>
          </a:prstGeom>
          <a:noFill/>
        </p:spPr>
        <p:txBody>
          <a:bodyPr wrap="square" rtlCol="0">
            <a:spAutoFit/>
          </a:bodyPr>
          <a:lstStyle/>
          <a:p>
            <a:pPr algn="ctr"/>
            <a:r>
              <a:rPr lang="it-IT" sz="2800" dirty="0">
                <a:solidFill>
                  <a:schemeClr val="bg1"/>
                </a:solidFill>
              </a:rPr>
              <a:t>Speaker Name</a:t>
            </a:r>
          </a:p>
        </p:txBody>
      </p:sp>
    </p:spTree>
    <p:extLst>
      <p:ext uri="{BB962C8B-B14F-4D97-AF65-F5344CB8AC3E}">
        <p14:creationId xmlns:p14="http://schemas.microsoft.com/office/powerpoint/2010/main" val="34556470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bg1"/>
        </a:solidFill>
        <a:effectLst/>
      </p:bgPr>
    </p:bg>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10504714" y="6356350"/>
            <a:ext cx="1277983" cy="365125"/>
          </a:xfrm>
          <a:prstGeom prst="rect">
            <a:avLst/>
          </a:prstGeom>
        </p:spPr>
        <p:txBody>
          <a:bodyPr vert="horz" lIns="91440" tIns="45720" rIns="91440" bIns="45720" rtlCol="0" anchor="ctr"/>
          <a:lstStyle>
            <a:defPPr>
              <a:defRPr lang="it-IT"/>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1619794" y="6356350"/>
            <a:ext cx="8884920" cy="365125"/>
          </a:xfrm>
          <a:prstGeom prst="rect">
            <a:avLst/>
          </a:prstGeom>
        </p:spPr>
        <p:txBody>
          <a:bodyPr vert="horz" lIns="91440" tIns="45720" rIns="91440" bIns="45720" rtlCol="0" anchor="ctr"/>
          <a:lstStyle>
            <a:defPPr>
              <a:defRPr lang="it-IT"/>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hasCustomPrompt="1"/>
          </p:nvPr>
        </p:nvSpPr>
        <p:spPr>
          <a:xfrm>
            <a:off x="1619794" y="316559"/>
            <a:ext cx="10162903" cy="6627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a:lstStyle>
          <a:p>
            <a:r>
              <a:rPr lang="it-IT" dirty="0"/>
              <a:t>Agenda</a:t>
            </a:r>
          </a:p>
        </p:txBody>
      </p:sp>
      <p:sp>
        <p:nvSpPr>
          <p:cNvPr id="10" name="Rettangolo 9">
            <a:extLst>
              <a:ext uri="{FF2B5EF4-FFF2-40B4-BE49-F238E27FC236}">
                <a16:creationId xmlns:a16="http://schemas.microsoft.com/office/drawing/2014/main" id="{72F75EAC-49A5-42C5-A41A-271C74B54F74}"/>
              </a:ext>
            </a:extLst>
          </p:cNvPr>
          <p:cNvSpPr/>
          <p:nvPr userDrawn="1"/>
        </p:nvSpPr>
        <p:spPr>
          <a:xfrm>
            <a:off x="0" y="0"/>
            <a:ext cx="1332411" cy="6839745"/>
          </a:xfrm>
          <a:prstGeom prst="rect">
            <a:avLst/>
          </a:prstGeom>
          <a:solidFill>
            <a:srgbClr val="EFD485"/>
          </a:solidFill>
          <a:ln>
            <a:solidFill>
              <a:srgbClr val="EFD4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1" name="Immagine 10">
            <a:extLst>
              <a:ext uri="{FF2B5EF4-FFF2-40B4-BE49-F238E27FC236}">
                <a16:creationId xmlns:a16="http://schemas.microsoft.com/office/drawing/2014/main" id="{7BBDB68D-3EA1-4F6B-B91B-966B58B868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8255"/>
            <a:ext cx="1332411" cy="1332411"/>
          </a:xfrm>
          <a:prstGeom prst="rect">
            <a:avLst/>
          </a:prstGeom>
        </p:spPr>
      </p:pic>
      <p:sp>
        <p:nvSpPr>
          <p:cNvPr id="12" name="Segnaposto testo 2">
            <a:extLst>
              <a:ext uri="{FF2B5EF4-FFF2-40B4-BE49-F238E27FC236}">
                <a16:creationId xmlns:a16="http://schemas.microsoft.com/office/drawing/2014/main" id="{C75428D7-6ACD-4F9B-9159-66E4F87F735F}"/>
              </a:ext>
            </a:extLst>
          </p:cNvPr>
          <p:cNvSpPr>
            <a:spLocks noGrp="1"/>
          </p:cNvSpPr>
          <p:nvPr>
            <p:ph idx="1"/>
          </p:nvPr>
        </p:nvSpPr>
        <p:spPr>
          <a:xfrm>
            <a:off x="1619794" y="1492176"/>
            <a:ext cx="10162903" cy="4351338"/>
          </a:xfrm>
          <a:prstGeom prst="rect">
            <a:avLst/>
          </a:prstGeom>
        </p:spPr>
        <p:txBody>
          <a:bodyPr vert="horz" lIns="91440" tIns="45720" rIns="91440" bIns="45720" rtlCol="0">
            <a:normAutofit/>
          </a:bodyPr>
          <a:lstStyle>
            <a:lvl1pPr>
              <a:defRPr sz="2400">
                <a:solidFill>
                  <a:srgbClr val="3B3838"/>
                </a:solidFill>
              </a:defRPr>
            </a:lvl1pPr>
            <a:lvl2pPr>
              <a:defRPr sz="2400">
                <a:solidFill>
                  <a:srgbClr val="3B3838"/>
                </a:solidFill>
              </a:defRPr>
            </a:lvl2pPr>
            <a:lvl3pPr>
              <a:defRPr sz="2400">
                <a:solidFill>
                  <a:srgbClr val="3B3838"/>
                </a:solidFill>
              </a:defRPr>
            </a:lvl3pPr>
            <a:lvl4pPr>
              <a:defRPr sz="2400">
                <a:solidFill>
                  <a:srgbClr val="3B3838"/>
                </a:solidFill>
              </a:defRPr>
            </a:lvl4pPr>
            <a:lvl5pPr>
              <a:defRPr sz="2400">
                <a:solidFill>
                  <a:srgbClr val="3B3838"/>
                </a:solidFill>
              </a:defRPr>
            </a:lvl5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387277417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2">
    <p:bg>
      <p:bgPr>
        <a:solidFill>
          <a:schemeClr val="bg1"/>
        </a:solidFill>
        <a:effectLst/>
      </p:bgPr>
    </p:bg>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10504714" y="6356350"/>
            <a:ext cx="1277983" cy="365125"/>
          </a:xfrm>
          <a:prstGeom prst="rect">
            <a:avLst/>
          </a:prstGeom>
        </p:spPr>
        <p:txBody>
          <a:bodyPr vert="horz" lIns="91440" tIns="45720" rIns="91440" bIns="45720" rtlCol="0" anchor="ctr"/>
          <a:lstStyle>
            <a:defPPr>
              <a:defRPr lang="it-IT"/>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1619794" y="6356350"/>
            <a:ext cx="8884920" cy="365125"/>
          </a:xfrm>
          <a:prstGeom prst="rect">
            <a:avLst/>
          </a:prstGeom>
        </p:spPr>
        <p:txBody>
          <a:bodyPr vert="horz" lIns="91440" tIns="45720" rIns="91440" bIns="45720" rtlCol="0" anchor="ctr"/>
          <a:lstStyle>
            <a:defPPr>
              <a:defRPr lang="it-IT"/>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a:lstStyle>
          <a:p>
            <a:endParaRPr lang="it-IT" dirty="0"/>
          </a:p>
        </p:txBody>
      </p:sp>
      <p:sp>
        <p:nvSpPr>
          <p:cNvPr id="10" name="Rettangolo 9">
            <a:extLst>
              <a:ext uri="{FF2B5EF4-FFF2-40B4-BE49-F238E27FC236}">
                <a16:creationId xmlns:a16="http://schemas.microsoft.com/office/drawing/2014/main" id="{72F75EAC-49A5-42C5-A41A-271C74B54F74}"/>
              </a:ext>
            </a:extLst>
          </p:cNvPr>
          <p:cNvSpPr/>
          <p:nvPr userDrawn="1"/>
        </p:nvSpPr>
        <p:spPr>
          <a:xfrm>
            <a:off x="0" y="0"/>
            <a:ext cx="1332411" cy="6839745"/>
          </a:xfrm>
          <a:prstGeom prst="rect">
            <a:avLst/>
          </a:prstGeom>
          <a:solidFill>
            <a:srgbClr val="EFD4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1" name="Immagine 10">
            <a:extLst>
              <a:ext uri="{FF2B5EF4-FFF2-40B4-BE49-F238E27FC236}">
                <a16:creationId xmlns:a16="http://schemas.microsoft.com/office/drawing/2014/main" id="{7BBDB68D-3EA1-4F6B-B91B-966B58B868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8255"/>
            <a:ext cx="1332411" cy="1332411"/>
          </a:xfrm>
          <a:prstGeom prst="rect">
            <a:avLst/>
          </a:prstGeom>
        </p:spPr>
      </p:pic>
      <p:sp>
        <p:nvSpPr>
          <p:cNvPr id="7" name="Segnaposto titolo 1">
            <a:extLst>
              <a:ext uri="{FF2B5EF4-FFF2-40B4-BE49-F238E27FC236}">
                <a16:creationId xmlns:a16="http://schemas.microsoft.com/office/drawing/2014/main" id="{8304AE0C-0056-49D9-A1BB-E5FD6B842774}"/>
              </a:ext>
            </a:extLst>
          </p:cNvPr>
          <p:cNvSpPr txBox="1">
            <a:spLocks/>
          </p:cNvSpPr>
          <p:nvPr userDrawn="1"/>
        </p:nvSpPr>
        <p:spPr>
          <a:xfrm rot="16200000">
            <a:off x="-1854893" y="3503863"/>
            <a:ext cx="5042195"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pPr algn="ctr"/>
            <a:r>
              <a:rPr lang="it-IT">
                <a:solidFill>
                  <a:schemeClr val="bg1"/>
                </a:solidFill>
              </a:rPr>
              <a:t>Agenda</a:t>
            </a:r>
            <a:endParaRPr lang="it-IT" dirty="0">
              <a:solidFill>
                <a:schemeClr val="bg1"/>
              </a:solidFill>
            </a:endParaRPr>
          </a:p>
        </p:txBody>
      </p:sp>
      <p:sp>
        <p:nvSpPr>
          <p:cNvPr id="8" name="Segnaposto testo 2">
            <a:extLst>
              <a:ext uri="{FF2B5EF4-FFF2-40B4-BE49-F238E27FC236}">
                <a16:creationId xmlns:a16="http://schemas.microsoft.com/office/drawing/2014/main" id="{8BBCFD4C-AEE9-4341-8F2A-49306A05990A}"/>
              </a:ext>
            </a:extLst>
          </p:cNvPr>
          <p:cNvSpPr>
            <a:spLocks noGrp="1"/>
          </p:cNvSpPr>
          <p:nvPr>
            <p:ph idx="1"/>
          </p:nvPr>
        </p:nvSpPr>
        <p:spPr>
          <a:xfrm>
            <a:off x="1619794" y="1492176"/>
            <a:ext cx="10162903" cy="4351338"/>
          </a:xfrm>
          <a:prstGeom prst="rect">
            <a:avLst/>
          </a:prstGeom>
        </p:spPr>
        <p:txBody>
          <a:bodyPr vert="horz" lIns="91440" tIns="45720" rIns="91440" bIns="45720" rtlCol="0">
            <a:normAutofit/>
          </a:bodyPr>
          <a:lstStyle>
            <a:lvl1pPr>
              <a:defRPr sz="2400">
                <a:solidFill>
                  <a:srgbClr val="3B3838"/>
                </a:solidFill>
              </a:defRPr>
            </a:lvl1pPr>
            <a:lvl2pPr>
              <a:defRPr sz="2400">
                <a:solidFill>
                  <a:srgbClr val="3B3838"/>
                </a:solidFill>
              </a:defRPr>
            </a:lvl2pPr>
            <a:lvl3pPr>
              <a:defRPr sz="2400">
                <a:solidFill>
                  <a:srgbClr val="3B3838"/>
                </a:solidFill>
              </a:defRPr>
            </a:lvl3pPr>
            <a:lvl4pPr>
              <a:defRPr sz="2400">
                <a:solidFill>
                  <a:srgbClr val="3B3838"/>
                </a:solidFill>
              </a:defRPr>
            </a:lvl4pPr>
            <a:lvl5pPr>
              <a:defRPr sz="2400">
                <a:solidFill>
                  <a:srgbClr val="3B3838"/>
                </a:solidFill>
              </a:defRPr>
            </a:lvl5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24004847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4">
    <p:bg>
      <p:bgPr>
        <a:solidFill>
          <a:schemeClr val="bg1"/>
        </a:solidFill>
        <a:effectLst/>
      </p:bgPr>
    </p:bg>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10504714" y="6356350"/>
            <a:ext cx="1277983" cy="365125"/>
          </a:xfrm>
          <a:prstGeom prst="rect">
            <a:avLst/>
          </a:prstGeom>
        </p:spPr>
        <p:txBody>
          <a:bodyPr vert="horz" lIns="91440" tIns="45720" rIns="91440" bIns="45720" rtlCol="0" anchor="ctr"/>
          <a:lstStyle>
            <a:defPPr>
              <a:defRPr lang="it-IT"/>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1619794" y="6356350"/>
            <a:ext cx="8884920" cy="365125"/>
          </a:xfrm>
          <a:prstGeom prst="rect">
            <a:avLst/>
          </a:prstGeom>
        </p:spPr>
        <p:txBody>
          <a:bodyPr vert="horz" lIns="91440" tIns="45720" rIns="91440" bIns="45720" rtlCol="0" anchor="ctr"/>
          <a:lstStyle>
            <a:defPPr>
              <a:defRPr lang="it-IT"/>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a:lstStyle>
          <a:p>
            <a:endParaRPr lang="it-IT" dirty="0"/>
          </a:p>
        </p:txBody>
      </p:sp>
      <p:sp>
        <p:nvSpPr>
          <p:cNvPr id="10" name="Rettangolo 9">
            <a:extLst>
              <a:ext uri="{FF2B5EF4-FFF2-40B4-BE49-F238E27FC236}">
                <a16:creationId xmlns:a16="http://schemas.microsoft.com/office/drawing/2014/main" id="{72F75EAC-49A5-42C5-A41A-271C74B54F74}"/>
              </a:ext>
            </a:extLst>
          </p:cNvPr>
          <p:cNvSpPr/>
          <p:nvPr userDrawn="1"/>
        </p:nvSpPr>
        <p:spPr>
          <a:xfrm>
            <a:off x="0" y="0"/>
            <a:ext cx="1332411" cy="6839745"/>
          </a:xfrm>
          <a:prstGeom prst="rect">
            <a:avLst/>
          </a:prstGeom>
          <a:solidFill>
            <a:srgbClr val="EFD4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1" name="Immagine 10">
            <a:extLst>
              <a:ext uri="{FF2B5EF4-FFF2-40B4-BE49-F238E27FC236}">
                <a16:creationId xmlns:a16="http://schemas.microsoft.com/office/drawing/2014/main" id="{7BBDB68D-3EA1-4F6B-B91B-966B58B868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8255"/>
            <a:ext cx="1332411" cy="1332411"/>
          </a:xfrm>
          <a:prstGeom prst="rect">
            <a:avLst/>
          </a:prstGeom>
        </p:spPr>
      </p:pic>
      <p:sp>
        <p:nvSpPr>
          <p:cNvPr id="7" name="Segnaposto titolo 1">
            <a:extLst>
              <a:ext uri="{FF2B5EF4-FFF2-40B4-BE49-F238E27FC236}">
                <a16:creationId xmlns:a16="http://schemas.microsoft.com/office/drawing/2014/main" id="{8C83AD98-DC2D-414F-85A7-3B59E4D18FD3}"/>
              </a:ext>
            </a:extLst>
          </p:cNvPr>
          <p:cNvSpPr txBox="1">
            <a:spLocks/>
          </p:cNvSpPr>
          <p:nvPr userDrawn="1"/>
        </p:nvSpPr>
        <p:spPr>
          <a:xfrm>
            <a:off x="159767" y="1772529"/>
            <a:ext cx="1012875" cy="4276578"/>
          </a:xfrm>
          <a:prstGeom prst="rect">
            <a:avLst/>
          </a:prstGeom>
        </p:spPr>
        <p:txBody>
          <a:bodyPr vert="wordArtVert" lIns="91440" tIns="45720" rIns="91440" bIns="45720" rtlCol="0" anchor="ctr">
            <a:normAutofit fontScale="85000"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chemeClr val="bg1"/>
                </a:solidFill>
              </a:rPr>
              <a:t>AGENDA</a:t>
            </a:r>
          </a:p>
        </p:txBody>
      </p:sp>
      <p:sp>
        <p:nvSpPr>
          <p:cNvPr id="8" name="Segnaposto testo 2">
            <a:extLst>
              <a:ext uri="{FF2B5EF4-FFF2-40B4-BE49-F238E27FC236}">
                <a16:creationId xmlns:a16="http://schemas.microsoft.com/office/drawing/2014/main" id="{CD0B6E79-F9A8-427C-AAAD-533973D8E78E}"/>
              </a:ext>
            </a:extLst>
          </p:cNvPr>
          <p:cNvSpPr>
            <a:spLocks noGrp="1"/>
          </p:cNvSpPr>
          <p:nvPr>
            <p:ph idx="1"/>
          </p:nvPr>
        </p:nvSpPr>
        <p:spPr>
          <a:xfrm>
            <a:off x="1619794" y="1492176"/>
            <a:ext cx="10162903" cy="4351338"/>
          </a:xfrm>
          <a:prstGeom prst="rect">
            <a:avLst/>
          </a:prstGeom>
        </p:spPr>
        <p:txBody>
          <a:bodyPr vert="horz" lIns="91440" tIns="45720" rIns="91440" bIns="45720" rtlCol="0">
            <a:normAutofit/>
          </a:bodyPr>
          <a:lstStyle>
            <a:lvl1pPr>
              <a:defRPr sz="2400">
                <a:solidFill>
                  <a:srgbClr val="3B3838"/>
                </a:solidFill>
              </a:defRPr>
            </a:lvl1pPr>
            <a:lvl2pPr>
              <a:defRPr sz="2400">
                <a:solidFill>
                  <a:srgbClr val="3B3838"/>
                </a:solidFill>
              </a:defRPr>
            </a:lvl2pPr>
            <a:lvl3pPr>
              <a:defRPr sz="2400">
                <a:solidFill>
                  <a:srgbClr val="3B3838"/>
                </a:solidFill>
              </a:defRPr>
            </a:lvl3pPr>
            <a:lvl4pPr>
              <a:defRPr sz="2400">
                <a:solidFill>
                  <a:srgbClr val="3B3838"/>
                </a:solidFill>
              </a:defRPr>
            </a:lvl4pPr>
            <a:lvl5pPr>
              <a:defRPr sz="2400">
                <a:solidFill>
                  <a:srgbClr val="3B3838"/>
                </a:solidFill>
              </a:defRPr>
            </a:lvl5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7792386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Vuota Logo DX">
    <p:bg>
      <p:bgPr>
        <a:solidFill>
          <a:schemeClr val="bg1"/>
        </a:solidFill>
        <a:effectLst/>
      </p:bgPr>
    </p:bg>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DD1460AA-79FC-1465-E8FD-4F3AAE43225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450286" y="5023939"/>
            <a:ext cx="1332411" cy="1332411"/>
          </a:xfrm>
          <a:prstGeom prst="rect">
            <a:avLst/>
          </a:prstGeom>
        </p:spPr>
      </p:pic>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10504714" y="6356350"/>
            <a:ext cx="1277983" cy="365125"/>
          </a:xfrm>
          <a:prstGeom prst="rect">
            <a:avLst/>
          </a:prstGeom>
        </p:spPr>
        <p:txBody>
          <a:bodyPr vert="horz" lIns="91440" tIns="45720" rIns="91440" bIns="45720" rtlCol="0" anchor="ctr"/>
          <a:lstStyle>
            <a:defPPr>
              <a:defRPr lang="it-IT"/>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661182" y="6356350"/>
            <a:ext cx="9843532" cy="365125"/>
          </a:xfrm>
          <a:prstGeom prst="rect">
            <a:avLst/>
          </a:prstGeom>
        </p:spPr>
        <p:txBody>
          <a:bodyPr vert="horz" lIns="91440" tIns="45720" rIns="91440" bIns="45720" rtlCol="0" anchor="ctr"/>
          <a:lstStyle>
            <a:defPPr>
              <a:defRPr lang="it-IT"/>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661182" y="316559"/>
            <a:ext cx="11121515" cy="6627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a:lstStyle>
          <a:p>
            <a:endParaRPr lang="it-IT" dirty="0"/>
          </a:p>
        </p:txBody>
      </p:sp>
      <p:sp>
        <p:nvSpPr>
          <p:cNvPr id="7" name="Segnaposto titolo 1">
            <a:extLst>
              <a:ext uri="{FF2B5EF4-FFF2-40B4-BE49-F238E27FC236}">
                <a16:creationId xmlns:a16="http://schemas.microsoft.com/office/drawing/2014/main" id="{8C83AD98-DC2D-414F-85A7-3B59E4D18FD3}"/>
              </a:ext>
            </a:extLst>
          </p:cNvPr>
          <p:cNvSpPr txBox="1">
            <a:spLocks/>
          </p:cNvSpPr>
          <p:nvPr userDrawn="1"/>
        </p:nvSpPr>
        <p:spPr>
          <a:xfrm>
            <a:off x="159767" y="1772529"/>
            <a:ext cx="1012875" cy="4276578"/>
          </a:xfrm>
          <a:prstGeom prst="rect">
            <a:avLst/>
          </a:prstGeom>
        </p:spPr>
        <p:txBody>
          <a:bodyPr vert="wordArtVert" lIns="91440" tIns="45720" rIns="91440" bIns="45720" rtlCol="0" anchor="ctr">
            <a:normAutofit fontScale="85000"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chemeClr val="bg1"/>
                </a:solidFill>
              </a:rPr>
              <a:t>AGENDA</a:t>
            </a:r>
          </a:p>
        </p:txBody>
      </p:sp>
    </p:spTree>
    <p:extLst>
      <p:ext uri="{BB962C8B-B14F-4D97-AF65-F5344CB8AC3E}">
        <p14:creationId xmlns:p14="http://schemas.microsoft.com/office/powerpoint/2010/main" val="335330084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estion">
    <p:bg>
      <p:bgPr>
        <a:solidFill>
          <a:schemeClr val="bg1"/>
        </a:solidFill>
        <a:effectLst/>
      </p:bgPr>
    </p:bg>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A9BBBF5A-31D2-2699-19F4-AA649B4BFB7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450286" y="5023939"/>
            <a:ext cx="1332411" cy="1332411"/>
          </a:xfrm>
          <a:prstGeom prst="rect">
            <a:avLst/>
          </a:prstGeom>
        </p:spPr>
      </p:pic>
      <p:pic>
        <p:nvPicPr>
          <p:cNvPr id="10" name="Picture 9" descr="Yellow and blue symbols">
            <a:extLst>
              <a:ext uri="{FF2B5EF4-FFF2-40B4-BE49-F238E27FC236}">
                <a16:creationId xmlns:a16="http://schemas.microsoft.com/office/drawing/2014/main" id="{F166FFCD-9468-2B31-BCAA-F7AAC91BF12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77440" y="0"/>
            <a:ext cx="9814560" cy="6858000"/>
          </a:xfrm>
          <a:prstGeom prst="rect">
            <a:avLst/>
          </a:prstGeom>
        </p:spPr>
      </p:pic>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9929004" y="6356350"/>
            <a:ext cx="1853693" cy="365125"/>
          </a:xfrm>
          <a:prstGeom prst="rect">
            <a:avLst/>
          </a:prstGeom>
        </p:spPr>
        <p:txBody>
          <a:bodyPr/>
          <a:lstStyle>
            <a:lvl1pPr>
              <a:defRPr/>
            </a:lvl1pPr>
          </a:lstStyle>
          <a:p>
            <a:r>
              <a:rPr lang="it-IT" dirty="0"/>
              <a:t>#</a:t>
            </a:r>
            <a:r>
              <a:rPr lang="it-IT" dirty="0" err="1"/>
              <a:t>AzureDayTorino</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2625634" y="6356350"/>
            <a:ext cx="7879080" cy="365125"/>
          </a:xfrm>
          <a:prstGeom prst="rect">
            <a:avLst/>
          </a:prstGeom>
        </p:spPr>
        <p:txBody>
          <a:bodyPr/>
          <a:lstStyle/>
          <a:p>
            <a:endParaRPr lang="it-IT" dirty="0"/>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hasCustomPrompt="1"/>
          </p:nvPr>
        </p:nvSpPr>
        <p:spPr>
          <a:xfrm>
            <a:off x="2625634" y="316559"/>
            <a:ext cx="9157063" cy="662782"/>
          </a:xfrm>
          <a:prstGeom prst="rect">
            <a:avLst/>
          </a:prstGeom>
        </p:spPr>
        <p:txBody>
          <a:bodyPr vert="horz" lIns="91440" tIns="45720" rIns="91440" bIns="45720" rtlCol="0" anchor="ctr">
            <a:normAutofit/>
          </a:bodyPr>
          <a:lstStyle>
            <a:lvl1pPr algn="ctr">
              <a:defRPr>
                <a:solidFill>
                  <a:srgbClr val="3B3838"/>
                </a:solidFill>
                <a:latin typeface="+mn-lt"/>
              </a:defRPr>
            </a:lvl1pPr>
          </a:lstStyle>
          <a:p>
            <a:r>
              <a:rPr lang="it-IT" dirty="0" err="1"/>
              <a:t>Question</a:t>
            </a:r>
            <a:r>
              <a:rPr lang="it-IT" dirty="0"/>
              <a:t> Time</a:t>
            </a:r>
          </a:p>
        </p:txBody>
      </p:sp>
      <p:pic>
        <p:nvPicPr>
          <p:cNvPr id="5" name="Google Shape;77;p15" descr="photo-1434030216411-0b793f4b4173.jpg">
            <a:extLst>
              <a:ext uri="{FF2B5EF4-FFF2-40B4-BE49-F238E27FC236}">
                <a16:creationId xmlns:a16="http://schemas.microsoft.com/office/drawing/2014/main" id="{722A8524-7FE9-45F2-ADA9-A2F63D65BDF5}"/>
              </a:ext>
            </a:extLst>
          </p:cNvPr>
          <p:cNvPicPr preferRelativeResize="0"/>
          <p:nvPr userDrawn="1"/>
        </p:nvPicPr>
        <p:blipFill rotWithShape="1">
          <a:blip r:embed="rId5">
            <a:alphaModFix/>
          </a:blip>
          <a:srcRect l="28831" r="30600"/>
          <a:stretch/>
        </p:blipFill>
        <p:spPr>
          <a:xfrm>
            <a:off x="0" y="0"/>
            <a:ext cx="2377440" cy="6858000"/>
          </a:xfrm>
          <a:prstGeom prst="rect">
            <a:avLst/>
          </a:prstGeom>
          <a:noFill/>
          <a:ln>
            <a:noFill/>
          </a:ln>
        </p:spPr>
      </p:pic>
    </p:spTree>
    <p:extLst>
      <p:ext uri="{BB962C8B-B14F-4D97-AF65-F5344CB8AC3E}">
        <p14:creationId xmlns:p14="http://schemas.microsoft.com/office/powerpoint/2010/main" val="19863775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emo">
    <p:bg>
      <p:bgPr>
        <a:solidFill>
          <a:srgbClr val="EFD485"/>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10A40383-6BE9-4A38-84CE-E391022B5B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1552" y="727916"/>
            <a:ext cx="11128896" cy="5814413"/>
          </a:xfrm>
          <a:prstGeom prst="rect">
            <a:avLst/>
          </a:prstGeom>
          <a:effectLst>
            <a:outerShdw dist="50800" dir="5400000" algn="ctr" rotWithShape="0">
              <a:srgbClr val="000000">
                <a:alpha val="16000"/>
              </a:srgbClr>
            </a:outerShdw>
          </a:effectLst>
        </p:spPr>
      </p:pic>
      <p:sp>
        <p:nvSpPr>
          <p:cNvPr id="4" name="Segnaposto titolo 1">
            <a:extLst>
              <a:ext uri="{FF2B5EF4-FFF2-40B4-BE49-F238E27FC236}">
                <a16:creationId xmlns:a16="http://schemas.microsoft.com/office/drawing/2014/main" id="{A6C10EFC-5B15-4541-BF67-29984B125E7D}"/>
              </a:ext>
            </a:extLst>
          </p:cNvPr>
          <p:cNvSpPr>
            <a:spLocks noGrp="1"/>
          </p:cNvSpPr>
          <p:nvPr>
            <p:ph type="title" hasCustomPrompt="1"/>
          </p:nvPr>
        </p:nvSpPr>
        <p:spPr>
          <a:xfrm>
            <a:off x="1880047" y="315671"/>
            <a:ext cx="9261565" cy="662782"/>
          </a:xfrm>
          <a:prstGeom prst="rect">
            <a:avLst/>
          </a:prstGeom>
        </p:spPr>
        <p:txBody>
          <a:bodyPr vert="horz" lIns="91440" tIns="45720" rIns="91440" bIns="45720" rtlCol="0" anchor="ctr">
            <a:normAutofit/>
          </a:bodyPr>
          <a:lstStyle>
            <a:lvl1pPr algn="ctr">
              <a:defRPr>
                <a:solidFill>
                  <a:schemeClr val="bg1"/>
                </a:solidFill>
                <a:latin typeface="+mn-lt"/>
              </a:defRPr>
            </a:lvl1pPr>
          </a:lstStyle>
          <a:p>
            <a:r>
              <a:rPr lang="it-IT" dirty="0"/>
              <a:t>Demo</a:t>
            </a:r>
          </a:p>
        </p:txBody>
      </p:sp>
    </p:spTree>
    <p:extLst>
      <p:ext uri="{BB962C8B-B14F-4D97-AF65-F5344CB8AC3E}">
        <p14:creationId xmlns:p14="http://schemas.microsoft.com/office/powerpoint/2010/main" val="204972795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Demo">
    <p:bg>
      <p:bgPr>
        <a:solidFill>
          <a:srgbClr val="EFD485"/>
        </a:solidFill>
        <a:effectLst/>
      </p:bgPr>
    </p:bg>
    <p:spTree>
      <p:nvGrpSpPr>
        <p:cNvPr id="1" name=""/>
        <p:cNvGrpSpPr/>
        <p:nvPr/>
      </p:nvGrpSpPr>
      <p:grpSpPr>
        <a:xfrm>
          <a:off x="0" y="0"/>
          <a:ext cx="0" cy="0"/>
          <a:chOff x="0" y="0"/>
          <a:chExt cx="0" cy="0"/>
        </a:xfrm>
      </p:grpSpPr>
      <p:sp>
        <p:nvSpPr>
          <p:cNvPr id="4" name="Segnaposto titolo 1">
            <a:extLst>
              <a:ext uri="{FF2B5EF4-FFF2-40B4-BE49-F238E27FC236}">
                <a16:creationId xmlns:a16="http://schemas.microsoft.com/office/drawing/2014/main" id="{A6C10EFC-5B15-4541-BF67-29984B125E7D}"/>
              </a:ext>
            </a:extLst>
          </p:cNvPr>
          <p:cNvSpPr>
            <a:spLocks noGrp="1"/>
          </p:cNvSpPr>
          <p:nvPr>
            <p:ph type="title" hasCustomPrompt="1"/>
          </p:nvPr>
        </p:nvSpPr>
        <p:spPr>
          <a:xfrm>
            <a:off x="1880047" y="315671"/>
            <a:ext cx="9261565" cy="662782"/>
          </a:xfrm>
          <a:prstGeom prst="rect">
            <a:avLst/>
          </a:prstGeom>
        </p:spPr>
        <p:txBody>
          <a:bodyPr vert="horz" lIns="91440" tIns="45720" rIns="91440" bIns="45720" rtlCol="0" anchor="ctr">
            <a:normAutofit/>
          </a:bodyPr>
          <a:lstStyle>
            <a:lvl1pPr algn="ctr">
              <a:defRPr>
                <a:solidFill>
                  <a:srgbClr val="3B3838"/>
                </a:solidFill>
                <a:latin typeface="+mn-lt"/>
              </a:defRPr>
            </a:lvl1pPr>
          </a:lstStyle>
          <a:p>
            <a:r>
              <a:rPr lang="it-IT" dirty="0"/>
              <a:t>Demo</a:t>
            </a:r>
          </a:p>
        </p:txBody>
      </p:sp>
    </p:spTree>
    <p:extLst>
      <p:ext uri="{BB962C8B-B14F-4D97-AF65-F5344CB8AC3E}">
        <p14:creationId xmlns:p14="http://schemas.microsoft.com/office/powerpoint/2010/main" val="86913919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preserve="1" userDrawn="1">
  <p:cSld name="Title">
    <p:bg>
      <p:bgPr>
        <a:solidFill>
          <a:schemeClr val="bg1"/>
        </a:solidFill>
        <a:effectLst/>
      </p:bgPr>
    </p:bg>
    <p:spTree>
      <p:nvGrpSpPr>
        <p:cNvPr id="1" name="Shape 9"/>
        <p:cNvGrpSpPr/>
        <p:nvPr/>
      </p:nvGrpSpPr>
      <p:grpSpPr>
        <a:xfrm>
          <a:off x="0" y="0"/>
          <a:ext cx="0" cy="0"/>
          <a:chOff x="0" y="0"/>
          <a:chExt cx="0" cy="0"/>
        </a:xfrm>
      </p:grpSpPr>
      <p:pic>
        <p:nvPicPr>
          <p:cNvPr id="3" name="Immagine 2">
            <a:extLst>
              <a:ext uri="{FF2B5EF4-FFF2-40B4-BE49-F238E27FC236}">
                <a16:creationId xmlns:a16="http://schemas.microsoft.com/office/drawing/2014/main" id="{E614E76A-DB37-2759-82D3-7560F8F07AF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698476" y="248859"/>
            <a:ext cx="1332411" cy="1332411"/>
          </a:xfrm>
          <a:prstGeom prst="rect">
            <a:avLst/>
          </a:prstGeom>
        </p:spPr>
      </p:pic>
      <p:sp>
        <p:nvSpPr>
          <p:cNvPr id="4" name="CasellaDiTesto 3">
            <a:extLst>
              <a:ext uri="{FF2B5EF4-FFF2-40B4-BE49-F238E27FC236}">
                <a16:creationId xmlns:a16="http://schemas.microsoft.com/office/drawing/2014/main" id="{E32C6391-BD02-E1A8-6B3B-AFF1CE3F23FD}"/>
              </a:ext>
            </a:extLst>
          </p:cNvPr>
          <p:cNvSpPr txBox="1"/>
          <p:nvPr userDrawn="1"/>
        </p:nvSpPr>
        <p:spPr>
          <a:xfrm>
            <a:off x="2236596" y="1150247"/>
            <a:ext cx="7760677" cy="584775"/>
          </a:xfrm>
          <a:prstGeom prst="rect">
            <a:avLst/>
          </a:prstGeom>
          <a:noFill/>
        </p:spPr>
        <p:txBody>
          <a:bodyPr wrap="square" rtlCol="0">
            <a:spAutoFit/>
          </a:bodyPr>
          <a:lstStyle/>
          <a:p>
            <a:pPr algn="ctr"/>
            <a:r>
              <a:rPr lang="it-IT" sz="3200" dirty="0">
                <a:solidFill>
                  <a:srgbClr val="EFD485"/>
                </a:solidFill>
              </a:rPr>
              <a:t>Platinum Sponsor</a:t>
            </a:r>
          </a:p>
        </p:txBody>
      </p:sp>
      <p:pic>
        <p:nvPicPr>
          <p:cNvPr id="1026" name="Picture 2" descr="Microsoft">
            <a:extLst>
              <a:ext uri="{FF2B5EF4-FFF2-40B4-BE49-F238E27FC236}">
                <a16:creationId xmlns:a16="http://schemas.microsoft.com/office/drawing/2014/main" id="{D3BB2535-1392-4C23-5759-4C1907BA4950}"/>
              </a:ext>
            </a:extLst>
          </p:cNvPr>
          <p:cNvPicPr>
            <a:picLocks noChangeAspect="1" noChangeArrowheads="1"/>
          </p:cNvPicPr>
          <p:nvPr userDrawn="1"/>
        </p:nvPicPr>
        <p:blipFill>
          <a:blip r:embed="rId4">
            <a:alphaModFix/>
            <a:extLst>
              <a:ext uri="{28A0092B-C50C-407E-A947-70E740481C1C}">
                <a14:useLocalDpi xmlns:a14="http://schemas.microsoft.com/office/drawing/2010/main" val="0"/>
              </a:ext>
            </a:extLst>
          </a:blip>
          <a:srcRect/>
          <a:stretch>
            <a:fillRect/>
          </a:stretch>
        </p:blipFill>
        <p:spPr bwMode="auto">
          <a:xfrm>
            <a:off x="4177308" y="1758580"/>
            <a:ext cx="2324052" cy="11620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SC Technology">
            <a:extLst>
              <a:ext uri="{FF2B5EF4-FFF2-40B4-BE49-F238E27FC236}">
                <a16:creationId xmlns:a16="http://schemas.microsoft.com/office/drawing/2014/main" id="{2128AA76-60B4-001D-B5BA-3E2DB5A29910}"/>
              </a:ext>
            </a:extLst>
          </p:cNvPr>
          <p:cNvPicPr>
            <a:picLocks noChangeAspect="1" noChangeArrowheads="1"/>
          </p:cNvPicPr>
          <p:nvPr userDrawn="1"/>
        </p:nvPicPr>
        <p:blipFill>
          <a:blip r:embed="rId5">
            <a:alphaModFix/>
            <a:extLst>
              <a:ext uri="{28A0092B-C50C-407E-A947-70E740481C1C}">
                <a14:useLocalDpi xmlns:a14="http://schemas.microsoft.com/office/drawing/2010/main" val="0"/>
              </a:ext>
            </a:extLst>
          </a:blip>
          <a:srcRect/>
          <a:stretch>
            <a:fillRect/>
          </a:stretch>
        </p:blipFill>
        <p:spPr bwMode="auto">
          <a:xfrm>
            <a:off x="6535972" y="1781256"/>
            <a:ext cx="2223678" cy="1111839"/>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72C9EFB4-E3DC-D36E-EE4C-272D764688FB}"/>
              </a:ext>
            </a:extLst>
          </p:cNvPr>
          <p:cNvSpPr txBox="1"/>
          <p:nvPr userDrawn="1"/>
        </p:nvSpPr>
        <p:spPr>
          <a:xfrm>
            <a:off x="2236596" y="3062203"/>
            <a:ext cx="7760677" cy="584775"/>
          </a:xfrm>
          <a:prstGeom prst="rect">
            <a:avLst/>
          </a:prstGeom>
          <a:noFill/>
        </p:spPr>
        <p:txBody>
          <a:bodyPr wrap="square" rtlCol="0">
            <a:spAutoFit/>
          </a:bodyPr>
          <a:lstStyle/>
          <a:p>
            <a:pPr algn="ctr"/>
            <a:r>
              <a:rPr lang="it-IT" sz="3200" dirty="0">
                <a:solidFill>
                  <a:srgbClr val="EFD485"/>
                </a:solidFill>
              </a:rPr>
              <a:t>Technical Sponsor</a:t>
            </a:r>
          </a:p>
        </p:txBody>
      </p:sp>
      <p:pic>
        <p:nvPicPr>
          <p:cNvPr id="1030" name="Picture 6" descr="DotNetCode">
            <a:extLst>
              <a:ext uri="{FF2B5EF4-FFF2-40B4-BE49-F238E27FC236}">
                <a16:creationId xmlns:a16="http://schemas.microsoft.com/office/drawing/2014/main" id="{FC15D550-E442-432B-D4DE-B12B0F5FD966}"/>
              </a:ext>
            </a:extLst>
          </p:cNvPr>
          <p:cNvPicPr>
            <a:picLocks noChangeAspect="1" noChangeArrowheads="1"/>
          </p:cNvPicPr>
          <p:nvPr userDrawn="1"/>
        </p:nvPicPr>
        <p:blipFill>
          <a:blip r:embed="rId6">
            <a:alphaModFix/>
            <a:extLst>
              <a:ext uri="{28A0092B-C50C-407E-A947-70E740481C1C}">
                <a14:useLocalDpi xmlns:a14="http://schemas.microsoft.com/office/drawing/2010/main" val="0"/>
              </a:ext>
            </a:extLst>
          </a:blip>
          <a:srcRect/>
          <a:stretch>
            <a:fillRect/>
          </a:stretch>
        </p:blipFill>
        <p:spPr bwMode="auto">
          <a:xfrm>
            <a:off x="6321022" y="3899061"/>
            <a:ext cx="1564000" cy="782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icker Mule">
            <a:extLst>
              <a:ext uri="{FF2B5EF4-FFF2-40B4-BE49-F238E27FC236}">
                <a16:creationId xmlns:a16="http://schemas.microsoft.com/office/drawing/2014/main" id="{90E1947C-3A52-C4EA-6590-A114F1DEF4F0}"/>
              </a:ext>
            </a:extLst>
          </p:cNvPr>
          <p:cNvPicPr>
            <a:picLocks noChangeAspect="1" noChangeArrowheads="1"/>
          </p:cNvPicPr>
          <p:nvPr userDrawn="1"/>
        </p:nvPicPr>
        <p:blipFill>
          <a:blip r:embed="rId7">
            <a:alphaModFix/>
            <a:extLst>
              <a:ext uri="{28A0092B-C50C-407E-A947-70E740481C1C}">
                <a14:useLocalDpi xmlns:a14="http://schemas.microsoft.com/office/drawing/2010/main" val="0"/>
              </a:ext>
            </a:extLst>
          </a:blip>
          <a:srcRect/>
          <a:stretch>
            <a:fillRect/>
          </a:stretch>
        </p:blipFill>
        <p:spPr bwMode="auto">
          <a:xfrm>
            <a:off x="3430900" y="4831675"/>
            <a:ext cx="1752156" cy="87607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orino .NET">
            <a:extLst>
              <a:ext uri="{FF2B5EF4-FFF2-40B4-BE49-F238E27FC236}">
                <a16:creationId xmlns:a16="http://schemas.microsoft.com/office/drawing/2014/main" id="{35D98248-AB12-478D-17B0-9DA5F79F8FC3}"/>
              </a:ext>
            </a:extLst>
          </p:cNvPr>
          <p:cNvPicPr>
            <a:picLocks noChangeAspect="1" noChangeArrowheads="1"/>
          </p:cNvPicPr>
          <p:nvPr userDrawn="1"/>
        </p:nvPicPr>
        <p:blipFill>
          <a:blip r:embed="rId8">
            <a:alphaModFix/>
            <a:extLst>
              <a:ext uri="{28A0092B-C50C-407E-A947-70E740481C1C}">
                <a14:useLocalDpi xmlns:a14="http://schemas.microsoft.com/office/drawing/2010/main" val="0"/>
              </a:ext>
            </a:extLst>
          </a:blip>
          <a:srcRect/>
          <a:stretch>
            <a:fillRect/>
          </a:stretch>
        </p:blipFill>
        <p:spPr bwMode="auto">
          <a:xfrm>
            <a:off x="4177308" y="3824365"/>
            <a:ext cx="1677676"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ackt Publishing">
            <a:extLst>
              <a:ext uri="{FF2B5EF4-FFF2-40B4-BE49-F238E27FC236}">
                <a16:creationId xmlns:a16="http://schemas.microsoft.com/office/drawing/2014/main" id="{F2419F5C-C452-710B-B0AD-B6DEC64A2E0C}"/>
              </a:ext>
            </a:extLst>
          </p:cNvPr>
          <p:cNvPicPr>
            <a:picLocks noChangeAspect="1" noChangeArrowheads="1"/>
          </p:cNvPicPr>
          <p:nvPr userDrawn="1"/>
        </p:nvPicPr>
        <p:blipFill>
          <a:blip r:embed="rId9">
            <a:alphaModFix/>
            <a:extLst>
              <a:ext uri="{28A0092B-C50C-407E-A947-70E740481C1C}">
                <a14:useLocalDpi xmlns:a14="http://schemas.microsoft.com/office/drawing/2010/main" val="0"/>
              </a:ext>
            </a:extLst>
          </a:blip>
          <a:srcRect/>
          <a:stretch>
            <a:fillRect/>
          </a:stretch>
        </p:blipFill>
        <p:spPr bwMode="auto">
          <a:xfrm>
            <a:off x="5257162" y="4824032"/>
            <a:ext cx="1677675"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JetBrains">
            <a:extLst>
              <a:ext uri="{FF2B5EF4-FFF2-40B4-BE49-F238E27FC236}">
                <a16:creationId xmlns:a16="http://schemas.microsoft.com/office/drawing/2014/main" id="{45C8FAB0-5A19-4FA2-A639-C8EA6B509AF7}"/>
              </a:ext>
            </a:extLst>
          </p:cNvPr>
          <p:cNvPicPr>
            <a:picLocks noChangeAspect="1" noChangeArrowheads="1"/>
          </p:cNvPicPr>
          <p:nvPr userDrawn="1"/>
        </p:nvPicPr>
        <p:blipFill>
          <a:blip r:embed="rId10">
            <a:alphaModFix/>
            <a:extLst>
              <a:ext uri="{28A0092B-C50C-407E-A947-70E740481C1C}">
                <a14:useLocalDpi xmlns:a14="http://schemas.microsoft.com/office/drawing/2010/main" val="0"/>
              </a:ext>
            </a:extLst>
          </a:blip>
          <a:srcRect/>
          <a:stretch>
            <a:fillRect/>
          </a:stretch>
        </p:blipFill>
        <p:spPr bwMode="auto">
          <a:xfrm>
            <a:off x="7103022" y="4885016"/>
            <a:ext cx="1752156" cy="876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7511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image" Target="../media/image12.png"/><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microsoft.com/office/2007/relationships/hdphoto" Target="../media/hdphoto3.wdp"/></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6" Type="http://schemas.openxmlformats.org/officeDocument/2006/relationships/image" Target="../media/image1.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theme" Target="../theme/theme5.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FD485"/>
        </a:solidFill>
        <a:effectLst/>
      </p:bgPr>
    </p:bg>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8FA54CC7-9A7A-4045-B6C3-58856AE6AEB3}"/>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18255"/>
            <a:ext cx="1332411" cy="1332411"/>
          </a:xfrm>
          <a:prstGeom prst="rect">
            <a:avLst/>
          </a:prstGeom>
        </p:spPr>
      </p:pic>
    </p:spTree>
    <p:extLst>
      <p:ext uri="{BB962C8B-B14F-4D97-AF65-F5344CB8AC3E}">
        <p14:creationId xmlns:p14="http://schemas.microsoft.com/office/powerpoint/2010/main" val="3390333458"/>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3" r:id="rId8"/>
    <p:sldLayoutId id="2147483744"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ttangolo 6">
            <a:extLst>
              <a:ext uri="{FF2B5EF4-FFF2-40B4-BE49-F238E27FC236}">
                <a16:creationId xmlns:a16="http://schemas.microsoft.com/office/drawing/2014/main" id="{B4F1C049-6E41-4F28-8D79-231F45AC5418}"/>
              </a:ext>
            </a:extLst>
          </p:cNvPr>
          <p:cNvSpPr/>
          <p:nvPr userDrawn="1"/>
        </p:nvSpPr>
        <p:spPr>
          <a:xfrm>
            <a:off x="0" y="1"/>
            <a:ext cx="12192000" cy="1195754"/>
          </a:xfrm>
          <a:prstGeom prst="rect">
            <a:avLst/>
          </a:prstGeom>
          <a:solidFill>
            <a:srgbClr val="EFD4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Segnaposto titolo 1">
            <a:extLst>
              <a:ext uri="{FF2B5EF4-FFF2-40B4-BE49-F238E27FC236}">
                <a16:creationId xmlns:a16="http://schemas.microsoft.com/office/drawing/2014/main" id="{193C5AD0-FE2E-4D86-A507-E86907BB18D5}"/>
              </a:ext>
            </a:extLst>
          </p:cNvPr>
          <p:cNvSpPr>
            <a:spLocks noGrp="1"/>
          </p:cNvSpPr>
          <p:nvPr>
            <p:ph type="title"/>
          </p:nvPr>
        </p:nvSpPr>
        <p:spPr>
          <a:xfrm>
            <a:off x="1619794" y="316559"/>
            <a:ext cx="10162903" cy="662782"/>
          </a:xfrm>
          <a:prstGeom prst="rect">
            <a:avLst/>
          </a:prstGeom>
          <a:noFill/>
        </p:spPr>
        <p:txBody>
          <a:bodyPr vert="horz" lIns="91440" tIns="45720" rIns="91440" bIns="45720" rtlCol="0" anchor="ctr">
            <a:normAutofit/>
          </a:bodyPr>
          <a:lstStyle/>
          <a:p>
            <a:r>
              <a:rPr lang="it-IT" dirty="0"/>
              <a:t>Fare clic per modificare lo stile del titolo </a:t>
            </a:r>
          </a:p>
        </p:txBody>
      </p:sp>
      <p:sp>
        <p:nvSpPr>
          <p:cNvPr id="3" name="Segnaposto testo 2">
            <a:extLst>
              <a:ext uri="{FF2B5EF4-FFF2-40B4-BE49-F238E27FC236}">
                <a16:creationId xmlns:a16="http://schemas.microsoft.com/office/drawing/2014/main" id="{C821791A-A567-4377-ABF1-F28ADCB7524D}"/>
              </a:ext>
            </a:extLst>
          </p:cNvPr>
          <p:cNvSpPr>
            <a:spLocks noGrp="1"/>
          </p:cNvSpPr>
          <p:nvPr>
            <p:ph type="body" idx="1"/>
          </p:nvPr>
        </p:nvSpPr>
        <p:spPr>
          <a:xfrm>
            <a:off x="576776" y="1314157"/>
            <a:ext cx="11205922" cy="4812324"/>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4D7CEABB-53CB-47F0-B538-540607AD10F9}"/>
              </a:ext>
            </a:extLst>
          </p:cNvPr>
          <p:cNvSpPr>
            <a:spLocks noGrp="1"/>
          </p:cNvSpPr>
          <p:nvPr>
            <p:ph type="dt" sz="half" idx="2"/>
          </p:nvPr>
        </p:nvSpPr>
        <p:spPr>
          <a:xfrm>
            <a:off x="10504714" y="6356350"/>
            <a:ext cx="1277983"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4AF7A0EE-86E4-47D2-9966-E8417FAFE85C}"/>
              </a:ext>
            </a:extLst>
          </p:cNvPr>
          <p:cNvSpPr>
            <a:spLocks noGrp="1"/>
          </p:cNvSpPr>
          <p:nvPr>
            <p:ph type="ftr" sz="quarter" idx="3"/>
          </p:nvPr>
        </p:nvSpPr>
        <p:spPr>
          <a:xfrm>
            <a:off x="576776" y="6356350"/>
            <a:ext cx="992793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dirty="0"/>
          </a:p>
        </p:txBody>
      </p:sp>
      <p:pic>
        <p:nvPicPr>
          <p:cNvPr id="8" name="Immagine 7" descr="Immagine che contiene Elementi grafici, schizzo, disegno, arte&#10;&#10;Descrizione generata automaticamente">
            <a:extLst>
              <a:ext uri="{FF2B5EF4-FFF2-40B4-BE49-F238E27FC236}">
                <a16:creationId xmlns:a16="http://schemas.microsoft.com/office/drawing/2014/main" id="{EAE4BD8E-E654-B24C-24AA-93EDFE39A3DD}"/>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0"/>
            <a:ext cx="1494693" cy="1195754"/>
          </a:xfrm>
          <a:prstGeom prst="rect">
            <a:avLst/>
          </a:prstGeom>
        </p:spPr>
      </p:pic>
    </p:spTree>
    <p:extLst>
      <p:ext uri="{BB962C8B-B14F-4D97-AF65-F5344CB8AC3E}">
        <p14:creationId xmlns:p14="http://schemas.microsoft.com/office/powerpoint/2010/main" val="352924192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7" r:id="rId6"/>
    <p:sldLayoutId id="2147483728" r:id="rId7"/>
    <p:sldLayoutId id="2147483729" r:id="rId8"/>
    <p:sldLayoutId id="2147483730" r:id="rId9"/>
    <p:sldLayoutId id="2147483731" r:id="rId10"/>
    <p:sldLayoutId id="2147483745" r:id="rId11"/>
    <p:sldLayoutId id="2147483746" r:id="rId12"/>
    <p:sldLayoutId id="2147483747" r:id="rId13"/>
  </p:sldLayoutIdLst>
  <p:txStyles>
    <p:title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25000"/>
            </a:schemeClr>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193C5AD0-FE2E-4D86-A507-E86907BB18D5}"/>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
        <p:nvSpPr>
          <p:cNvPr id="3" name="Segnaposto testo 2">
            <a:extLst>
              <a:ext uri="{FF2B5EF4-FFF2-40B4-BE49-F238E27FC236}">
                <a16:creationId xmlns:a16="http://schemas.microsoft.com/office/drawing/2014/main" id="{C821791A-A567-4377-ABF1-F28ADCB7524D}"/>
              </a:ext>
            </a:extLst>
          </p:cNvPr>
          <p:cNvSpPr>
            <a:spLocks noGrp="1"/>
          </p:cNvSpPr>
          <p:nvPr>
            <p:ph type="body" idx="1"/>
          </p:nvPr>
        </p:nvSpPr>
        <p:spPr>
          <a:xfrm>
            <a:off x="1619794" y="1314157"/>
            <a:ext cx="10162903" cy="4812324"/>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4D7CEABB-53CB-47F0-B538-540607AD10F9}"/>
              </a:ext>
            </a:extLst>
          </p:cNvPr>
          <p:cNvSpPr>
            <a:spLocks noGrp="1"/>
          </p:cNvSpPr>
          <p:nvPr>
            <p:ph type="dt" sz="half" idx="2"/>
          </p:nvPr>
        </p:nvSpPr>
        <p:spPr>
          <a:xfrm>
            <a:off x="10504714" y="6356350"/>
            <a:ext cx="1277983"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4AF7A0EE-86E4-47D2-9966-E8417FAFE85C}"/>
              </a:ext>
            </a:extLst>
          </p:cNvPr>
          <p:cNvSpPr>
            <a:spLocks noGrp="1"/>
          </p:cNvSpPr>
          <p:nvPr>
            <p:ph type="ftr" sz="quarter" idx="3"/>
          </p:nvPr>
        </p:nvSpPr>
        <p:spPr>
          <a:xfrm>
            <a:off x="1619794" y="6356350"/>
            <a:ext cx="888492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dirty="0"/>
          </a:p>
        </p:txBody>
      </p:sp>
      <p:pic>
        <p:nvPicPr>
          <p:cNvPr id="11" name="Immagine 10">
            <a:extLst>
              <a:ext uri="{FF2B5EF4-FFF2-40B4-BE49-F238E27FC236}">
                <a16:creationId xmlns:a16="http://schemas.microsoft.com/office/drawing/2014/main" id="{A7533540-83EF-C4E6-9100-721A8C345237}"/>
              </a:ext>
            </a:extLst>
          </p:cNvPr>
          <p:cNvPicPr>
            <a:picLocks noChangeAspect="1"/>
          </p:cNvPicPr>
          <p:nvPr userDrawn="1"/>
        </p:nvPicPr>
        <p:blipFill>
          <a:blip r:embed="rId13">
            <a:extLst>
              <a:ext uri="{BEBA8EAE-BF5A-486C-A8C5-ECC9F3942E4B}">
                <a14:imgProps xmlns:a14="http://schemas.microsoft.com/office/drawing/2010/main">
                  <a14:imgLayer r:embed="rId14">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16426" y="0"/>
            <a:ext cx="1332411" cy="1332411"/>
          </a:xfrm>
          <a:prstGeom prst="rect">
            <a:avLst/>
          </a:prstGeom>
        </p:spPr>
      </p:pic>
    </p:spTree>
    <p:extLst>
      <p:ext uri="{BB962C8B-B14F-4D97-AF65-F5344CB8AC3E}">
        <p14:creationId xmlns:p14="http://schemas.microsoft.com/office/powerpoint/2010/main" val="394092266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b="1" kern="1200">
          <a:solidFill>
            <a:schemeClr val="bg2">
              <a:lumMod val="25000"/>
            </a:schemeClr>
          </a:solidFill>
          <a:latin typeface="+mn-lt"/>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25000"/>
            </a:schemeClr>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ttangolo 6">
            <a:extLst>
              <a:ext uri="{FF2B5EF4-FFF2-40B4-BE49-F238E27FC236}">
                <a16:creationId xmlns:a16="http://schemas.microsoft.com/office/drawing/2014/main" id="{B4F1C049-6E41-4F28-8D79-231F45AC5418}"/>
              </a:ext>
            </a:extLst>
          </p:cNvPr>
          <p:cNvSpPr/>
          <p:nvPr userDrawn="1"/>
        </p:nvSpPr>
        <p:spPr>
          <a:xfrm>
            <a:off x="0" y="0"/>
            <a:ext cx="2364377" cy="6839745"/>
          </a:xfrm>
          <a:prstGeom prst="rect">
            <a:avLst/>
          </a:prstGeom>
          <a:solidFill>
            <a:srgbClr val="EFD4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titolo 1">
            <a:extLst>
              <a:ext uri="{FF2B5EF4-FFF2-40B4-BE49-F238E27FC236}">
                <a16:creationId xmlns:a16="http://schemas.microsoft.com/office/drawing/2014/main" id="{193C5AD0-FE2E-4D86-A507-E86907BB18D5}"/>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
        <p:nvSpPr>
          <p:cNvPr id="3" name="Segnaposto testo 2">
            <a:extLst>
              <a:ext uri="{FF2B5EF4-FFF2-40B4-BE49-F238E27FC236}">
                <a16:creationId xmlns:a16="http://schemas.microsoft.com/office/drawing/2014/main" id="{C821791A-A567-4377-ABF1-F28ADCB7524D}"/>
              </a:ext>
            </a:extLst>
          </p:cNvPr>
          <p:cNvSpPr>
            <a:spLocks noGrp="1"/>
          </p:cNvSpPr>
          <p:nvPr>
            <p:ph type="body" idx="1"/>
          </p:nvPr>
        </p:nvSpPr>
        <p:spPr>
          <a:xfrm>
            <a:off x="2625634" y="1314157"/>
            <a:ext cx="9157063" cy="4812324"/>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4D7CEABB-53CB-47F0-B538-540607AD10F9}"/>
              </a:ext>
            </a:extLst>
          </p:cNvPr>
          <p:cNvSpPr>
            <a:spLocks noGrp="1"/>
          </p:cNvSpPr>
          <p:nvPr>
            <p:ph type="dt" sz="half" idx="2"/>
          </p:nvPr>
        </p:nvSpPr>
        <p:spPr>
          <a:xfrm>
            <a:off x="10504714" y="6356350"/>
            <a:ext cx="1277983"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4AF7A0EE-86E4-47D2-9966-E8417FAFE85C}"/>
              </a:ext>
            </a:extLst>
          </p:cNvPr>
          <p:cNvSpPr>
            <a:spLocks noGrp="1"/>
          </p:cNvSpPr>
          <p:nvPr>
            <p:ph type="ftr" sz="quarter" idx="3"/>
          </p:nvPr>
        </p:nvSpPr>
        <p:spPr>
          <a:xfrm>
            <a:off x="2625634" y="6356350"/>
            <a:ext cx="787908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dirty="0"/>
          </a:p>
        </p:txBody>
      </p:sp>
      <p:pic>
        <p:nvPicPr>
          <p:cNvPr id="9" name="Immagine 8">
            <a:extLst>
              <a:ext uri="{FF2B5EF4-FFF2-40B4-BE49-F238E27FC236}">
                <a16:creationId xmlns:a16="http://schemas.microsoft.com/office/drawing/2014/main" id="{21EBF50F-5D1D-409E-88D8-03D976F8D979}"/>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515982" y="18255"/>
            <a:ext cx="1332411" cy="1332411"/>
          </a:xfrm>
          <a:prstGeom prst="rect">
            <a:avLst/>
          </a:prstGeom>
        </p:spPr>
      </p:pic>
    </p:spTree>
    <p:extLst>
      <p:ext uri="{BB962C8B-B14F-4D97-AF65-F5344CB8AC3E}">
        <p14:creationId xmlns:p14="http://schemas.microsoft.com/office/powerpoint/2010/main" val="35238968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3B383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3B3838"/>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3B3838"/>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3B3838"/>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3B383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EFD485"/>
        </a:solidFill>
        <a:effectLst/>
      </p:bgPr>
    </p:bg>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8FA54CC7-9A7A-4045-B6C3-58856AE6AEB3}"/>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0" y="-18255"/>
            <a:ext cx="1332411" cy="1332411"/>
          </a:xfrm>
          <a:prstGeom prst="rect">
            <a:avLst/>
          </a:prstGeom>
        </p:spPr>
      </p:pic>
    </p:spTree>
    <p:extLst>
      <p:ext uri="{BB962C8B-B14F-4D97-AF65-F5344CB8AC3E}">
        <p14:creationId xmlns:p14="http://schemas.microsoft.com/office/powerpoint/2010/main" val="1506542201"/>
      </p:ext>
    </p:extLst>
  </p:cSld>
  <p:clrMap bg1="lt1" tx1="dk1" bg2="lt2" tx2="dk2" accent1="accent1" accent2="accent2" accent3="accent3" accent4="accent4" accent5="accent5" accent6="accent6" hlink="hlink" folHlink="folHlink"/>
  <p:sldLayoutIdLst>
    <p:sldLayoutId id="2147483696" r:id="rId1"/>
    <p:sldLayoutId id="2147483700" r:id="rId2"/>
    <p:sldLayoutId id="2147483701" r:id="rId3"/>
    <p:sldLayoutId id="2147483702" r:id="rId4"/>
    <p:sldLayoutId id="2147483697" r:id="rId5"/>
    <p:sldLayoutId id="2147483685" r:id="rId6"/>
    <p:sldLayoutId id="2147483703" r:id="rId7"/>
    <p:sldLayoutId id="2147483705" r:id="rId8"/>
    <p:sldLayoutId id="2147483704" r:id="rId9"/>
    <p:sldLayoutId id="2147483707" r:id="rId10"/>
    <p:sldLayoutId id="2147483706" r:id="rId11"/>
    <p:sldLayoutId id="2147483698" r:id="rId12"/>
    <p:sldLayoutId id="2147483732" r:id="rId13"/>
    <p:sldLayoutId id="214748369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1.jp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1.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1.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ags" Target="../tags/tag10.xml"/><Relationship Id="rId4" Type="http://schemas.openxmlformats.org/officeDocument/2006/relationships/hyperlink" Target="https://agentskills.io/specification"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ags" Target="../tags/tag1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tags" Target="../tags/tag1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1.xml"/><Relationship Id="rId1" Type="http://schemas.openxmlformats.org/officeDocument/2006/relationships/tags" Target="../tags/tag1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1.xml"/><Relationship Id="rId1" Type="http://schemas.openxmlformats.org/officeDocument/2006/relationships/tags" Target="../tags/tag1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1.xml"/><Relationship Id="rId1" Type="http://schemas.openxmlformats.org/officeDocument/2006/relationships/tags" Target="../tags/tag1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1.xml"/><Relationship Id="rId1" Type="http://schemas.openxmlformats.org/officeDocument/2006/relationships/tags" Target="../tags/tag18.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1.xml"/><Relationship Id="rId1" Type="http://schemas.openxmlformats.org/officeDocument/2006/relationships/tags" Target="../tags/tag1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1.xml"/><Relationship Id="rId1" Type="http://schemas.openxmlformats.org/officeDocument/2006/relationships/tags" Target="../tags/tag2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1.xml"/><Relationship Id="rId1" Type="http://schemas.openxmlformats.org/officeDocument/2006/relationships/tags" Target="../tags/tag2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1.xml"/><Relationship Id="rId1" Type="http://schemas.openxmlformats.org/officeDocument/2006/relationships/tags" Target="../tags/tag2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1.xml"/><Relationship Id="rId1" Type="http://schemas.openxmlformats.org/officeDocument/2006/relationships/tags" Target="../tags/tag2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tags" Target="../tags/tag24.xml"/><Relationship Id="rId4" Type="http://schemas.openxmlformats.org/officeDocument/2006/relationships/hyperlink" Target="https://github.com/andreatosato/AzureDayTorino2026" TargetMode="Externa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1.xml"/><Relationship Id="rId1" Type="http://schemas.openxmlformats.org/officeDocument/2006/relationships/tags" Target="../tags/tag2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1.xml"/><Relationship Id="rId1" Type="http://schemas.openxmlformats.org/officeDocument/2006/relationships/tags" Target="../tags/tag2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1.xml"/><Relationship Id="rId1"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p:cNvSpPr>
            <a:spLocks noGrp="1"/>
          </p:cNvSpPr>
          <p:nvPr>
            <p:ph type="ctrTitle"/>
          </p:nvPr>
        </p:nvSpPr>
        <p:spPr/>
        <p:txBody>
          <a:bodyPr/>
          <a:lstStyle/>
          <a:p>
            <a:r>
              <a:t>Session Banner - MCP server, A2A, Skill, mamma mia che mal di testAI!</a:t>
            </a:r>
          </a:p>
        </p:txBody>
      </p:sp>
      <p:pic>
        <p:nvPicPr>
          <p:cNvPr id="3" name="Banner for MCP server, A2A, Skill, mamma mia che mal di testAI! by Andrea Tosato" descr="AzureDayTorino2026_1304496.jpeg"/>
          <p:cNvPicPr>
            <a:picLocks noChangeAspect="1"/>
          </p:cNvPicPr>
          <p:nvPr/>
        </p:nvPicPr>
        <p:blipFill>
          <a:blip r:embed="rId4"/>
          <a:stretch>
            <a:fillRect/>
          </a:stretch>
        </p:blipFill>
        <p:spPr>
          <a:xfrm>
            <a:off x="0" y="0"/>
            <a:ext cx="12573000" cy="7562088"/>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onsor Section Title"/>
          <p:cNvSpPr>
            <a:spLocks noGrp="1"/>
          </p:cNvSpPr>
          <p:nvPr>
            <p:ph type="title"/>
          </p:nvPr>
        </p:nvSpPr>
        <p:spPr/>
        <p:txBody>
          <a:bodyPr/>
          <a:lstStyle/>
          <a:p>
            <a:r>
              <a:t>Event Sponsors</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A46C686C-4D94-0138-CBAE-92FB9BCB6D22}"/>
              </a:ext>
            </a:extLst>
          </p:cNvPr>
          <p:cNvSpPr txBox="1"/>
          <p:nvPr/>
        </p:nvSpPr>
        <p:spPr>
          <a:xfrm>
            <a:off x="1625600" y="317499"/>
            <a:ext cx="10160000" cy="685800"/>
          </a:xfrm>
          <a:prstGeom prst="rect">
            <a:avLst/>
          </a:prstGeom>
          <a:noFill/>
        </p:spPr>
        <p:txBody>
          <a:bodyPr vert="horz" lIns="0" tIns="0" rIns="0" bIns="0" rtlCol="0">
            <a:noAutofit/>
          </a:bodyPr>
          <a:lstStyle/>
          <a:p>
            <a:r>
              <a:rPr lang="it-IT" sz="2800" b="1">
                <a:solidFill>
                  <a:srgbClr val="303030"/>
                </a:solidFill>
                <a:latin typeface="Aptos" panose="020B0004020202020204" pitchFamily="34" charset="0"/>
              </a:rPr>
              <a:t>Tre concetti. Un sistema agentico sostenibile.</a:t>
            </a:r>
          </a:p>
        </p:txBody>
      </p:sp>
      <p:sp>
        <p:nvSpPr>
          <p:cNvPr id="6" name="Rettangolo con angoli arrotondati 5">
            <a:extLst>
              <a:ext uri="{FF2B5EF4-FFF2-40B4-BE49-F238E27FC236}">
                <a16:creationId xmlns:a16="http://schemas.microsoft.com/office/drawing/2014/main" id="{FA5C01AD-92B1-B531-B3A4-53DE4C949DA9}"/>
              </a:ext>
            </a:extLst>
          </p:cNvPr>
          <p:cNvSpPr/>
          <p:nvPr/>
        </p:nvSpPr>
        <p:spPr>
          <a:xfrm>
            <a:off x="571500" y="1651000"/>
            <a:ext cx="3581400" cy="36195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243292E4-EEED-B71B-D5AF-DF2557B4E94C}"/>
              </a:ext>
            </a:extLst>
          </p:cNvPr>
          <p:cNvSpPr txBox="1"/>
          <p:nvPr/>
        </p:nvSpPr>
        <p:spPr>
          <a:xfrm>
            <a:off x="774700" y="1854199"/>
            <a:ext cx="3175000" cy="533400"/>
          </a:xfrm>
          <a:prstGeom prst="rect">
            <a:avLst/>
          </a:prstGeom>
          <a:noFill/>
        </p:spPr>
        <p:txBody>
          <a:bodyPr vert="horz" lIns="0" tIns="0" rIns="0" bIns="0" rtlCol="0">
            <a:noAutofit/>
          </a:bodyPr>
          <a:lstStyle/>
          <a:p>
            <a:r>
              <a:rPr lang="it-IT" sz="2000" b="1">
                <a:solidFill>
                  <a:srgbClr val="008278"/>
                </a:solidFill>
                <a:latin typeface="Aptos" panose="020B0004020202020204" pitchFamily="34" charset="0"/>
              </a:rPr>
              <a:t>COSA E QUANDO</a:t>
            </a:r>
          </a:p>
        </p:txBody>
      </p:sp>
      <p:sp>
        <p:nvSpPr>
          <p:cNvPr id="8" name="CasellaDiTesto 7">
            <a:extLst>
              <a:ext uri="{FF2B5EF4-FFF2-40B4-BE49-F238E27FC236}">
                <a16:creationId xmlns:a16="http://schemas.microsoft.com/office/drawing/2014/main" id="{C1AC3736-EF67-D44F-DE58-F0BDA501CE95}"/>
              </a:ext>
            </a:extLst>
          </p:cNvPr>
          <p:cNvSpPr txBox="1"/>
          <p:nvPr/>
        </p:nvSpPr>
        <p:spPr>
          <a:xfrm>
            <a:off x="77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MCP: strumenti e dati.</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A2A: delega a un agente.</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Skill: procedura riutilizzabile.</a:t>
            </a:r>
          </a:p>
        </p:txBody>
      </p:sp>
      <p:sp>
        <p:nvSpPr>
          <p:cNvPr id="9" name="Rettangolo con angoli arrotondati 8">
            <a:extLst>
              <a:ext uri="{FF2B5EF4-FFF2-40B4-BE49-F238E27FC236}">
                <a16:creationId xmlns:a16="http://schemas.microsoft.com/office/drawing/2014/main" id="{DF6B6BDE-86F0-A719-CC3F-C599CCA47509}"/>
              </a:ext>
            </a:extLst>
          </p:cNvPr>
          <p:cNvSpPr/>
          <p:nvPr/>
        </p:nvSpPr>
        <p:spPr>
          <a:xfrm>
            <a:off x="4381500" y="1651000"/>
            <a:ext cx="3581400" cy="3619500"/>
          </a:xfrm>
          <a:prstGeom prst="roundRect">
            <a:avLst/>
          </a:prstGeom>
          <a:solidFill>
            <a:srgbClr val="F2F2F2"/>
          </a:solidFill>
          <a:ln>
            <a:solidFill>
              <a:srgbClr val="C06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572CE81E-56F1-4CB7-3B41-3F0FC4F45010}"/>
              </a:ext>
            </a:extLst>
          </p:cNvPr>
          <p:cNvSpPr txBox="1"/>
          <p:nvPr/>
        </p:nvSpPr>
        <p:spPr>
          <a:xfrm>
            <a:off x="4584700" y="1854199"/>
            <a:ext cx="3175000" cy="533400"/>
          </a:xfrm>
          <a:prstGeom prst="rect">
            <a:avLst/>
          </a:prstGeom>
          <a:noFill/>
        </p:spPr>
        <p:txBody>
          <a:bodyPr vert="horz" lIns="0" tIns="0" rIns="0" bIns="0" rtlCol="0">
            <a:noAutofit/>
          </a:bodyPr>
          <a:lstStyle/>
          <a:p>
            <a:r>
              <a:rPr lang="it-IT" sz="2000" b="1">
                <a:solidFill>
                  <a:srgbClr val="C064AA"/>
                </a:solidFill>
                <a:latin typeface="Aptos" panose="020B0004020202020204" pitchFamily="34" charset="0"/>
              </a:rPr>
              <a:t>COME FUNZIONA</a:t>
            </a:r>
          </a:p>
        </p:txBody>
      </p:sp>
      <p:sp>
        <p:nvSpPr>
          <p:cNvPr id="11" name="CasellaDiTesto 10">
            <a:extLst>
              <a:ext uri="{FF2B5EF4-FFF2-40B4-BE49-F238E27FC236}">
                <a16:creationId xmlns:a16="http://schemas.microsoft.com/office/drawing/2014/main" id="{14DD62D2-EFBF-00B9-E4D7-3F1200122146}"/>
              </a:ext>
            </a:extLst>
          </p:cNvPr>
          <p:cNvSpPr txBox="1"/>
          <p:nvPr/>
        </p:nvSpPr>
        <p:spPr>
          <a:xfrm>
            <a:off x="4584700" y="2552700"/>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Perché Agent Framework?</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Prompt, strumenti, contesto e ciclo di esecuzione.</a:t>
            </a:r>
          </a:p>
        </p:txBody>
      </p:sp>
      <p:sp>
        <p:nvSpPr>
          <p:cNvPr id="12" name="Rettangolo con angoli arrotondati 11">
            <a:extLst>
              <a:ext uri="{FF2B5EF4-FFF2-40B4-BE49-F238E27FC236}">
                <a16:creationId xmlns:a16="http://schemas.microsoft.com/office/drawing/2014/main" id="{3154F2F2-E8F0-FFA8-AF96-3F8B92DEA499}"/>
              </a:ext>
            </a:extLst>
          </p:cNvPr>
          <p:cNvSpPr/>
          <p:nvPr/>
        </p:nvSpPr>
        <p:spPr>
          <a:xfrm>
            <a:off x="8191500" y="1651000"/>
            <a:ext cx="3581400" cy="3619500"/>
          </a:xfrm>
          <a:prstGeom prst="roundRect">
            <a:avLst/>
          </a:prstGeom>
          <a:solidFill>
            <a:srgbClr val="F2F2F2"/>
          </a:solidFill>
          <a:ln>
            <a:solidFill>
              <a:srgbClr val="C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916DF2F9-1E22-5CBF-FDFA-48F259E997DA}"/>
              </a:ext>
            </a:extLst>
          </p:cNvPr>
          <p:cNvSpPr txBox="1"/>
          <p:nvPr/>
        </p:nvSpPr>
        <p:spPr>
          <a:xfrm>
            <a:off x="8394700" y="1854199"/>
            <a:ext cx="3175000" cy="533400"/>
          </a:xfrm>
          <a:prstGeom prst="rect">
            <a:avLst/>
          </a:prstGeom>
          <a:noFill/>
        </p:spPr>
        <p:txBody>
          <a:bodyPr vert="horz" lIns="0" tIns="0" rIns="0" bIns="0" rtlCol="0">
            <a:noAutofit/>
          </a:bodyPr>
          <a:lstStyle/>
          <a:p>
            <a:r>
              <a:rPr lang="it-IT" sz="2000" b="1">
                <a:solidFill>
                  <a:srgbClr val="C08000"/>
                </a:solidFill>
                <a:latin typeface="Aptos" panose="020B0004020202020204" pitchFamily="34" charset="0"/>
              </a:rPr>
              <a:t>COME OTTIMIZZARE</a:t>
            </a:r>
          </a:p>
        </p:txBody>
      </p:sp>
      <p:sp>
        <p:nvSpPr>
          <p:cNvPr id="14" name="CasellaDiTesto 13">
            <a:extLst>
              <a:ext uri="{FF2B5EF4-FFF2-40B4-BE49-F238E27FC236}">
                <a16:creationId xmlns:a16="http://schemas.microsoft.com/office/drawing/2014/main" id="{24223900-CB9A-8C82-1CC0-5BC614F2A4FD}"/>
              </a:ext>
            </a:extLst>
          </p:cNvPr>
          <p:cNvSpPr txBox="1"/>
          <p:nvPr/>
        </p:nvSpPr>
        <p:spPr>
          <a:xfrm>
            <a:off x="839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Input, output e reasoning.</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Cache read / cache write.</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Qualità, latenza e costo.</a:t>
            </a:r>
          </a:p>
        </p:txBody>
      </p:sp>
      <p:sp>
        <p:nvSpPr>
          <p:cNvPr id="15" name="CasellaDiTesto 14">
            <a:extLst>
              <a:ext uri="{FF2B5EF4-FFF2-40B4-BE49-F238E27FC236}">
                <a16:creationId xmlns:a16="http://schemas.microsoft.com/office/drawing/2014/main" id="{5F8896D3-224F-C122-DAE8-697AD85DDEC6}"/>
              </a:ext>
            </a:extLst>
          </p:cNvPr>
          <p:cNvSpPr txBox="1"/>
          <p:nvPr/>
        </p:nvSpPr>
        <p:spPr>
          <a:xfrm>
            <a:off x="571500" y="5626100"/>
            <a:ext cx="11201400" cy="660400"/>
          </a:xfrm>
          <a:prstGeom prst="rect">
            <a:avLst/>
          </a:prstGeom>
          <a:noFill/>
        </p:spPr>
        <p:txBody>
          <a:bodyPr vert="horz" lIns="0" tIns="0" rIns="0" bIns="0" rtlCol="0">
            <a:noAutofit/>
          </a:bodyPr>
          <a:lstStyle/>
          <a:p>
            <a:r>
              <a:rPr lang="it-IT" sz="2200" b="1">
                <a:solidFill>
                  <a:srgbClr val="303030"/>
                </a:solidFill>
                <a:latin typeface="Aptos" panose="020B0004020202020204" pitchFamily="34" charset="0"/>
              </a:rPr>
              <a:t>Obiettivo: scegliere il confine giusto e misurare il costo del lavoro utile.</a:t>
            </a:r>
          </a:p>
        </p:txBody>
      </p:sp>
    </p:spTree>
    <p:custDataLst>
      <p:tags r:id="rId1"/>
    </p:custDataLst>
    <p:extLst>
      <p:ext uri="{BB962C8B-B14F-4D97-AF65-F5344CB8AC3E}">
        <p14:creationId xmlns:p14="http://schemas.microsoft.com/office/powerpoint/2010/main" val="672405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7A4D2E22-3A07-01A2-AA5D-7F95CD8CFB2C}"/>
              </a:ext>
            </a:extLst>
          </p:cNvPr>
          <p:cNvSpPr>
            <a:spLocks noGrp="1"/>
          </p:cNvSpPr>
          <p:nvPr>
            <p:ph type="title"/>
          </p:nvPr>
        </p:nvSpPr>
        <p:spPr>
          <a:xfrm>
            <a:off x="1625600" y="317500"/>
            <a:ext cx="10160000" cy="660400"/>
          </a:xfrm>
        </p:spPr>
        <p:txBody>
          <a:bodyPr>
            <a:normAutofit/>
          </a:bodyPr>
          <a:lstStyle/>
          <a:p>
            <a:r>
              <a:rPr lang="it-IT" sz="2800">
                <a:solidFill>
                  <a:srgbClr val="303030"/>
                </a:solidFill>
                <a:latin typeface="Calibri" panose="020F0502020204030204" pitchFamily="34" charset="0"/>
              </a:rPr>
              <a:t>Tre domande prima di aggiungere componenti</a:t>
            </a:r>
          </a:p>
        </p:txBody>
      </p:sp>
      <p:sp>
        <p:nvSpPr>
          <p:cNvPr id="5" name="Rettangolo con angoli arrotondati 4">
            <a:extLst>
              <a:ext uri="{FF2B5EF4-FFF2-40B4-BE49-F238E27FC236}">
                <a16:creationId xmlns:a16="http://schemas.microsoft.com/office/drawing/2014/main" id="{7F24313C-B38E-04C5-C4BB-4BE7BF79F7C3}"/>
              </a:ext>
            </a:extLst>
          </p:cNvPr>
          <p:cNvSpPr/>
          <p:nvPr/>
        </p:nvSpPr>
        <p:spPr>
          <a:xfrm>
            <a:off x="571500" y="1841500"/>
            <a:ext cx="3581400" cy="3302000"/>
          </a:xfrm>
          <a:prstGeom prst="roundRect">
            <a:avLst/>
          </a:prstGeom>
          <a:solidFill>
            <a:srgbClr val="F4F7FA"/>
          </a:solidFill>
          <a:ln w="16510">
            <a:solidFill>
              <a:srgbClr val="0077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CreatedText_6">
            <a:extLst>
              <a:ext uri="{FF2B5EF4-FFF2-40B4-BE49-F238E27FC236}">
                <a16:creationId xmlns:a16="http://schemas.microsoft.com/office/drawing/2014/main" id="{FBA41D6F-5258-7A70-D504-863607B2416A}"/>
              </a:ext>
            </a:extLst>
          </p:cNvPr>
          <p:cNvSpPr txBox="1"/>
          <p:nvPr/>
        </p:nvSpPr>
        <p:spPr>
          <a:xfrm>
            <a:off x="774700" y="2057399"/>
            <a:ext cx="3175000" cy="660400"/>
          </a:xfrm>
          <a:prstGeom prst="rect">
            <a:avLst/>
          </a:prstGeom>
          <a:noFill/>
        </p:spPr>
        <p:txBody>
          <a:bodyPr vert="horz" wrap="square" lIns="0" tIns="0" rIns="0" bIns="0" rtlCol="0">
            <a:noAutofit/>
          </a:bodyPr>
          <a:lstStyle/>
          <a:p>
            <a:pPr>
              <a:spcAft>
                <a:spcPts val="600"/>
              </a:spcAft>
            </a:pPr>
            <a:r>
              <a:rPr lang="it-IT" sz="2100" b="1">
                <a:solidFill>
                  <a:srgbClr val="007780"/>
                </a:solidFill>
                <a:latin typeface="Calibri" panose="020F0502020204030204" pitchFamily="34" charset="0"/>
              </a:rPr>
              <a:t>MCP</a:t>
            </a:r>
          </a:p>
        </p:txBody>
      </p:sp>
      <p:sp>
        <p:nvSpPr>
          <p:cNvPr id="7" name="CreatedText_7">
            <a:extLst>
              <a:ext uri="{FF2B5EF4-FFF2-40B4-BE49-F238E27FC236}">
                <a16:creationId xmlns:a16="http://schemas.microsoft.com/office/drawing/2014/main" id="{8C3C1A05-E825-6A41-239A-494E153AB5DA}"/>
              </a:ext>
            </a:extLst>
          </p:cNvPr>
          <p:cNvSpPr txBox="1"/>
          <p:nvPr/>
        </p:nvSpPr>
        <p:spPr>
          <a:xfrm>
            <a:off x="774700" y="2908299"/>
            <a:ext cx="3175000" cy="1981200"/>
          </a:xfrm>
          <a:prstGeom prst="rect">
            <a:avLst/>
          </a:prstGeom>
          <a:noFill/>
        </p:spPr>
        <p:txBody>
          <a:bodyPr vert="horz" wrap="square" lIns="0" tIns="0" rIns="0" bIns="0" rtlCol="0">
            <a:noAutofit/>
          </a:bodyPr>
          <a:lstStyle/>
          <a:p>
            <a:pPr>
              <a:spcAft>
                <a:spcPts val="600"/>
              </a:spcAft>
            </a:pPr>
            <a:r>
              <a:rPr lang="it-IT" sz="1700" dirty="0">
                <a:solidFill>
                  <a:srgbClr val="303030"/>
                </a:solidFill>
                <a:latin typeface="Calibri" panose="020F0502020204030204" pitchFamily="34" charset="0"/>
              </a:rPr>
              <a:t>Quale strumento posso usare?</a:t>
            </a:r>
          </a:p>
          <a:p>
            <a:pPr>
              <a:spcAft>
                <a:spcPts val="600"/>
              </a:spcAft>
            </a:pPr>
            <a:endParaRPr lang="it-IT" sz="1700" dirty="0">
              <a:solidFill>
                <a:srgbClr val="303030"/>
              </a:solidFill>
              <a:latin typeface="Calibri" panose="020F0502020204030204" pitchFamily="34" charset="0"/>
            </a:endParaRPr>
          </a:p>
          <a:p>
            <a:pPr>
              <a:spcAft>
                <a:spcPts val="600"/>
              </a:spcAft>
            </a:pPr>
            <a:r>
              <a:rPr lang="it-IT" sz="1700" dirty="0">
                <a:solidFill>
                  <a:srgbClr val="303030"/>
                </a:solidFill>
                <a:latin typeface="Calibri" panose="020F0502020204030204" pitchFamily="34" charset="0"/>
              </a:rPr>
              <a:t>Scoperta e invocazione di operazioni con un </a:t>
            </a:r>
            <a:r>
              <a:rPr lang="it-IT" sz="1700" b="1" dirty="0">
                <a:solidFill>
                  <a:srgbClr val="303030"/>
                </a:solidFill>
                <a:latin typeface="Calibri" panose="020F0502020204030204" pitchFamily="34" charset="0"/>
              </a:rPr>
              <a:t>contratto comune</a:t>
            </a:r>
            <a:r>
              <a:rPr lang="it-IT" sz="1700" dirty="0">
                <a:solidFill>
                  <a:srgbClr val="303030"/>
                </a:solidFill>
                <a:latin typeface="Calibri" panose="020F0502020204030204" pitchFamily="34" charset="0"/>
              </a:rPr>
              <a:t>.</a:t>
            </a:r>
          </a:p>
        </p:txBody>
      </p:sp>
      <p:sp>
        <p:nvSpPr>
          <p:cNvPr id="8" name="Rettangolo con angoli arrotondati 7">
            <a:extLst>
              <a:ext uri="{FF2B5EF4-FFF2-40B4-BE49-F238E27FC236}">
                <a16:creationId xmlns:a16="http://schemas.microsoft.com/office/drawing/2014/main" id="{16BFBAAE-CFB7-01EA-4B9A-6661D9EB8093}"/>
              </a:ext>
            </a:extLst>
          </p:cNvPr>
          <p:cNvSpPr/>
          <p:nvPr/>
        </p:nvSpPr>
        <p:spPr>
          <a:xfrm>
            <a:off x="4381500" y="1841500"/>
            <a:ext cx="3581400" cy="3302000"/>
          </a:xfrm>
          <a:prstGeom prst="roundRect">
            <a:avLst/>
          </a:prstGeom>
          <a:solidFill>
            <a:srgbClr val="F4F7FA"/>
          </a:solidFill>
          <a:ln w="16510">
            <a:solidFill>
              <a:srgbClr val="7046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CreatedText_9">
            <a:extLst>
              <a:ext uri="{FF2B5EF4-FFF2-40B4-BE49-F238E27FC236}">
                <a16:creationId xmlns:a16="http://schemas.microsoft.com/office/drawing/2014/main" id="{F1DC67D0-9613-549D-DA04-35697A1CA74F}"/>
              </a:ext>
            </a:extLst>
          </p:cNvPr>
          <p:cNvSpPr txBox="1"/>
          <p:nvPr/>
        </p:nvSpPr>
        <p:spPr>
          <a:xfrm>
            <a:off x="4584700" y="2057399"/>
            <a:ext cx="3175000" cy="660400"/>
          </a:xfrm>
          <a:prstGeom prst="rect">
            <a:avLst/>
          </a:prstGeom>
          <a:noFill/>
        </p:spPr>
        <p:txBody>
          <a:bodyPr vert="horz" wrap="square" lIns="0" tIns="0" rIns="0" bIns="0" rtlCol="0">
            <a:noAutofit/>
          </a:bodyPr>
          <a:lstStyle/>
          <a:p>
            <a:pPr>
              <a:spcAft>
                <a:spcPts val="600"/>
              </a:spcAft>
            </a:pPr>
            <a:r>
              <a:rPr lang="it-IT" sz="2100" b="1">
                <a:solidFill>
                  <a:srgbClr val="70469C"/>
                </a:solidFill>
                <a:latin typeface="Calibri" panose="020F0502020204030204" pitchFamily="34" charset="0"/>
              </a:rPr>
              <a:t>A2A</a:t>
            </a:r>
          </a:p>
        </p:txBody>
      </p:sp>
      <p:sp>
        <p:nvSpPr>
          <p:cNvPr id="10" name="CreatedText_10">
            <a:extLst>
              <a:ext uri="{FF2B5EF4-FFF2-40B4-BE49-F238E27FC236}">
                <a16:creationId xmlns:a16="http://schemas.microsoft.com/office/drawing/2014/main" id="{29207275-75DF-CDDA-98C3-5AD9FF06EF0C}"/>
              </a:ext>
            </a:extLst>
          </p:cNvPr>
          <p:cNvSpPr txBox="1"/>
          <p:nvPr/>
        </p:nvSpPr>
        <p:spPr>
          <a:xfrm>
            <a:off x="4584700" y="2908299"/>
            <a:ext cx="3175000" cy="1981200"/>
          </a:xfrm>
          <a:prstGeom prst="rect">
            <a:avLst/>
          </a:prstGeom>
          <a:noFill/>
        </p:spPr>
        <p:txBody>
          <a:bodyPr vert="horz" wrap="square" lIns="0" tIns="0" rIns="0" bIns="0" rtlCol="0">
            <a:noAutofit/>
          </a:bodyPr>
          <a:lstStyle/>
          <a:p>
            <a:pPr>
              <a:spcAft>
                <a:spcPts val="600"/>
              </a:spcAft>
            </a:pPr>
            <a:r>
              <a:rPr lang="it-IT" sz="1700" dirty="0">
                <a:solidFill>
                  <a:srgbClr val="303030"/>
                </a:solidFill>
                <a:latin typeface="Calibri" panose="020F0502020204030204" pitchFamily="34" charset="0"/>
              </a:rPr>
              <a:t>A chi posso delegare il task?</a:t>
            </a:r>
          </a:p>
          <a:p>
            <a:pPr>
              <a:spcAft>
                <a:spcPts val="600"/>
              </a:spcAft>
            </a:pPr>
            <a:endParaRPr lang="it-IT" sz="1700" dirty="0">
              <a:solidFill>
                <a:srgbClr val="303030"/>
              </a:solidFill>
              <a:latin typeface="Calibri" panose="020F0502020204030204" pitchFamily="34" charset="0"/>
            </a:endParaRPr>
          </a:p>
          <a:p>
            <a:pPr>
              <a:spcAft>
                <a:spcPts val="600"/>
              </a:spcAft>
            </a:pPr>
            <a:r>
              <a:rPr lang="it-IT" sz="1700" dirty="0">
                <a:solidFill>
                  <a:srgbClr val="303030"/>
                </a:solidFill>
                <a:latin typeface="Calibri" panose="020F0502020204030204" pitchFamily="34" charset="0"/>
              </a:rPr>
              <a:t>Un altro agente mantiene </a:t>
            </a:r>
            <a:r>
              <a:rPr lang="it-IT" sz="1700" b="1" dirty="0">
                <a:solidFill>
                  <a:srgbClr val="303030"/>
                </a:solidFill>
                <a:latin typeface="Calibri" panose="020F0502020204030204" pitchFamily="34" charset="0"/>
              </a:rPr>
              <a:t>logica</a:t>
            </a:r>
            <a:r>
              <a:rPr lang="it-IT" sz="1700" dirty="0">
                <a:solidFill>
                  <a:srgbClr val="303030"/>
                </a:solidFill>
                <a:latin typeface="Calibri" panose="020F0502020204030204" pitchFamily="34" charset="0"/>
              </a:rPr>
              <a:t>, </a:t>
            </a:r>
            <a:r>
              <a:rPr lang="it-IT" sz="1700" b="1" dirty="0">
                <a:solidFill>
                  <a:srgbClr val="303030"/>
                </a:solidFill>
                <a:latin typeface="Calibri" panose="020F0502020204030204" pitchFamily="34" charset="0"/>
              </a:rPr>
              <a:t>tool</a:t>
            </a:r>
            <a:r>
              <a:rPr lang="it-IT" sz="1700" dirty="0">
                <a:solidFill>
                  <a:srgbClr val="303030"/>
                </a:solidFill>
                <a:latin typeface="Calibri" panose="020F0502020204030204" pitchFamily="34" charset="0"/>
              </a:rPr>
              <a:t> e </a:t>
            </a:r>
            <a:r>
              <a:rPr lang="it-IT" sz="1700" b="1" dirty="0">
                <a:solidFill>
                  <a:srgbClr val="303030"/>
                </a:solidFill>
                <a:latin typeface="Calibri" panose="020F0502020204030204" pitchFamily="34" charset="0"/>
              </a:rPr>
              <a:t>contesto</a:t>
            </a:r>
            <a:r>
              <a:rPr lang="it-IT" sz="1700" dirty="0">
                <a:solidFill>
                  <a:srgbClr val="303030"/>
                </a:solidFill>
                <a:latin typeface="Calibri" panose="020F0502020204030204" pitchFamily="34" charset="0"/>
              </a:rPr>
              <a:t> propri.</a:t>
            </a:r>
          </a:p>
        </p:txBody>
      </p:sp>
      <p:sp>
        <p:nvSpPr>
          <p:cNvPr id="11" name="Rettangolo con angoli arrotondati 10">
            <a:extLst>
              <a:ext uri="{FF2B5EF4-FFF2-40B4-BE49-F238E27FC236}">
                <a16:creationId xmlns:a16="http://schemas.microsoft.com/office/drawing/2014/main" id="{63DDB353-FF2F-D5CC-645F-1E8F75E3E555}"/>
              </a:ext>
            </a:extLst>
          </p:cNvPr>
          <p:cNvSpPr/>
          <p:nvPr/>
        </p:nvSpPr>
        <p:spPr>
          <a:xfrm>
            <a:off x="8191500" y="1841500"/>
            <a:ext cx="3581400" cy="3302000"/>
          </a:xfrm>
          <a:prstGeom prst="roundRect">
            <a:avLst/>
          </a:prstGeom>
          <a:solidFill>
            <a:srgbClr val="F4F7FA"/>
          </a:solidFill>
          <a:ln w="16510">
            <a:solidFill>
              <a:srgbClr val="AB6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CreatedText_12">
            <a:extLst>
              <a:ext uri="{FF2B5EF4-FFF2-40B4-BE49-F238E27FC236}">
                <a16:creationId xmlns:a16="http://schemas.microsoft.com/office/drawing/2014/main" id="{7232CE74-E338-4482-F8CA-88E2C7E9D6B2}"/>
              </a:ext>
            </a:extLst>
          </p:cNvPr>
          <p:cNvSpPr txBox="1"/>
          <p:nvPr/>
        </p:nvSpPr>
        <p:spPr>
          <a:xfrm>
            <a:off x="8394700" y="2057399"/>
            <a:ext cx="3175000" cy="660400"/>
          </a:xfrm>
          <a:prstGeom prst="rect">
            <a:avLst/>
          </a:prstGeom>
          <a:noFill/>
        </p:spPr>
        <p:txBody>
          <a:bodyPr vert="horz" wrap="square" lIns="0" tIns="0" rIns="0" bIns="0" rtlCol="0">
            <a:noAutofit/>
          </a:bodyPr>
          <a:lstStyle/>
          <a:p>
            <a:pPr>
              <a:spcAft>
                <a:spcPts val="600"/>
              </a:spcAft>
            </a:pPr>
            <a:r>
              <a:rPr lang="it-IT" sz="2100" b="1">
                <a:solidFill>
                  <a:srgbClr val="AB6900"/>
                </a:solidFill>
                <a:latin typeface="Calibri" panose="020F0502020204030204" pitchFamily="34" charset="0"/>
              </a:rPr>
              <a:t>SKILL</a:t>
            </a:r>
          </a:p>
        </p:txBody>
      </p:sp>
      <p:sp>
        <p:nvSpPr>
          <p:cNvPr id="13" name="CreatedText_13">
            <a:extLst>
              <a:ext uri="{FF2B5EF4-FFF2-40B4-BE49-F238E27FC236}">
                <a16:creationId xmlns:a16="http://schemas.microsoft.com/office/drawing/2014/main" id="{B772EDAB-487A-4230-494F-70A57C02B097}"/>
              </a:ext>
            </a:extLst>
          </p:cNvPr>
          <p:cNvSpPr txBox="1"/>
          <p:nvPr/>
        </p:nvSpPr>
        <p:spPr>
          <a:xfrm>
            <a:off x="8394700" y="2908299"/>
            <a:ext cx="3175000" cy="1981200"/>
          </a:xfrm>
          <a:prstGeom prst="rect">
            <a:avLst/>
          </a:prstGeom>
          <a:noFill/>
        </p:spPr>
        <p:txBody>
          <a:bodyPr vert="horz" wrap="square" lIns="0" tIns="0" rIns="0" bIns="0" rtlCol="0">
            <a:noAutofit/>
          </a:bodyPr>
          <a:lstStyle/>
          <a:p>
            <a:pPr>
              <a:spcAft>
                <a:spcPts val="600"/>
              </a:spcAft>
            </a:pPr>
            <a:r>
              <a:rPr lang="it-IT" sz="1700" dirty="0">
                <a:solidFill>
                  <a:srgbClr val="303030"/>
                </a:solidFill>
                <a:latin typeface="Calibri" panose="020F0502020204030204" pitchFamily="34" charset="0"/>
              </a:rPr>
              <a:t>Come svolgo questo compito?</a:t>
            </a:r>
          </a:p>
          <a:p>
            <a:pPr>
              <a:spcAft>
                <a:spcPts val="600"/>
              </a:spcAft>
            </a:pPr>
            <a:endParaRPr lang="it-IT" sz="1700" dirty="0">
              <a:solidFill>
                <a:srgbClr val="303030"/>
              </a:solidFill>
              <a:latin typeface="Calibri" panose="020F0502020204030204" pitchFamily="34" charset="0"/>
            </a:endParaRPr>
          </a:p>
          <a:p>
            <a:pPr>
              <a:spcAft>
                <a:spcPts val="600"/>
              </a:spcAft>
            </a:pPr>
            <a:r>
              <a:rPr lang="it-IT" sz="1700" b="1" dirty="0">
                <a:solidFill>
                  <a:srgbClr val="303030"/>
                </a:solidFill>
                <a:latin typeface="Calibri" panose="020F0502020204030204" pitchFamily="34" charset="0"/>
              </a:rPr>
              <a:t>Istruzioni</a:t>
            </a:r>
            <a:r>
              <a:rPr lang="it-IT" sz="1700" dirty="0">
                <a:solidFill>
                  <a:srgbClr val="303030"/>
                </a:solidFill>
                <a:latin typeface="Calibri" panose="020F0502020204030204" pitchFamily="34" charset="0"/>
              </a:rPr>
              <a:t> e </a:t>
            </a:r>
            <a:r>
              <a:rPr lang="it-IT" sz="1700" b="1" dirty="0">
                <a:solidFill>
                  <a:srgbClr val="303030"/>
                </a:solidFill>
                <a:latin typeface="Calibri" panose="020F0502020204030204" pitchFamily="34" charset="0"/>
              </a:rPr>
              <a:t>risorse riutilizzabili</a:t>
            </a:r>
            <a:r>
              <a:rPr lang="it-IT" sz="1700" dirty="0">
                <a:solidFill>
                  <a:srgbClr val="303030"/>
                </a:solidFill>
                <a:latin typeface="Calibri" panose="020F0502020204030204" pitchFamily="34" charset="0"/>
              </a:rPr>
              <a:t>, </a:t>
            </a:r>
            <a:r>
              <a:rPr lang="it-IT" sz="1700" i="1" dirty="0">
                <a:solidFill>
                  <a:srgbClr val="303030"/>
                </a:solidFill>
                <a:latin typeface="Calibri" panose="020F0502020204030204" pitchFamily="34" charset="0"/>
              </a:rPr>
              <a:t>caricate quando servono</a:t>
            </a:r>
            <a:r>
              <a:rPr lang="it-IT" sz="1700" dirty="0">
                <a:solidFill>
                  <a:srgbClr val="303030"/>
                </a:solidFill>
                <a:latin typeface="Calibri" panose="020F0502020204030204" pitchFamily="34" charset="0"/>
              </a:rPr>
              <a:t>.</a:t>
            </a:r>
          </a:p>
        </p:txBody>
      </p:sp>
      <p:sp>
        <p:nvSpPr>
          <p:cNvPr id="14" name="CreatedText_14">
            <a:extLst>
              <a:ext uri="{FF2B5EF4-FFF2-40B4-BE49-F238E27FC236}">
                <a16:creationId xmlns:a16="http://schemas.microsoft.com/office/drawing/2014/main" id="{652388D9-E96F-9531-88F4-F1A96234F572}"/>
              </a:ext>
            </a:extLst>
          </p:cNvPr>
          <p:cNvSpPr txBox="1"/>
          <p:nvPr/>
        </p:nvSpPr>
        <p:spPr>
          <a:xfrm>
            <a:off x="571500" y="5562599"/>
            <a:ext cx="11201400" cy="508000"/>
          </a:xfrm>
          <a:prstGeom prst="rect">
            <a:avLst/>
          </a:prstGeom>
          <a:noFill/>
        </p:spPr>
        <p:txBody>
          <a:bodyPr vert="horz" wrap="square" lIns="0" tIns="0" rIns="0" bIns="0" rtlCol="0">
            <a:noAutofit/>
          </a:bodyPr>
          <a:lstStyle/>
          <a:p>
            <a:pPr>
              <a:spcAft>
                <a:spcPts val="600"/>
              </a:spcAft>
            </a:pPr>
            <a:r>
              <a:rPr lang="it-IT" sz="2300" b="1">
                <a:solidFill>
                  <a:srgbClr val="303030"/>
                </a:solidFill>
                <a:latin typeface="Calibri" panose="020F0502020204030204" pitchFamily="34" charset="0"/>
              </a:rPr>
              <a:t>Tool ≠ agente autonomo. Procedura ≠ protocollo di rete.</a:t>
            </a:r>
          </a:p>
        </p:txBody>
      </p:sp>
    </p:spTree>
    <p:custDataLst>
      <p:tags r:id="rId1"/>
    </p:custDataLst>
    <p:extLst>
      <p:ext uri="{BB962C8B-B14F-4D97-AF65-F5344CB8AC3E}">
        <p14:creationId xmlns:p14="http://schemas.microsoft.com/office/powerpoint/2010/main" val="1302225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8F021CF9-B2F8-6432-4B37-2C01B3EFA21C}"/>
              </a:ext>
            </a:extLst>
          </p:cNvPr>
          <p:cNvSpPr>
            <a:spLocks noGrp="1"/>
          </p:cNvSpPr>
          <p:nvPr>
            <p:ph type="title"/>
          </p:nvPr>
        </p:nvSpPr>
        <p:spPr/>
        <p:txBody>
          <a:bodyPr>
            <a:normAutofit fontScale="90000"/>
          </a:bodyPr>
          <a:lstStyle/>
          <a:p>
            <a:endParaRPr lang="it-IT"/>
          </a:p>
        </p:txBody>
      </p:sp>
    </p:spTree>
    <p:extLst>
      <p:ext uri="{BB962C8B-B14F-4D97-AF65-F5344CB8AC3E}">
        <p14:creationId xmlns:p14="http://schemas.microsoft.com/office/powerpoint/2010/main" val="734575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851FAA92-680B-7D2B-1480-57E452BA263A}"/>
              </a:ext>
            </a:extLst>
          </p:cNvPr>
          <p:cNvSpPr>
            <a:spLocks noGrp="1"/>
          </p:cNvSpPr>
          <p:nvPr>
            <p:ph type="title"/>
          </p:nvPr>
        </p:nvSpPr>
        <p:spPr>
          <a:xfrm>
            <a:off x="1625600" y="317500"/>
            <a:ext cx="10160000" cy="660400"/>
          </a:xfrm>
        </p:spPr>
        <p:txBody>
          <a:bodyPr>
            <a:normAutofit/>
          </a:bodyPr>
          <a:lstStyle/>
          <a:p>
            <a:r>
              <a:rPr lang="it-IT" sz="2800">
                <a:solidFill>
                  <a:srgbClr val="303030"/>
                </a:solidFill>
                <a:latin typeface="Calibri" panose="020F0502020204030204" pitchFamily="34" charset="0"/>
              </a:rPr>
              <a:t>MCP: lʼagente usa uno strumento</a:t>
            </a:r>
          </a:p>
        </p:txBody>
      </p:sp>
      <p:sp>
        <p:nvSpPr>
          <p:cNvPr id="5" name="Rettangolo con angoli arrotondati 4">
            <a:extLst>
              <a:ext uri="{FF2B5EF4-FFF2-40B4-BE49-F238E27FC236}">
                <a16:creationId xmlns:a16="http://schemas.microsoft.com/office/drawing/2014/main" id="{62806736-3289-EEBE-8DCF-71D8016444CA}"/>
              </a:ext>
            </a:extLst>
          </p:cNvPr>
          <p:cNvSpPr/>
          <p:nvPr/>
        </p:nvSpPr>
        <p:spPr>
          <a:xfrm>
            <a:off x="571500" y="2032000"/>
            <a:ext cx="3496733" cy="1371600"/>
          </a:xfrm>
          <a:prstGeom prst="roundRect">
            <a:avLst/>
          </a:prstGeom>
          <a:solidFill>
            <a:srgbClr val="F4F7FA"/>
          </a:solidFill>
          <a:ln w="16510">
            <a:solidFill>
              <a:srgbClr val="1873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CreatedText_6">
            <a:extLst>
              <a:ext uri="{FF2B5EF4-FFF2-40B4-BE49-F238E27FC236}">
                <a16:creationId xmlns:a16="http://schemas.microsoft.com/office/drawing/2014/main" id="{D56015B0-32C0-6A81-D703-6D02C5F8B35A}"/>
              </a:ext>
            </a:extLst>
          </p:cNvPr>
          <p:cNvSpPr txBox="1"/>
          <p:nvPr/>
        </p:nvSpPr>
        <p:spPr>
          <a:xfrm>
            <a:off x="723900" y="2209799"/>
            <a:ext cx="3191933" cy="533400"/>
          </a:xfrm>
          <a:prstGeom prst="rect">
            <a:avLst/>
          </a:prstGeom>
          <a:noFill/>
        </p:spPr>
        <p:txBody>
          <a:bodyPr vert="horz" wrap="square" lIns="0" tIns="0" rIns="0" bIns="0" rtlCol="0">
            <a:noAutofit/>
          </a:bodyPr>
          <a:lstStyle/>
          <a:p>
            <a:pPr>
              <a:spcAft>
                <a:spcPts val="600"/>
              </a:spcAft>
            </a:pPr>
            <a:r>
              <a:rPr lang="it-IT" b="1">
                <a:solidFill>
                  <a:srgbClr val="1873A5"/>
                </a:solidFill>
                <a:latin typeface="Calibri" panose="020F0502020204030204" pitchFamily="34" charset="0"/>
              </a:rPr>
              <a:t>Basic.Web</a:t>
            </a:r>
          </a:p>
        </p:txBody>
      </p:sp>
      <p:sp>
        <p:nvSpPr>
          <p:cNvPr id="7" name="CreatedText_7">
            <a:extLst>
              <a:ext uri="{FF2B5EF4-FFF2-40B4-BE49-F238E27FC236}">
                <a16:creationId xmlns:a16="http://schemas.microsoft.com/office/drawing/2014/main" id="{7E9643E2-C2C4-EF7F-327A-5F36FFBA5BE5}"/>
              </a:ext>
            </a:extLst>
          </p:cNvPr>
          <p:cNvSpPr txBox="1"/>
          <p:nvPr/>
        </p:nvSpPr>
        <p:spPr>
          <a:xfrm>
            <a:off x="723900" y="2819399"/>
            <a:ext cx="3191933" cy="482600"/>
          </a:xfrm>
          <a:prstGeom prst="rect">
            <a:avLst/>
          </a:prstGeom>
          <a:noFill/>
        </p:spPr>
        <p:txBody>
          <a:bodyPr vert="horz" wrap="square" lIns="0" tIns="0" rIns="0" bIns="0" rtlCol="0">
            <a:noAutofit/>
          </a:bodyPr>
          <a:lstStyle/>
          <a:p>
            <a:pPr>
              <a:spcAft>
                <a:spcPts val="600"/>
              </a:spcAft>
            </a:pPr>
            <a:r>
              <a:rPr lang="it-IT" sz="1400">
                <a:solidFill>
                  <a:srgbClr val="303030"/>
                </a:solidFill>
                <a:latin typeface="Calibri" panose="020F0502020204030204" pitchFamily="34" charset="0"/>
              </a:rPr>
              <a:t>Agente + modello</a:t>
            </a:r>
          </a:p>
        </p:txBody>
      </p:sp>
      <p:cxnSp>
        <p:nvCxnSpPr>
          <p:cNvPr id="8" name="Connettore diritto 7">
            <a:extLst>
              <a:ext uri="{FF2B5EF4-FFF2-40B4-BE49-F238E27FC236}">
                <a16:creationId xmlns:a16="http://schemas.microsoft.com/office/drawing/2014/main" id="{D78C5EAF-26E9-F482-CBAE-C6DF6EB108D7}"/>
              </a:ext>
            </a:extLst>
          </p:cNvPr>
          <p:cNvCxnSpPr/>
          <p:nvPr/>
        </p:nvCxnSpPr>
        <p:spPr>
          <a:xfrm>
            <a:off x="4106333" y="2717800"/>
            <a:ext cx="279400" cy="0"/>
          </a:xfrm>
          <a:prstGeom prst="line">
            <a:avLst/>
          </a:prstGeom>
          <a:ln w="25400">
            <a:solidFill>
              <a:srgbClr val="1873A5"/>
            </a:solidFill>
            <a:tailEnd type="arrow"/>
          </a:ln>
        </p:spPr>
        <p:style>
          <a:lnRef idx="1">
            <a:schemeClr val="accent1"/>
          </a:lnRef>
          <a:fillRef idx="0">
            <a:schemeClr val="accent1"/>
          </a:fillRef>
          <a:effectRef idx="0">
            <a:schemeClr val="accent1"/>
          </a:effectRef>
          <a:fontRef idx="minor">
            <a:schemeClr val="tx1"/>
          </a:fontRef>
        </p:style>
      </p:cxnSp>
      <p:sp>
        <p:nvSpPr>
          <p:cNvPr id="9" name="Rettangolo con angoli arrotondati 8">
            <a:extLst>
              <a:ext uri="{FF2B5EF4-FFF2-40B4-BE49-F238E27FC236}">
                <a16:creationId xmlns:a16="http://schemas.microsoft.com/office/drawing/2014/main" id="{CFB8ECC9-B16F-1739-9B36-867C09C0DBF2}"/>
              </a:ext>
            </a:extLst>
          </p:cNvPr>
          <p:cNvSpPr/>
          <p:nvPr/>
        </p:nvSpPr>
        <p:spPr>
          <a:xfrm>
            <a:off x="4423833" y="2032000"/>
            <a:ext cx="3496734" cy="1371600"/>
          </a:xfrm>
          <a:prstGeom prst="roundRect">
            <a:avLst/>
          </a:prstGeom>
          <a:solidFill>
            <a:srgbClr val="F4F7FA"/>
          </a:solidFill>
          <a:ln w="16510">
            <a:solidFill>
              <a:srgbClr val="0077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reatedText_10">
            <a:extLst>
              <a:ext uri="{FF2B5EF4-FFF2-40B4-BE49-F238E27FC236}">
                <a16:creationId xmlns:a16="http://schemas.microsoft.com/office/drawing/2014/main" id="{CFF13A02-60A1-610B-6541-27A9CADE92AB}"/>
              </a:ext>
            </a:extLst>
          </p:cNvPr>
          <p:cNvSpPr txBox="1"/>
          <p:nvPr/>
        </p:nvSpPr>
        <p:spPr>
          <a:xfrm>
            <a:off x="4576233" y="2209799"/>
            <a:ext cx="3191933" cy="533400"/>
          </a:xfrm>
          <a:prstGeom prst="rect">
            <a:avLst/>
          </a:prstGeom>
          <a:noFill/>
        </p:spPr>
        <p:txBody>
          <a:bodyPr vert="horz" wrap="square" lIns="0" tIns="0" rIns="0" bIns="0" rtlCol="0">
            <a:noAutofit/>
          </a:bodyPr>
          <a:lstStyle/>
          <a:p>
            <a:pPr>
              <a:spcAft>
                <a:spcPts val="600"/>
              </a:spcAft>
            </a:pPr>
            <a:r>
              <a:rPr lang="it-IT" b="1">
                <a:solidFill>
                  <a:srgbClr val="007780"/>
                </a:solidFill>
                <a:latin typeface="Calibri" panose="020F0502020204030204" pitchFamily="34" charset="0"/>
              </a:rPr>
              <a:t>Client MCP</a:t>
            </a:r>
          </a:p>
        </p:txBody>
      </p:sp>
      <p:sp>
        <p:nvSpPr>
          <p:cNvPr id="11" name="CreatedText_11">
            <a:extLst>
              <a:ext uri="{FF2B5EF4-FFF2-40B4-BE49-F238E27FC236}">
                <a16:creationId xmlns:a16="http://schemas.microsoft.com/office/drawing/2014/main" id="{AD454D60-2792-ADDF-B1BD-B85E6948B10A}"/>
              </a:ext>
            </a:extLst>
          </p:cNvPr>
          <p:cNvSpPr txBox="1"/>
          <p:nvPr/>
        </p:nvSpPr>
        <p:spPr>
          <a:xfrm>
            <a:off x="4576233" y="2819399"/>
            <a:ext cx="3191933" cy="482600"/>
          </a:xfrm>
          <a:prstGeom prst="rect">
            <a:avLst/>
          </a:prstGeom>
          <a:noFill/>
        </p:spPr>
        <p:txBody>
          <a:bodyPr vert="horz" wrap="square" lIns="0" tIns="0" rIns="0" bIns="0" rtlCol="0">
            <a:noAutofit/>
          </a:bodyPr>
          <a:lstStyle/>
          <a:p>
            <a:pPr>
              <a:spcAft>
                <a:spcPts val="600"/>
              </a:spcAft>
            </a:pPr>
            <a:r>
              <a:rPr lang="it-IT" sz="1400">
                <a:solidFill>
                  <a:srgbClr val="303030"/>
                </a:solidFill>
                <a:latin typeface="Calibri" panose="020F0502020204030204" pitchFamily="34" charset="0"/>
              </a:rPr>
              <a:t>Scopre e chiama tool</a:t>
            </a:r>
          </a:p>
        </p:txBody>
      </p:sp>
      <p:cxnSp>
        <p:nvCxnSpPr>
          <p:cNvPr id="12" name="Connettore diritto 11">
            <a:extLst>
              <a:ext uri="{FF2B5EF4-FFF2-40B4-BE49-F238E27FC236}">
                <a16:creationId xmlns:a16="http://schemas.microsoft.com/office/drawing/2014/main" id="{E0878578-832E-E226-5D7F-4082ABFCC317}"/>
              </a:ext>
            </a:extLst>
          </p:cNvPr>
          <p:cNvCxnSpPr/>
          <p:nvPr/>
        </p:nvCxnSpPr>
        <p:spPr>
          <a:xfrm>
            <a:off x="7958667" y="2717800"/>
            <a:ext cx="279400" cy="0"/>
          </a:xfrm>
          <a:prstGeom prst="line">
            <a:avLst/>
          </a:prstGeom>
          <a:ln w="25400">
            <a:solidFill>
              <a:srgbClr val="1873A5"/>
            </a:solidFill>
            <a:tailEnd type="arrow"/>
          </a:ln>
        </p:spPr>
        <p:style>
          <a:lnRef idx="1">
            <a:schemeClr val="accent1"/>
          </a:lnRef>
          <a:fillRef idx="0">
            <a:schemeClr val="accent1"/>
          </a:fillRef>
          <a:effectRef idx="0">
            <a:schemeClr val="accent1"/>
          </a:effectRef>
          <a:fontRef idx="minor">
            <a:schemeClr val="tx1"/>
          </a:fontRef>
        </p:style>
      </p:cxnSp>
      <p:sp>
        <p:nvSpPr>
          <p:cNvPr id="13" name="Rettangolo con angoli arrotondati 12">
            <a:extLst>
              <a:ext uri="{FF2B5EF4-FFF2-40B4-BE49-F238E27FC236}">
                <a16:creationId xmlns:a16="http://schemas.microsoft.com/office/drawing/2014/main" id="{397D8424-7134-FD91-1881-8286D3B2027C}"/>
              </a:ext>
            </a:extLst>
          </p:cNvPr>
          <p:cNvSpPr/>
          <p:nvPr/>
        </p:nvSpPr>
        <p:spPr>
          <a:xfrm>
            <a:off x="8276167" y="2032000"/>
            <a:ext cx="3496733" cy="1371600"/>
          </a:xfrm>
          <a:prstGeom prst="roundRect">
            <a:avLst/>
          </a:prstGeom>
          <a:solidFill>
            <a:srgbClr val="F4F7FA"/>
          </a:solidFill>
          <a:ln w="16510">
            <a:solidFill>
              <a:srgbClr val="0077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 name="CreatedText_14">
            <a:extLst>
              <a:ext uri="{FF2B5EF4-FFF2-40B4-BE49-F238E27FC236}">
                <a16:creationId xmlns:a16="http://schemas.microsoft.com/office/drawing/2014/main" id="{4A9363DD-B051-DE43-1E60-8FC33B6D2628}"/>
              </a:ext>
            </a:extLst>
          </p:cNvPr>
          <p:cNvSpPr txBox="1"/>
          <p:nvPr/>
        </p:nvSpPr>
        <p:spPr>
          <a:xfrm>
            <a:off x="8428567" y="2209799"/>
            <a:ext cx="3191933" cy="533400"/>
          </a:xfrm>
          <a:prstGeom prst="rect">
            <a:avLst/>
          </a:prstGeom>
          <a:noFill/>
        </p:spPr>
        <p:txBody>
          <a:bodyPr vert="horz" wrap="square" lIns="0" tIns="0" rIns="0" bIns="0" rtlCol="0">
            <a:noAutofit/>
          </a:bodyPr>
          <a:lstStyle/>
          <a:p>
            <a:pPr>
              <a:spcAft>
                <a:spcPts val="600"/>
              </a:spcAft>
            </a:pPr>
            <a:r>
              <a:rPr lang="it-IT" b="1">
                <a:solidFill>
                  <a:srgbClr val="007780"/>
                </a:solidFill>
                <a:latin typeface="Calibri" panose="020F0502020204030204" pitchFamily="34" charset="0"/>
              </a:rPr>
              <a:t>Basic.McpServer</a:t>
            </a:r>
          </a:p>
        </p:txBody>
      </p:sp>
      <p:sp>
        <p:nvSpPr>
          <p:cNvPr id="15" name="CreatedText_15">
            <a:extLst>
              <a:ext uri="{FF2B5EF4-FFF2-40B4-BE49-F238E27FC236}">
                <a16:creationId xmlns:a16="http://schemas.microsoft.com/office/drawing/2014/main" id="{5A495C5D-5089-DB4F-7EB8-7A8E2E6E1209}"/>
              </a:ext>
            </a:extLst>
          </p:cNvPr>
          <p:cNvSpPr txBox="1"/>
          <p:nvPr/>
        </p:nvSpPr>
        <p:spPr>
          <a:xfrm>
            <a:off x="8428567" y="2819399"/>
            <a:ext cx="3191933" cy="482600"/>
          </a:xfrm>
          <a:prstGeom prst="rect">
            <a:avLst/>
          </a:prstGeom>
          <a:noFill/>
        </p:spPr>
        <p:txBody>
          <a:bodyPr vert="horz" wrap="square" lIns="0" tIns="0" rIns="0" bIns="0" rtlCol="0">
            <a:noAutofit/>
          </a:bodyPr>
          <a:lstStyle/>
          <a:p>
            <a:pPr>
              <a:spcAft>
                <a:spcPts val="600"/>
              </a:spcAft>
            </a:pPr>
            <a:r>
              <a:rPr lang="it-IT" sz="1400">
                <a:solidFill>
                  <a:srgbClr val="303030"/>
                </a:solidFill>
                <a:latin typeface="Calibri" panose="020F0502020204030204" pitchFamily="34" charset="0"/>
              </a:rPr>
              <a:t>Esegue get_weather</a:t>
            </a:r>
          </a:p>
        </p:txBody>
      </p:sp>
      <p:sp>
        <p:nvSpPr>
          <p:cNvPr id="16" name="CreatedText_16">
            <a:extLst>
              <a:ext uri="{FF2B5EF4-FFF2-40B4-BE49-F238E27FC236}">
                <a16:creationId xmlns:a16="http://schemas.microsoft.com/office/drawing/2014/main" id="{CEE6A86C-A04A-AA28-54E8-CA8A7178ED40}"/>
              </a:ext>
            </a:extLst>
          </p:cNvPr>
          <p:cNvSpPr txBox="1"/>
          <p:nvPr/>
        </p:nvSpPr>
        <p:spPr>
          <a:xfrm>
            <a:off x="571500" y="3708399"/>
            <a:ext cx="11201400" cy="571500"/>
          </a:xfrm>
          <a:prstGeom prst="rect">
            <a:avLst/>
          </a:prstGeom>
          <a:noFill/>
        </p:spPr>
        <p:txBody>
          <a:bodyPr vert="horz" wrap="square" lIns="0" tIns="0" rIns="0" bIns="0" rtlCol="0">
            <a:noAutofit/>
          </a:bodyPr>
          <a:lstStyle/>
          <a:p>
            <a:pPr>
              <a:spcAft>
                <a:spcPts val="600"/>
              </a:spcAft>
            </a:pPr>
            <a:r>
              <a:rPr lang="it-IT" sz="2300" b="1">
                <a:solidFill>
                  <a:srgbClr val="007780"/>
                </a:solidFill>
                <a:latin typeface="Calibri" panose="020F0502020204030204" pitchFamily="34" charset="0"/>
              </a:rPr>
              <a:t>Richiesta → tool → dato → risposta dellʼagente locale</a:t>
            </a:r>
          </a:p>
        </p:txBody>
      </p:sp>
      <p:sp>
        <p:nvSpPr>
          <p:cNvPr id="17" name="CreatedText_17">
            <a:extLst>
              <a:ext uri="{FF2B5EF4-FFF2-40B4-BE49-F238E27FC236}">
                <a16:creationId xmlns:a16="http://schemas.microsoft.com/office/drawing/2014/main" id="{E22D1628-DA28-E9B8-F239-932A1ECEE582}"/>
              </a:ext>
            </a:extLst>
          </p:cNvPr>
          <p:cNvSpPr txBox="1"/>
          <p:nvPr/>
        </p:nvSpPr>
        <p:spPr>
          <a:xfrm>
            <a:off x="571500" y="4508499"/>
            <a:ext cx="11201400" cy="1524000"/>
          </a:xfrm>
          <a:prstGeom prst="rect">
            <a:avLst/>
          </a:prstGeom>
          <a:noFill/>
        </p:spPr>
        <p:txBody>
          <a:bodyPr vert="horz" wrap="square" lIns="0" tIns="0" rIns="0" bIns="0" rtlCol="0">
            <a:noAutofit/>
          </a:bodyPr>
          <a:lstStyle/>
          <a:p>
            <a:pPr>
              <a:spcAft>
                <a:spcPts val="600"/>
              </a:spcAft>
            </a:pPr>
            <a:r>
              <a:rPr lang="it-IT" sz="2100">
                <a:solidFill>
                  <a:srgbClr val="303030"/>
                </a:solidFill>
                <a:latin typeface="Calibri" panose="020F0502020204030204" pitchFamily="34" charset="0"/>
              </a:rPr>
              <a:t>• Il modello decide quando usare il tool.</a:t>
            </a:r>
          </a:p>
          <a:p>
            <a:pPr>
              <a:spcAft>
                <a:spcPts val="600"/>
              </a:spcAft>
            </a:pPr>
            <a:r>
              <a:rPr lang="it-IT" sz="2100">
                <a:solidFill>
                  <a:srgbClr val="303030"/>
                </a:solidFill>
                <a:latin typeface="Calibri" panose="020F0502020204030204" pitchFamily="34" charset="0"/>
              </a:rPr>
              <a:t>• Il tool restituisce dati, non un secondo ragionamento agentico.</a:t>
            </a:r>
          </a:p>
          <a:p>
            <a:pPr>
              <a:spcAft>
                <a:spcPts val="600"/>
              </a:spcAft>
            </a:pPr>
            <a:r>
              <a:rPr lang="it-IT" sz="2100">
                <a:solidFill>
                  <a:srgbClr val="303030"/>
                </a:solidFill>
                <a:latin typeface="Calibri" panose="020F0502020204030204" pitchFamily="34" charset="0"/>
              </a:rPr>
              <a:t>• MCP separa il contratto operativo dallʼimplementazione.</a:t>
            </a:r>
          </a:p>
        </p:txBody>
      </p:sp>
    </p:spTree>
    <p:custDataLst>
      <p:tags r:id="rId1"/>
    </p:custDataLst>
    <p:extLst>
      <p:ext uri="{BB962C8B-B14F-4D97-AF65-F5344CB8AC3E}">
        <p14:creationId xmlns:p14="http://schemas.microsoft.com/office/powerpoint/2010/main" val="1849254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B785BCCD-C060-FE92-D358-4113DBB5CF9C}"/>
              </a:ext>
            </a:extLst>
          </p:cNvPr>
          <p:cNvSpPr txBox="1"/>
          <p:nvPr/>
        </p:nvSpPr>
        <p:spPr>
          <a:xfrm>
            <a:off x="1625600" y="317499"/>
            <a:ext cx="10160000" cy="685800"/>
          </a:xfrm>
          <a:prstGeom prst="rect">
            <a:avLst/>
          </a:prstGeom>
          <a:noFill/>
        </p:spPr>
        <p:txBody>
          <a:bodyPr vert="horz" lIns="0" tIns="0" rIns="0" bIns="0" rtlCol="0">
            <a:noAutofit/>
          </a:bodyPr>
          <a:lstStyle/>
          <a:p>
            <a:r>
              <a:rPr lang="it-IT" sz="2800" b="1">
                <a:solidFill>
                  <a:srgbClr val="303030"/>
                </a:solidFill>
                <a:latin typeface="Aptos" panose="020B0004020202020204" pitchFamily="34" charset="0"/>
              </a:rPr>
              <a:t>MCP: quando usarlo, quando basta una funzione</a:t>
            </a:r>
          </a:p>
        </p:txBody>
      </p:sp>
      <p:sp>
        <p:nvSpPr>
          <p:cNvPr id="6" name="Rettangolo con angoli arrotondati 5">
            <a:extLst>
              <a:ext uri="{FF2B5EF4-FFF2-40B4-BE49-F238E27FC236}">
                <a16:creationId xmlns:a16="http://schemas.microsoft.com/office/drawing/2014/main" id="{B9D698BF-C084-2CD9-A87A-D1A7E4DAE99E}"/>
              </a:ext>
            </a:extLst>
          </p:cNvPr>
          <p:cNvSpPr/>
          <p:nvPr/>
        </p:nvSpPr>
        <p:spPr>
          <a:xfrm>
            <a:off x="571500" y="1651000"/>
            <a:ext cx="3581400" cy="36195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B486110F-2F6A-ECBC-29E2-B05678630B21}"/>
              </a:ext>
            </a:extLst>
          </p:cNvPr>
          <p:cNvSpPr txBox="1"/>
          <p:nvPr/>
        </p:nvSpPr>
        <p:spPr>
          <a:xfrm>
            <a:off x="774700" y="1854199"/>
            <a:ext cx="3175000" cy="533400"/>
          </a:xfrm>
          <a:prstGeom prst="rect">
            <a:avLst/>
          </a:prstGeom>
          <a:noFill/>
        </p:spPr>
        <p:txBody>
          <a:bodyPr vert="horz" lIns="0" tIns="0" rIns="0" bIns="0" rtlCol="0">
            <a:noAutofit/>
          </a:bodyPr>
          <a:lstStyle/>
          <a:p>
            <a:r>
              <a:rPr lang="it-IT" sz="2000" b="1">
                <a:solidFill>
                  <a:srgbClr val="008278"/>
                </a:solidFill>
                <a:latin typeface="Aptos" panose="020B0004020202020204" pitchFamily="34" charset="0"/>
              </a:rPr>
              <a:t>COS'È</a:t>
            </a:r>
          </a:p>
        </p:txBody>
      </p:sp>
      <p:sp>
        <p:nvSpPr>
          <p:cNvPr id="8" name="CasellaDiTesto 7">
            <a:extLst>
              <a:ext uri="{FF2B5EF4-FFF2-40B4-BE49-F238E27FC236}">
                <a16:creationId xmlns:a16="http://schemas.microsoft.com/office/drawing/2014/main" id="{5593729E-C4DE-4F25-EA7A-CEB61629EA18}"/>
              </a:ext>
            </a:extLst>
          </p:cNvPr>
          <p:cNvSpPr txBox="1"/>
          <p:nvPr/>
        </p:nvSpPr>
        <p:spPr>
          <a:xfrm>
            <a:off x="77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Protocollo per esporre tool, risorse e prompt a client compatibili.</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Non è un agente autonomo.</a:t>
            </a:r>
          </a:p>
        </p:txBody>
      </p:sp>
      <p:sp>
        <p:nvSpPr>
          <p:cNvPr id="9" name="Rettangolo con angoli arrotondati 8">
            <a:extLst>
              <a:ext uri="{FF2B5EF4-FFF2-40B4-BE49-F238E27FC236}">
                <a16:creationId xmlns:a16="http://schemas.microsoft.com/office/drawing/2014/main" id="{23084E9F-5ED0-B354-1FFA-0DF94047C332}"/>
              </a:ext>
            </a:extLst>
          </p:cNvPr>
          <p:cNvSpPr/>
          <p:nvPr/>
        </p:nvSpPr>
        <p:spPr>
          <a:xfrm>
            <a:off x="4381500" y="1651000"/>
            <a:ext cx="3581400" cy="3619500"/>
          </a:xfrm>
          <a:prstGeom prst="roundRect">
            <a:avLst/>
          </a:prstGeom>
          <a:solidFill>
            <a:srgbClr val="F2F2F2"/>
          </a:solidFill>
          <a:ln>
            <a:solidFill>
              <a:srgbClr val="C06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4596871F-FC81-2A16-7F00-480EDA134B5B}"/>
              </a:ext>
            </a:extLst>
          </p:cNvPr>
          <p:cNvSpPr txBox="1"/>
          <p:nvPr/>
        </p:nvSpPr>
        <p:spPr>
          <a:xfrm>
            <a:off x="4584700" y="1854199"/>
            <a:ext cx="3175000" cy="533400"/>
          </a:xfrm>
          <a:prstGeom prst="rect">
            <a:avLst/>
          </a:prstGeom>
          <a:noFill/>
        </p:spPr>
        <p:txBody>
          <a:bodyPr vert="horz" lIns="0" tIns="0" rIns="0" bIns="0" rtlCol="0">
            <a:noAutofit/>
          </a:bodyPr>
          <a:lstStyle/>
          <a:p>
            <a:r>
              <a:rPr lang="it-IT" sz="2000" b="1">
                <a:solidFill>
                  <a:srgbClr val="C064AA"/>
                </a:solidFill>
                <a:latin typeface="Aptos" panose="020B0004020202020204" pitchFamily="34" charset="0"/>
              </a:rPr>
              <a:t>USALO SE</a:t>
            </a:r>
          </a:p>
        </p:txBody>
      </p:sp>
      <p:sp>
        <p:nvSpPr>
          <p:cNvPr id="11" name="CasellaDiTesto 10">
            <a:extLst>
              <a:ext uri="{FF2B5EF4-FFF2-40B4-BE49-F238E27FC236}">
                <a16:creationId xmlns:a16="http://schemas.microsoft.com/office/drawing/2014/main" id="{49D438E5-20BA-F78A-855A-A1D17BB8DD06}"/>
              </a:ext>
            </a:extLst>
          </p:cNvPr>
          <p:cNvSpPr txBox="1"/>
          <p:nvPr/>
        </p:nvSpPr>
        <p:spPr>
          <a:xfrm>
            <a:off x="458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Lo stesso catalogo serve più agenti o applicazioni.</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Vuoi separare deploy e integrazioni.</a:t>
            </a:r>
          </a:p>
        </p:txBody>
      </p:sp>
      <p:sp>
        <p:nvSpPr>
          <p:cNvPr id="12" name="Rettangolo con angoli arrotondati 11">
            <a:extLst>
              <a:ext uri="{FF2B5EF4-FFF2-40B4-BE49-F238E27FC236}">
                <a16:creationId xmlns:a16="http://schemas.microsoft.com/office/drawing/2014/main" id="{BBC9C5D9-E408-4EBA-30B8-6438649A31E7}"/>
              </a:ext>
            </a:extLst>
          </p:cNvPr>
          <p:cNvSpPr/>
          <p:nvPr/>
        </p:nvSpPr>
        <p:spPr>
          <a:xfrm>
            <a:off x="8191500" y="1651000"/>
            <a:ext cx="3581400" cy="3619500"/>
          </a:xfrm>
          <a:prstGeom prst="roundRect">
            <a:avLst/>
          </a:prstGeom>
          <a:solidFill>
            <a:srgbClr val="F2F2F2"/>
          </a:solidFill>
          <a:ln>
            <a:solidFill>
              <a:srgbClr val="C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9D97C9A4-485E-7F27-008B-2E1D86B6673D}"/>
              </a:ext>
            </a:extLst>
          </p:cNvPr>
          <p:cNvSpPr txBox="1"/>
          <p:nvPr/>
        </p:nvSpPr>
        <p:spPr>
          <a:xfrm>
            <a:off x="8394700" y="1854199"/>
            <a:ext cx="3175000" cy="533400"/>
          </a:xfrm>
          <a:prstGeom prst="rect">
            <a:avLst/>
          </a:prstGeom>
          <a:noFill/>
        </p:spPr>
        <p:txBody>
          <a:bodyPr vert="horz" lIns="0" tIns="0" rIns="0" bIns="0" rtlCol="0">
            <a:noAutofit/>
          </a:bodyPr>
          <a:lstStyle/>
          <a:p>
            <a:r>
              <a:rPr lang="it-IT" sz="2000" b="1">
                <a:solidFill>
                  <a:srgbClr val="C08000"/>
                </a:solidFill>
                <a:latin typeface="Aptos" panose="020B0004020202020204" pitchFamily="34" charset="0"/>
              </a:rPr>
              <a:t>NON SERVE SE</a:t>
            </a:r>
          </a:p>
        </p:txBody>
      </p:sp>
      <p:sp>
        <p:nvSpPr>
          <p:cNvPr id="14" name="CasellaDiTesto 13">
            <a:extLst>
              <a:ext uri="{FF2B5EF4-FFF2-40B4-BE49-F238E27FC236}">
                <a16:creationId xmlns:a16="http://schemas.microsoft.com/office/drawing/2014/main" id="{FA55ACAD-17C7-8AE2-4366-40E1BE9F8683}"/>
              </a:ext>
            </a:extLst>
          </p:cNvPr>
          <p:cNvSpPr txBox="1"/>
          <p:nvPr/>
        </p:nvSpPr>
        <p:spPr>
          <a:xfrm>
            <a:off x="839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Una funzione locale è sufficiente.</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Il trasporto remoto non aggiunge riuso o separazione.</a:t>
            </a:r>
          </a:p>
        </p:txBody>
      </p:sp>
      <p:sp>
        <p:nvSpPr>
          <p:cNvPr id="15" name="CasellaDiTesto 14">
            <a:extLst>
              <a:ext uri="{FF2B5EF4-FFF2-40B4-BE49-F238E27FC236}">
                <a16:creationId xmlns:a16="http://schemas.microsoft.com/office/drawing/2014/main" id="{F468218F-6DF0-E86D-BB8D-5F437740B189}"/>
              </a:ext>
            </a:extLst>
          </p:cNvPr>
          <p:cNvSpPr txBox="1"/>
          <p:nvPr/>
        </p:nvSpPr>
        <p:spPr>
          <a:xfrm>
            <a:off x="571500" y="5626100"/>
            <a:ext cx="11201400" cy="660400"/>
          </a:xfrm>
          <a:prstGeom prst="rect">
            <a:avLst/>
          </a:prstGeom>
          <a:noFill/>
        </p:spPr>
        <p:txBody>
          <a:bodyPr vert="horz" lIns="0" tIns="0" rIns="0" bIns="0" rtlCol="0">
            <a:noAutofit/>
          </a:bodyPr>
          <a:lstStyle/>
          <a:p>
            <a:r>
              <a:rPr lang="it-IT" sz="2200" b="1">
                <a:solidFill>
                  <a:srgbClr val="303030"/>
                </a:solidFill>
                <a:latin typeface="Aptos" panose="020B0004020202020204" pitchFamily="34" charset="0"/>
              </a:rPr>
              <a:t>Esempio: get_weather(city) restituisce dati. La risposta la costruisce l'agente.</a:t>
            </a:r>
          </a:p>
        </p:txBody>
      </p:sp>
    </p:spTree>
    <p:custDataLst>
      <p:tags r:id="rId1"/>
    </p:custDataLst>
    <p:extLst>
      <p:ext uri="{BB962C8B-B14F-4D97-AF65-F5344CB8AC3E}">
        <p14:creationId xmlns:p14="http://schemas.microsoft.com/office/powerpoint/2010/main" val="2435882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D99F6-7B58-3711-9015-494C219569EB}"/>
            </a:ext>
          </a:extLst>
        </p:cNvPr>
        <p:cNvGrpSpPr/>
        <p:nvPr/>
      </p:nvGrpSpPr>
      <p:grpSpPr>
        <a:xfrm>
          <a:off x="0" y="0"/>
          <a:ext cx="0" cy="0"/>
          <a:chOff x="0" y="0"/>
          <a:chExt cx="0" cy="0"/>
        </a:xfrm>
      </p:grpSpPr>
      <p:sp>
        <p:nvSpPr>
          <p:cNvPr id="4" name="Titolo 3">
            <a:extLst>
              <a:ext uri="{FF2B5EF4-FFF2-40B4-BE49-F238E27FC236}">
                <a16:creationId xmlns:a16="http://schemas.microsoft.com/office/drawing/2014/main" id="{5BEFD398-8FD6-3498-C2DE-A25CA8B48275}"/>
              </a:ext>
            </a:extLst>
          </p:cNvPr>
          <p:cNvSpPr>
            <a:spLocks noGrp="1"/>
          </p:cNvSpPr>
          <p:nvPr>
            <p:ph type="title"/>
          </p:nvPr>
        </p:nvSpPr>
        <p:spPr/>
        <p:txBody>
          <a:bodyPr>
            <a:normAutofit fontScale="90000"/>
          </a:bodyPr>
          <a:lstStyle/>
          <a:p>
            <a:endParaRPr lang="it-IT"/>
          </a:p>
        </p:txBody>
      </p:sp>
    </p:spTree>
    <p:extLst>
      <p:ext uri="{BB962C8B-B14F-4D97-AF65-F5344CB8AC3E}">
        <p14:creationId xmlns:p14="http://schemas.microsoft.com/office/powerpoint/2010/main" val="247334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825BE989-B0AF-B0BA-B7AE-34E7BB71659D}"/>
              </a:ext>
            </a:extLst>
          </p:cNvPr>
          <p:cNvSpPr>
            <a:spLocks noGrp="1"/>
          </p:cNvSpPr>
          <p:nvPr>
            <p:ph type="title"/>
          </p:nvPr>
        </p:nvSpPr>
        <p:spPr>
          <a:xfrm>
            <a:off x="1625600" y="317500"/>
            <a:ext cx="10160000" cy="660400"/>
          </a:xfrm>
        </p:spPr>
        <p:txBody>
          <a:bodyPr>
            <a:normAutofit/>
          </a:bodyPr>
          <a:lstStyle/>
          <a:p>
            <a:r>
              <a:rPr lang="it-IT" sz="2800">
                <a:solidFill>
                  <a:srgbClr val="303030"/>
                </a:solidFill>
                <a:latin typeface="Calibri" panose="020F0502020204030204" pitchFamily="34" charset="0"/>
              </a:rPr>
              <a:t>A2A: delego un task a uno specialista</a:t>
            </a:r>
          </a:p>
        </p:txBody>
      </p:sp>
      <p:sp>
        <p:nvSpPr>
          <p:cNvPr id="5" name="Rettangolo con angoli arrotondati 4">
            <a:extLst>
              <a:ext uri="{FF2B5EF4-FFF2-40B4-BE49-F238E27FC236}">
                <a16:creationId xmlns:a16="http://schemas.microsoft.com/office/drawing/2014/main" id="{62EDFDD5-BCA9-315E-0FBF-E0783B3B3E73}"/>
              </a:ext>
            </a:extLst>
          </p:cNvPr>
          <p:cNvSpPr/>
          <p:nvPr/>
        </p:nvSpPr>
        <p:spPr>
          <a:xfrm>
            <a:off x="571500" y="2032000"/>
            <a:ext cx="3496733" cy="1371600"/>
          </a:xfrm>
          <a:prstGeom prst="roundRect">
            <a:avLst/>
          </a:prstGeom>
          <a:solidFill>
            <a:srgbClr val="F4F7FA"/>
          </a:solidFill>
          <a:ln w="16510">
            <a:solidFill>
              <a:srgbClr val="1873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CreatedText_6">
            <a:extLst>
              <a:ext uri="{FF2B5EF4-FFF2-40B4-BE49-F238E27FC236}">
                <a16:creationId xmlns:a16="http://schemas.microsoft.com/office/drawing/2014/main" id="{68A64369-2460-61E8-3CF7-1F04EA1CBFCF}"/>
              </a:ext>
            </a:extLst>
          </p:cNvPr>
          <p:cNvSpPr txBox="1"/>
          <p:nvPr/>
        </p:nvSpPr>
        <p:spPr>
          <a:xfrm>
            <a:off x="723900" y="2209799"/>
            <a:ext cx="3191933" cy="533400"/>
          </a:xfrm>
          <a:prstGeom prst="rect">
            <a:avLst/>
          </a:prstGeom>
          <a:noFill/>
        </p:spPr>
        <p:txBody>
          <a:bodyPr vert="horz" wrap="square" lIns="0" tIns="0" rIns="0" bIns="0" rtlCol="0">
            <a:noAutofit/>
          </a:bodyPr>
          <a:lstStyle/>
          <a:p>
            <a:pPr>
              <a:spcAft>
                <a:spcPts val="600"/>
              </a:spcAft>
            </a:pPr>
            <a:r>
              <a:rPr lang="it-IT" b="1">
                <a:solidFill>
                  <a:srgbClr val="1873A5"/>
                </a:solidFill>
                <a:latin typeface="Calibri" panose="020F0502020204030204" pitchFamily="34" charset="0"/>
              </a:rPr>
              <a:t>Basic.Web</a:t>
            </a:r>
          </a:p>
        </p:txBody>
      </p:sp>
      <p:sp>
        <p:nvSpPr>
          <p:cNvPr id="7" name="CreatedText_7">
            <a:extLst>
              <a:ext uri="{FF2B5EF4-FFF2-40B4-BE49-F238E27FC236}">
                <a16:creationId xmlns:a16="http://schemas.microsoft.com/office/drawing/2014/main" id="{71A9FEDC-C290-9C79-B17B-261C779F8437}"/>
              </a:ext>
            </a:extLst>
          </p:cNvPr>
          <p:cNvSpPr txBox="1"/>
          <p:nvPr/>
        </p:nvSpPr>
        <p:spPr>
          <a:xfrm>
            <a:off x="723900" y="2819399"/>
            <a:ext cx="3191933" cy="482600"/>
          </a:xfrm>
          <a:prstGeom prst="rect">
            <a:avLst/>
          </a:prstGeom>
          <a:noFill/>
        </p:spPr>
        <p:txBody>
          <a:bodyPr vert="horz" wrap="square" lIns="0" tIns="0" rIns="0" bIns="0" rtlCol="0">
            <a:noAutofit/>
          </a:bodyPr>
          <a:lstStyle/>
          <a:p>
            <a:pPr>
              <a:spcAft>
                <a:spcPts val="600"/>
              </a:spcAft>
            </a:pPr>
            <a:r>
              <a:rPr lang="it-IT" sz="1400">
                <a:solidFill>
                  <a:srgbClr val="303030"/>
                </a:solidFill>
                <a:latin typeface="Calibri" panose="020F0502020204030204" pitchFamily="34" charset="0"/>
              </a:rPr>
              <a:t>Legge la Agent Card</a:t>
            </a:r>
          </a:p>
        </p:txBody>
      </p:sp>
      <p:cxnSp>
        <p:nvCxnSpPr>
          <p:cNvPr id="8" name="Connettore diritto 7">
            <a:extLst>
              <a:ext uri="{FF2B5EF4-FFF2-40B4-BE49-F238E27FC236}">
                <a16:creationId xmlns:a16="http://schemas.microsoft.com/office/drawing/2014/main" id="{BFD6D9EC-7FC8-6EE6-2920-71B56C37DE17}"/>
              </a:ext>
            </a:extLst>
          </p:cNvPr>
          <p:cNvCxnSpPr/>
          <p:nvPr/>
        </p:nvCxnSpPr>
        <p:spPr>
          <a:xfrm>
            <a:off x="4106333" y="2717800"/>
            <a:ext cx="279400" cy="0"/>
          </a:xfrm>
          <a:prstGeom prst="line">
            <a:avLst/>
          </a:prstGeom>
          <a:ln w="25400">
            <a:solidFill>
              <a:srgbClr val="1873A5"/>
            </a:solidFill>
            <a:tailEnd type="arrow"/>
          </a:ln>
        </p:spPr>
        <p:style>
          <a:lnRef idx="1">
            <a:schemeClr val="accent1"/>
          </a:lnRef>
          <a:fillRef idx="0">
            <a:schemeClr val="accent1"/>
          </a:fillRef>
          <a:effectRef idx="0">
            <a:schemeClr val="accent1"/>
          </a:effectRef>
          <a:fontRef idx="minor">
            <a:schemeClr val="tx1"/>
          </a:fontRef>
        </p:style>
      </p:cxnSp>
      <p:sp>
        <p:nvSpPr>
          <p:cNvPr id="9" name="Rettangolo con angoli arrotondati 8">
            <a:extLst>
              <a:ext uri="{FF2B5EF4-FFF2-40B4-BE49-F238E27FC236}">
                <a16:creationId xmlns:a16="http://schemas.microsoft.com/office/drawing/2014/main" id="{E1201759-7A26-3026-2630-7248D1BAD7E7}"/>
              </a:ext>
            </a:extLst>
          </p:cNvPr>
          <p:cNvSpPr/>
          <p:nvPr/>
        </p:nvSpPr>
        <p:spPr>
          <a:xfrm>
            <a:off x="4423833" y="2032000"/>
            <a:ext cx="3496734" cy="1371600"/>
          </a:xfrm>
          <a:prstGeom prst="roundRect">
            <a:avLst/>
          </a:prstGeom>
          <a:solidFill>
            <a:srgbClr val="F4F7FA"/>
          </a:solidFill>
          <a:ln w="16510">
            <a:solidFill>
              <a:srgbClr val="7046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reatedText_10">
            <a:extLst>
              <a:ext uri="{FF2B5EF4-FFF2-40B4-BE49-F238E27FC236}">
                <a16:creationId xmlns:a16="http://schemas.microsoft.com/office/drawing/2014/main" id="{A2246471-D936-AE61-79D1-C0A2F7FA2843}"/>
              </a:ext>
            </a:extLst>
          </p:cNvPr>
          <p:cNvSpPr txBox="1"/>
          <p:nvPr/>
        </p:nvSpPr>
        <p:spPr>
          <a:xfrm>
            <a:off x="4576233" y="2209799"/>
            <a:ext cx="3191933" cy="533400"/>
          </a:xfrm>
          <a:prstGeom prst="rect">
            <a:avLst/>
          </a:prstGeom>
          <a:noFill/>
        </p:spPr>
        <p:txBody>
          <a:bodyPr vert="horz" wrap="square" lIns="0" tIns="0" rIns="0" bIns="0" rtlCol="0">
            <a:noAutofit/>
          </a:bodyPr>
          <a:lstStyle/>
          <a:p>
            <a:pPr>
              <a:spcAft>
                <a:spcPts val="600"/>
              </a:spcAft>
            </a:pPr>
            <a:r>
              <a:rPr lang="it-IT" b="1">
                <a:solidFill>
                  <a:srgbClr val="70469C"/>
                </a:solidFill>
                <a:latin typeface="Calibri" panose="020F0502020204030204" pitchFamily="34" charset="0"/>
              </a:rPr>
              <a:t>A2A / HTTP</a:t>
            </a:r>
          </a:p>
        </p:txBody>
      </p:sp>
      <p:sp>
        <p:nvSpPr>
          <p:cNvPr id="11" name="CreatedText_11">
            <a:extLst>
              <a:ext uri="{FF2B5EF4-FFF2-40B4-BE49-F238E27FC236}">
                <a16:creationId xmlns:a16="http://schemas.microsoft.com/office/drawing/2014/main" id="{F50A0650-10F9-A126-D99E-12F7F053AAA5}"/>
              </a:ext>
            </a:extLst>
          </p:cNvPr>
          <p:cNvSpPr txBox="1"/>
          <p:nvPr/>
        </p:nvSpPr>
        <p:spPr>
          <a:xfrm>
            <a:off x="4576233" y="2819399"/>
            <a:ext cx="3191933" cy="482600"/>
          </a:xfrm>
          <a:prstGeom prst="rect">
            <a:avLst/>
          </a:prstGeom>
          <a:noFill/>
        </p:spPr>
        <p:txBody>
          <a:bodyPr vert="horz" wrap="square" lIns="0" tIns="0" rIns="0" bIns="0" rtlCol="0">
            <a:noAutofit/>
          </a:bodyPr>
          <a:lstStyle/>
          <a:p>
            <a:pPr>
              <a:spcAft>
                <a:spcPts val="600"/>
              </a:spcAft>
            </a:pPr>
            <a:r>
              <a:rPr lang="it-IT" sz="1400">
                <a:solidFill>
                  <a:srgbClr val="303030"/>
                </a:solidFill>
                <a:latin typeface="Calibri" panose="020F0502020204030204" pitchFamily="34" charset="0"/>
              </a:rPr>
              <a:t>Invia un task</a:t>
            </a:r>
          </a:p>
        </p:txBody>
      </p:sp>
      <p:cxnSp>
        <p:nvCxnSpPr>
          <p:cNvPr id="12" name="Connettore diritto 11">
            <a:extLst>
              <a:ext uri="{FF2B5EF4-FFF2-40B4-BE49-F238E27FC236}">
                <a16:creationId xmlns:a16="http://schemas.microsoft.com/office/drawing/2014/main" id="{5877ED3C-F9BC-76D7-100B-792C14F1143F}"/>
              </a:ext>
            </a:extLst>
          </p:cNvPr>
          <p:cNvCxnSpPr/>
          <p:nvPr/>
        </p:nvCxnSpPr>
        <p:spPr>
          <a:xfrm>
            <a:off x="7958667" y="2717800"/>
            <a:ext cx="279400" cy="0"/>
          </a:xfrm>
          <a:prstGeom prst="line">
            <a:avLst/>
          </a:prstGeom>
          <a:ln w="25400">
            <a:solidFill>
              <a:srgbClr val="1873A5"/>
            </a:solidFill>
            <a:tailEnd type="arrow"/>
          </a:ln>
        </p:spPr>
        <p:style>
          <a:lnRef idx="1">
            <a:schemeClr val="accent1"/>
          </a:lnRef>
          <a:fillRef idx="0">
            <a:schemeClr val="accent1"/>
          </a:fillRef>
          <a:effectRef idx="0">
            <a:schemeClr val="accent1"/>
          </a:effectRef>
          <a:fontRef idx="minor">
            <a:schemeClr val="tx1"/>
          </a:fontRef>
        </p:style>
      </p:cxnSp>
      <p:sp>
        <p:nvSpPr>
          <p:cNvPr id="13" name="Rettangolo con angoli arrotondati 12">
            <a:extLst>
              <a:ext uri="{FF2B5EF4-FFF2-40B4-BE49-F238E27FC236}">
                <a16:creationId xmlns:a16="http://schemas.microsoft.com/office/drawing/2014/main" id="{D6CB15A5-2C08-CF43-1A18-24C9D5794F55}"/>
              </a:ext>
            </a:extLst>
          </p:cNvPr>
          <p:cNvSpPr/>
          <p:nvPr/>
        </p:nvSpPr>
        <p:spPr>
          <a:xfrm>
            <a:off x="8276167" y="2032000"/>
            <a:ext cx="3496733" cy="1371600"/>
          </a:xfrm>
          <a:prstGeom prst="roundRect">
            <a:avLst/>
          </a:prstGeom>
          <a:solidFill>
            <a:srgbClr val="F4F7FA"/>
          </a:solidFill>
          <a:ln w="16510">
            <a:solidFill>
              <a:srgbClr val="7046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 name="CreatedText_14">
            <a:extLst>
              <a:ext uri="{FF2B5EF4-FFF2-40B4-BE49-F238E27FC236}">
                <a16:creationId xmlns:a16="http://schemas.microsoft.com/office/drawing/2014/main" id="{038648C9-8D96-B9DF-8EA4-C9B16E43B1D6}"/>
              </a:ext>
            </a:extLst>
          </p:cNvPr>
          <p:cNvSpPr txBox="1"/>
          <p:nvPr/>
        </p:nvSpPr>
        <p:spPr>
          <a:xfrm>
            <a:off x="8428567" y="2209799"/>
            <a:ext cx="3191933" cy="533400"/>
          </a:xfrm>
          <a:prstGeom prst="rect">
            <a:avLst/>
          </a:prstGeom>
          <a:noFill/>
        </p:spPr>
        <p:txBody>
          <a:bodyPr vert="horz" wrap="square" lIns="0" tIns="0" rIns="0" bIns="0" rtlCol="0">
            <a:noAutofit/>
          </a:bodyPr>
          <a:lstStyle/>
          <a:p>
            <a:pPr>
              <a:spcAft>
                <a:spcPts val="600"/>
              </a:spcAft>
            </a:pPr>
            <a:r>
              <a:rPr lang="it-IT" b="1">
                <a:solidFill>
                  <a:srgbClr val="70469C"/>
                </a:solidFill>
                <a:latin typeface="Calibri" panose="020F0502020204030204" pitchFamily="34" charset="0"/>
              </a:rPr>
              <a:t>TravelTipsAgent</a:t>
            </a:r>
          </a:p>
        </p:txBody>
      </p:sp>
      <p:sp>
        <p:nvSpPr>
          <p:cNvPr id="15" name="CreatedText_15">
            <a:extLst>
              <a:ext uri="{FF2B5EF4-FFF2-40B4-BE49-F238E27FC236}">
                <a16:creationId xmlns:a16="http://schemas.microsoft.com/office/drawing/2014/main" id="{2E275DE8-41CD-59F1-3C50-0E03DE542A45}"/>
              </a:ext>
            </a:extLst>
          </p:cNvPr>
          <p:cNvSpPr txBox="1"/>
          <p:nvPr/>
        </p:nvSpPr>
        <p:spPr>
          <a:xfrm>
            <a:off x="8428567" y="2819399"/>
            <a:ext cx="3191933" cy="482600"/>
          </a:xfrm>
          <a:prstGeom prst="rect">
            <a:avLst/>
          </a:prstGeom>
          <a:noFill/>
        </p:spPr>
        <p:txBody>
          <a:bodyPr vert="horz" wrap="square" lIns="0" tIns="0" rIns="0" bIns="0" rtlCol="0">
            <a:noAutofit/>
          </a:bodyPr>
          <a:lstStyle/>
          <a:p>
            <a:pPr>
              <a:spcAft>
                <a:spcPts val="600"/>
              </a:spcAft>
            </a:pPr>
            <a:r>
              <a:rPr lang="it-IT" sz="1400">
                <a:solidFill>
                  <a:srgbClr val="303030"/>
                </a:solidFill>
                <a:latin typeface="Calibri" panose="020F0502020204030204" pitchFamily="34" charset="0"/>
              </a:rPr>
              <a:t>Modello + tool propri</a:t>
            </a:r>
          </a:p>
        </p:txBody>
      </p:sp>
      <p:sp>
        <p:nvSpPr>
          <p:cNvPr id="16" name="CreatedText_16">
            <a:extLst>
              <a:ext uri="{FF2B5EF4-FFF2-40B4-BE49-F238E27FC236}">
                <a16:creationId xmlns:a16="http://schemas.microsoft.com/office/drawing/2014/main" id="{DC4DE4A0-2822-3991-501D-12C2AB9671E5}"/>
              </a:ext>
            </a:extLst>
          </p:cNvPr>
          <p:cNvSpPr txBox="1"/>
          <p:nvPr/>
        </p:nvSpPr>
        <p:spPr>
          <a:xfrm>
            <a:off x="571500" y="3708399"/>
            <a:ext cx="11201400" cy="558800"/>
          </a:xfrm>
          <a:prstGeom prst="rect">
            <a:avLst/>
          </a:prstGeom>
          <a:noFill/>
        </p:spPr>
        <p:txBody>
          <a:bodyPr vert="horz" wrap="square" lIns="0" tIns="0" rIns="0" bIns="0" rtlCol="0">
            <a:noAutofit/>
          </a:bodyPr>
          <a:lstStyle/>
          <a:p>
            <a:pPr>
              <a:spcAft>
                <a:spcPts val="600"/>
              </a:spcAft>
            </a:pPr>
            <a:r>
              <a:rPr lang="it-IT" sz="2300" b="1">
                <a:solidFill>
                  <a:srgbClr val="70469C"/>
                </a:solidFill>
                <a:latin typeface="Calibri" panose="020F0502020204030204" pitchFamily="34" charset="0"/>
              </a:rPr>
              <a:t>Il risultato torna al Web, che lo presenta allʼutente.</a:t>
            </a:r>
          </a:p>
        </p:txBody>
      </p:sp>
      <p:sp>
        <p:nvSpPr>
          <p:cNvPr id="17" name="CreatedText_17">
            <a:extLst>
              <a:ext uri="{FF2B5EF4-FFF2-40B4-BE49-F238E27FC236}">
                <a16:creationId xmlns:a16="http://schemas.microsoft.com/office/drawing/2014/main" id="{CBA9CB66-988B-5CBF-36C1-0274C5B6658F}"/>
              </a:ext>
            </a:extLst>
          </p:cNvPr>
          <p:cNvSpPr txBox="1"/>
          <p:nvPr/>
        </p:nvSpPr>
        <p:spPr>
          <a:xfrm>
            <a:off x="571500" y="4508499"/>
            <a:ext cx="11201400" cy="1524000"/>
          </a:xfrm>
          <a:prstGeom prst="rect">
            <a:avLst/>
          </a:prstGeom>
          <a:noFill/>
        </p:spPr>
        <p:txBody>
          <a:bodyPr vert="horz" wrap="square" lIns="0" tIns="0" rIns="0" bIns="0" rtlCol="0">
            <a:noAutofit/>
          </a:bodyPr>
          <a:lstStyle/>
          <a:p>
            <a:pPr>
              <a:spcAft>
                <a:spcPts val="600"/>
              </a:spcAft>
            </a:pPr>
            <a:r>
              <a:rPr lang="it-IT" sz="2100">
                <a:solidFill>
                  <a:srgbClr val="303030"/>
                </a:solidFill>
                <a:latin typeface="Calibri" panose="020F0502020204030204" pitchFamily="34" charset="0"/>
              </a:rPr>
              <a:t>• La Agent Card descrive identità, capacità ed endpoint.</a:t>
            </a:r>
          </a:p>
          <a:p>
            <a:pPr>
              <a:spcAft>
                <a:spcPts val="600"/>
              </a:spcAft>
            </a:pPr>
            <a:r>
              <a:rPr lang="it-IT" sz="2100">
                <a:solidFill>
                  <a:srgbClr val="303030"/>
                </a:solidFill>
                <a:latin typeface="Calibri" panose="020F0502020204030204" pitchFamily="34" charset="0"/>
              </a:rPr>
              <a:t>• Lo specialista esegue il proprio ragionamento.</a:t>
            </a:r>
          </a:p>
          <a:p>
            <a:pPr>
              <a:spcAft>
                <a:spcPts val="600"/>
              </a:spcAft>
            </a:pPr>
            <a:r>
              <a:rPr lang="it-IT" sz="2100">
                <a:solidFill>
                  <a:srgbClr val="303030"/>
                </a:solidFill>
                <a:latin typeface="Calibri" panose="020F0502020204030204" pitchFamily="34" charset="0"/>
              </a:rPr>
              <a:t>• Nella demo: modello sia nel processo remoto sia nel Web.</a:t>
            </a:r>
          </a:p>
        </p:txBody>
      </p:sp>
    </p:spTree>
    <p:custDataLst>
      <p:tags r:id="rId1"/>
    </p:custDataLst>
    <p:extLst>
      <p:ext uri="{BB962C8B-B14F-4D97-AF65-F5344CB8AC3E}">
        <p14:creationId xmlns:p14="http://schemas.microsoft.com/office/powerpoint/2010/main" val="524461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D6B5A6CE-56D6-20A3-86CB-BA76149263FA}"/>
              </a:ext>
            </a:extLst>
          </p:cNvPr>
          <p:cNvSpPr txBox="1"/>
          <p:nvPr/>
        </p:nvSpPr>
        <p:spPr>
          <a:xfrm>
            <a:off x="1625600" y="317499"/>
            <a:ext cx="10160000" cy="685800"/>
          </a:xfrm>
          <a:prstGeom prst="rect">
            <a:avLst/>
          </a:prstGeom>
          <a:noFill/>
        </p:spPr>
        <p:txBody>
          <a:bodyPr vert="horz" lIns="0" tIns="0" rIns="0" bIns="0" rtlCol="0">
            <a:noAutofit/>
          </a:bodyPr>
          <a:lstStyle/>
          <a:p>
            <a:r>
              <a:rPr lang="it-IT" sz="2800" b="1">
                <a:solidFill>
                  <a:srgbClr val="303030"/>
                </a:solidFill>
                <a:latin typeface="Aptos" panose="020B0004020202020204" pitchFamily="34" charset="0"/>
              </a:rPr>
              <a:t>A2A: quando delegare un risultato, non un tool</a:t>
            </a:r>
          </a:p>
        </p:txBody>
      </p:sp>
      <p:sp>
        <p:nvSpPr>
          <p:cNvPr id="6" name="Rettangolo con angoli arrotondati 5">
            <a:extLst>
              <a:ext uri="{FF2B5EF4-FFF2-40B4-BE49-F238E27FC236}">
                <a16:creationId xmlns:a16="http://schemas.microsoft.com/office/drawing/2014/main" id="{C67E394D-D60F-E36E-3C38-B3304C6AAD2C}"/>
              </a:ext>
            </a:extLst>
          </p:cNvPr>
          <p:cNvSpPr/>
          <p:nvPr/>
        </p:nvSpPr>
        <p:spPr>
          <a:xfrm>
            <a:off x="571500" y="1651000"/>
            <a:ext cx="3581400" cy="36195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6653BA9E-9755-C09F-C193-62020889D1A1}"/>
              </a:ext>
            </a:extLst>
          </p:cNvPr>
          <p:cNvSpPr txBox="1"/>
          <p:nvPr/>
        </p:nvSpPr>
        <p:spPr>
          <a:xfrm>
            <a:off x="774700" y="1854199"/>
            <a:ext cx="3175000" cy="533400"/>
          </a:xfrm>
          <a:prstGeom prst="rect">
            <a:avLst/>
          </a:prstGeom>
          <a:noFill/>
        </p:spPr>
        <p:txBody>
          <a:bodyPr vert="horz" lIns="0" tIns="0" rIns="0" bIns="0" rtlCol="0">
            <a:noAutofit/>
          </a:bodyPr>
          <a:lstStyle/>
          <a:p>
            <a:r>
              <a:rPr lang="it-IT" sz="2000" b="1">
                <a:solidFill>
                  <a:srgbClr val="008278"/>
                </a:solidFill>
                <a:latin typeface="Aptos" panose="020B0004020202020204" pitchFamily="34" charset="0"/>
              </a:rPr>
              <a:t>COS'È</a:t>
            </a:r>
          </a:p>
        </p:txBody>
      </p:sp>
      <p:sp>
        <p:nvSpPr>
          <p:cNvPr id="8" name="CasellaDiTesto 7">
            <a:extLst>
              <a:ext uri="{FF2B5EF4-FFF2-40B4-BE49-F238E27FC236}">
                <a16:creationId xmlns:a16="http://schemas.microsoft.com/office/drawing/2014/main" id="{9FC9BC23-9A85-565C-EACE-57C9A0E24EE6}"/>
              </a:ext>
            </a:extLst>
          </p:cNvPr>
          <p:cNvSpPr txBox="1"/>
          <p:nvPr/>
        </p:nvSpPr>
        <p:spPr>
          <a:xfrm>
            <a:off x="77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Protocollo tra agenti per affidare task e ricevere risultati.</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La Agent Card rende note le capacità.</a:t>
            </a:r>
          </a:p>
        </p:txBody>
      </p:sp>
      <p:sp>
        <p:nvSpPr>
          <p:cNvPr id="9" name="Rettangolo con angoli arrotondati 8">
            <a:extLst>
              <a:ext uri="{FF2B5EF4-FFF2-40B4-BE49-F238E27FC236}">
                <a16:creationId xmlns:a16="http://schemas.microsoft.com/office/drawing/2014/main" id="{3BF462F0-474C-4F2F-054C-3011B19AAA07}"/>
              </a:ext>
            </a:extLst>
          </p:cNvPr>
          <p:cNvSpPr/>
          <p:nvPr/>
        </p:nvSpPr>
        <p:spPr>
          <a:xfrm>
            <a:off x="4381500" y="1651000"/>
            <a:ext cx="3581400" cy="3619500"/>
          </a:xfrm>
          <a:prstGeom prst="roundRect">
            <a:avLst/>
          </a:prstGeom>
          <a:solidFill>
            <a:srgbClr val="F2F2F2"/>
          </a:solidFill>
          <a:ln>
            <a:solidFill>
              <a:srgbClr val="C06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D03CAB51-26F4-C83E-A0DB-98C96BDBF59A}"/>
              </a:ext>
            </a:extLst>
          </p:cNvPr>
          <p:cNvSpPr txBox="1"/>
          <p:nvPr/>
        </p:nvSpPr>
        <p:spPr>
          <a:xfrm>
            <a:off x="4584700" y="1854199"/>
            <a:ext cx="3175000" cy="533400"/>
          </a:xfrm>
          <a:prstGeom prst="rect">
            <a:avLst/>
          </a:prstGeom>
          <a:noFill/>
        </p:spPr>
        <p:txBody>
          <a:bodyPr vert="horz" lIns="0" tIns="0" rIns="0" bIns="0" rtlCol="0">
            <a:noAutofit/>
          </a:bodyPr>
          <a:lstStyle/>
          <a:p>
            <a:r>
              <a:rPr lang="it-IT" sz="2000" b="1">
                <a:solidFill>
                  <a:srgbClr val="C064AA"/>
                </a:solidFill>
                <a:latin typeface="Aptos" panose="020B0004020202020204" pitchFamily="34" charset="0"/>
              </a:rPr>
              <a:t>USALO SE</a:t>
            </a:r>
          </a:p>
        </p:txBody>
      </p:sp>
      <p:sp>
        <p:nvSpPr>
          <p:cNvPr id="11" name="CasellaDiTesto 10">
            <a:extLst>
              <a:ext uri="{FF2B5EF4-FFF2-40B4-BE49-F238E27FC236}">
                <a16:creationId xmlns:a16="http://schemas.microsoft.com/office/drawing/2014/main" id="{4F7CED83-7D78-3974-1FFB-33BB08733FDB}"/>
              </a:ext>
            </a:extLst>
          </p:cNvPr>
          <p:cNvSpPr txBox="1"/>
          <p:nvPr/>
        </p:nvSpPr>
        <p:spPr>
          <a:xfrm>
            <a:off x="458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Lo specialista ha ownership, strumenti e ragionamento propri.</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Vuoi delegare un obiettivo.</a:t>
            </a:r>
          </a:p>
        </p:txBody>
      </p:sp>
      <p:sp>
        <p:nvSpPr>
          <p:cNvPr id="12" name="Rettangolo con angoli arrotondati 11">
            <a:extLst>
              <a:ext uri="{FF2B5EF4-FFF2-40B4-BE49-F238E27FC236}">
                <a16:creationId xmlns:a16="http://schemas.microsoft.com/office/drawing/2014/main" id="{5E3EDD87-51A8-ACD0-8970-77C637203DD1}"/>
              </a:ext>
            </a:extLst>
          </p:cNvPr>
          <p:cNvSpPr/>
          <p:nvPr/>
        </p:nvSpPr>
        <p:spPr>
          <a:xfrm>
            <a:off x="8191500" y="1651000"/>
            <a:ext cx="3581400" cy="3619500"/>
          </a:xfrm>
          <a:prstGeom prst="roundRect">
            <a:avLst/>
          </a:prstGeom>
          <a:solidFill>
            <a:srgbClr val="F2F2F2"/>
          </a:solidFill>
          <a:ln>
            <a:solidFill>
              <a:srgbClr val="C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F5744662-0E9F-AEC6-0064-7F14F3851EBD}"/>
              </a:ext>
            </a:extLst>
          </p:cNvPr>
          <p:cNvSpPr txBox="1"/>
          <p:nvPr/>
        </p:nvSpPr>
        <p:spPr>
          <a:xfrm>
            <a:off x="8394700" y="1854199"/>
            <a:ext cx="3175000" cy="533400"/>
          </a:xfrm>
          <a:prstGeom prst="rect">
            <a:avLst/>
          </a:prstGeom>
          <a:noFill/>
        </p:spPr>
        <p:txBody>
          <a:bodyPr vert="horz" lIns="0" tIns="0" rIns="0" bIns="0" rtlCol="0">
            <a:noAutofit/>
          </a:bodyPr>
          <a:lstStyle/>
          <a:p>
            <a:r>
              <a:rPr lang="it-IT" sz="2000" b="1">
                <a:solidFill>
                  <a:srgbClr val="C08000"/>
                </a:solidFill>
                <a:latin typeface="Aptos" panose="020B0004020202020204" pitchFamily="34" charset="0"/>
              </a:rPr>
              <a:t>VALUTA IL PREZZO</a:t>
            </a:r>
          </a:p>
        </p:txBody>
      </p:sp>
      <p:sp>
        <p:nvSpPr>
          <p:cNvPr id="14" name="CasellaDiTesto 13">
            <a:extLst>
              <a:ext uri="{FF2B5EF4-FFF2-40B4-BE49-F238E27FC236}">
                <a16:creationId xmlns:a16="http://schemas.microsoft.com/office/drawing/2014/main" id="{8E42EA88-5A6D-99EB-A737-138696513E1D}"/>
              </a:ext>
            </a:extLst>
          </p:cNvPr>
          <p:cNvSpPr txBox="1"/>
          <p:nvPr/>
        </p:nvSpPr>
        <p:spPr>
          <a:xfrm>
            <a:off x="839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Un altro prompt e altre chiamate al modello.</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Più rete, latenza e stato da governare.</a:t>
            </a:r>
          </a:p>
        </p:txBody>
      </p:sp>
      <p:sp>
        <p:nvSpPr>
          <p:cNvPr id="15" name="CasellaDiTesto 14">
            <a:extLst>
              <a:ext uri="{FF2B5EF4-FFF2-40B4-BE49-F238E27FC236}">
                <a16:creationId xmlns:a16="http://schemas.microsoft.com/office/drawing/2014/main" id="{DBCA8B8B-24AC-FEB2-D767-DA2C0D0A0570}"/>
              </a:ext>
            </a:extLst>
          </p:cNvPr>
          <p:cNvSpPr txBox="1"/>
          <p:nvPr/>
        </p:nvSpPr>
        <p:spPr>
          <a:xfrm>
            <a:off x="571500" y="5626100"/>
            <a:ext cx="11201400" cy="660400"/>
          </a:xfrm>
          <a:prstGeom prst="rect">
            <a:avLst/>
          </a:prstGeom>
          <a:noFill/>
        </p:spPr>
        <p:txBody>
          <a:bodyPr vert="horz" lIns="0" tIns="0" rIns="0" bIns="0" rtlCol="0">
            <a:noAutofit/>
          </a:bodyPr>
          <a:lstStyle/>
          <a:p>
            <a:r>
              <a:rPr lang="it-IT" sz="2200" b="1">
                <a:solidFill>
                  <a:srgbClr val="303030"/>
                </a:solidFill>
                <a:latin typeface="Aptos" panose="020B0004020202020204" pitchFamily="34" charset="0"/>
              </a:rPr>
              <a:t>Esempio: trova un opzione di consegna compatibile con la deadline.</a:t>
            </a:r>
          </a:p>
        </p:txBody>
      </p:sp>
    </p:spTree>
    <p:custDataLst>
      <p:tags r:id="rId1"/>
    </p:custDataLst>
    <p:extLst>
      <p:ext uri="{BB962C8B-B14F-4D97-AF65-F5344CB8AC3E}">
        <p14:creationId xmlns:p14="http://schemas.microsoft.com/office/powerpoint/2010/main" val="246291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028B8-662A-2B6D-2EAB-F30086E1D92E}"/>
            </a:ext>
          </a:extLst>
        </p:cNvPr>
        <p:cNvGrpSpPr/>
        <p:nvPr/>
      </p:nvGrpSpPr>
      <p:grpSpPr>
        <a:xfrm>
          <a:off x="0" y="0"/>
          <a:ext cx="0" cy="0"/>
          <a:chOff x="0" y="0"/>
          <a:chExt cx="0" cy="0"/>
        </a:xfrm>
      </p:grpSpPr>
      <p:sp>
        <p:nvSpPr>
          <p:cNvPr id="4" name="Titolo 3">
            <a:extLst>
              <a:ext uri="{FF2B5EF4-FFF2-40B4-BE49-F238E27FC236}">
                <a16:creationId xmlns:a16="http://schemas.microsoft.com/office/drawing/2014/main" id="{F2FC82C1-BBA2-F1B0-9DD7-4771ACD48D28}"/>
              </a:ext>
            </a:extLst>
          </p:cNvPr>
          <p:cNvSpPr>
            <a:spLocks noGrp="1"/>
          </p:cNvSpPr>
          <p:nvPr>
            <p:ph type="title"/>
          </p:nvPr>
        </p:nvSpPr>
        <p:spPr/>
        <p:txBody>
          <a:bodyPr>
            <a:normAutofit fontScale="90000"/>
          </a:bodyPr>
          <a:lstStyle/>
          <a:p>
            <a:endParaRPr lang="it-IT"/>
          </a:p>
        </p:txBody>
      </p:sp>
    </p:spTree>
    <p:extLst>
      <p:ext uri="{BB962C8B-B14F-4D97-AF65-F5344CB8AC3E}">
        <p14:creationId xmlns:p14="http://schemas.microsoft.com/office/powerpoint/2010/main" val="873932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06D9D567-50CA-1A0F-D834-D85AA82074CF}"/>
              </a:ext>
            </a:extLst>
          </p:cNvPr>
          <p:cNvSpPr>
            <a:spLocks noGrp="1"/>
          </p:cNvSpPr>
          <p:nvPr>
            <p:ph type="title"/>
          </p:nvPr>
        </p:nvSpPr>
        <p:spPr>
          <a:xfrm>
            <a:off x="1625600" y="317500"/>
            <a:ext cx="10160000" cy="660400"/>
          </a:xfrm>
        </p:spPr>
        <p:txBody>
          <a:bodyPr>
            <a:normAutofit/>
          </a:bodyPr>
          <a:lstStyle/>
          <a:p>
            <a:r>
              <a:rPr lang="it-IT" sz="2800">
                <a:solidFill>
                  <a:srgbClr val="303030"/>
                </a:solidFill>
                <a:latin typeface="Calibri" panose="020F0502020204030204" pitchFamily="34" charset="0"/>
              </a:rPr>
              <a:t>Skill: una procedura per lo stesso agente</a:t>
            </a:r>
          </a:p>
        </p:txBody>
      </p:sp>
      <p:sp>
        <p:nvSpPr>
          <p:cNvPr id="5" name="Rettangolo con angoli arrotondati 4">
            <a:extLst>
              <a:ext uri="{FF2B5EF4-FFF2-40B4-BE49-F238E27FC236}">
                <a16:creationId xmlns:a16="http://schemas.microsoft.com/office/drawing/2014/main" id="{F15E3233-88C2-7127-59F4-9D9A0FB98D47}"/>
              </a:ext>
            </a:extLst>
          </p:cNvPr>
          <p:cNvSpPr/>
          <p:nvPr/>
        </p:nvSpPr>
        <p:spPr>
          <a:xfrm>
            <a:off x="571500" y="2032000"/>
            <a:ext cx="3496733" cy="1371600"/>
          </a:xfrm>
          <a:prstGeom prst="roundRect">
            <a:avLst/>
          </a:prstGeom>
          <a:solidFill>
            <a:srgbClr val="F4F7FA"/>
          </a:solidFill>
          <a:ln w="16510">
            <a:solidFill>
              <a:srgbClr val="1873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CreatedText_6">
            <a:extLst>
              <a:ext uri="{FF2B5EF4-FFF2-40B4-BE49-F238E27FC236}">
                <a16:creationId xmlns:a16="http://schemas.microsoft.com/office/drawing/2014/main" id="{64D68823-D25B-9C72-955B-5FB9888A641A}"/>
              </a:ext>
            </a:extLst>
          </p:cNvPr>
          <p:cNvSpPr txBox="1"/>
          <p:nvPr/>
        </p:nvSpPr>
        <p:spPr>
          <a:xfrm>
            <a:off x="723900" y="2209799"/>
            <a:ext cx="3191933" cy="533400"/>
          </a:xfrm>
          <a:prstGeom prst="rect">
            <a:avLst/>
          </a:prstGeom>
          <a:noFill/>
        </p:spPr>
        <p:txBody>
          <a:bodyPr vert="horz" wrap="square" lIns="0" tIns="0" rIns="0" bIns="0" rtlCol="0">
            <a:noAutofit/>
          </a:bodyPr>
          <a:lstStyle/>
          <a:p>
            <a:pPr>
              <a:spcAft>
                <a:spcPts val="600"/>
              </a:spcAft>
            </a:pPr>
            <a:r>
              <a:rPr lang="it-IT" b="1">
                <a:solidFill>
                  <a:srgbClr val="1873A5"/>
                </a:solidFill>
                <a:latin typeface="Calibri" panose="020F0502020204030204" pitchFamily="34" charset="0"/>
              </a:rPr>
              <a:t>Agente nel Web</a:t>
            </a:r>
          </a:p>
        </p:txBody>
      </p:sp>
      <p:sp>
        <p:nvSpPr>
          <p:cNvPr id="7" name="CreatedText_7">
            <a:extLst>
              <a:ext uri="{FF2B5EF4-FFF2-40B4-BE49-F238E27FC236}">
                <a16:creationId xmlns:a16="http://schemas.microsoft.com/office/drawing/2014/main" id="{5A809E9E-2199-3A81-67FC-833C0C23B85D}"/>
              </a:ext>
            </a:extLst>
          </p:cNvPr>
          <p:cNvSpPr txBox="1"/>
          <p:nvPr/>
        </p:nvSpPr>
        <p:spPr>
          <a:xfrm>
            <a:off x="723900" y="2819399"/>
            <a:ext cx="3191933" cy="482600"/>
          </a:xfrm>
          <a:prstGeom prst="rect">
            <a:avLst/>
          </a:prstGeom>
          <a:noFill/>
        </p:spPr>
        <p:txBody>
          <a:bodyPr vert="horz" wrap="square" lIns="0" tIns="0" rIns="0" bIns="0" rtlCol="0">
            <a:noAutofit/>
          </a:bodyPr>
          <a:lstStyle/>
          <a:p>
            <a:pPr>
              <a:spcAft>
                <a:spcPts val="600"/>
              </a:spcAft>
            </a:pPr>
            <a:r>
              <a:rPr lang="it-IT" sz="1400">
                <a:solidFill>
                  <a:srgbClr val="303030"/>
                </a:solidFill>
                <a:latin typeface="Calibri" panose="020F0502020204030204" pitchFamily="34" charset="0"/>
              </a:rPr>
              <a:t>Vede nome e descrizione</a:t>
            </a:r>
          </a:p>
        </p:txBody>
      </p:sp>
      <p:cxnSp>
        <p:nvCxnSpPr>
          <p:cNvPr id="8" name="Connettore diritto 7">
            <a:extLst>
              <a:ext uri="{FF2B5EF4-FFF2-40B4-BE49-F238E27FC236}">
                <a16:creationId xmlns:a16="http://schemas.microsoft.com/office/drawing/2014/main" id="{5F2A8146-797F-ED40-8533-7757CB29E91E}"/>
              </a:ext>
            </a:extLst>
          </p:cNvPr>
          <p:cNvCxnSpPr/>
          <p:nvPr/>
        </p:nvCxnSpPr>
        <p:spPr>
          <a:xfrm>
            <a:off x="4106333" y="2717800"/>
            <a:ext cx="279400" cy="0"/>
          </a:xfrm>
          <a:prstGeom prst="line">
            <a:avLst/>
          </a:prstGeom>
          <a:ln w="25400">
            <a:solidFill>
              <a:srgbClr val="1873A5"/>
            </a:solidFill>
            <a:tailEnd type="arrow"/>
          </a:ln>
        </p:spPr>
        <p:style>
          <a:lnRef idx="1">
            <a:schemeClr val="accent1"/>
          </a:lnRef>
          <a:fillRef idx="0">
            <a:schemeClr val="accent1"/>
          </a:fillRef>
          <a:effectRef idx="0">
            <a:schemeClr val="accent1"/>
          </a:effectRef>
          <a:fontRef idx="minor">
            <a:schemeClr val="tx1"/>
          </a:fontRef>
        </p:style>
      </p:cxnSp>
      <p:sp>
        <p:nvSpPr>
          <p:cNvPr id="9" name="Rettangolo con angoli arrotondati 8">
            <a:extLst>
              <a:ext uri="{FF2B5EF4-FFF2-40B4-BE49-F238E27FC236}">
                <a16:creationId xmlns:a16="http://schemas.microsoft.com/office/drawing/2014/main" id="{A247B7B1-59AE-D423-601F-5452B74F871D}"/>
              </a:ext>
            </a:extLst>
          </p:cNvPr>
          <p:cNvSpPr/>
          <p:nvPr/>
        </p:nvSpPr>
        <p:spPr>
          <a:xfrm>
            <a:off x="4423833" y="2032000"/>
            <a:ext cx="3496734" cy="1371600"/>
          </a:xfrm>
          <a:prstGeom prst="roundRect">
            <a:avLst/>
          </a:prstGeom>
          <a:solidFill>
            <a:srgbClr val="F4F7FA"/>
          </a:solidFill>
          <a:ln w="16510">
            <a:solidFill>
              <a:srgbClr val="AB6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reatedText_10">
            <a:extLst>
              <a:ext uri="{FF2B5EF4-FFF2-40B4-BE49-F238E27FC236}">
                <a16:creationId xmlns:a16="http://schemas.microsoft.com/office/drawing/2014/main" id="{D1B229D4-07F3-06F9-3E8B-504414C1E440}"/>
              </a:ext>
            </a:extLst>
          </p:cNvPr>
          <p:cNvSpPr txBox="1"/>
          <p:nvPr/>
        </p:nvSpPr>
        <p:spPr>
          <a:xfrm>
            <a:off x="4576233" y="2209799"/>
            <a:ext cx="3191933" cy="533400"/>
          </a:xfrm>
          <a:prstGeom prst="rect">
            <a:avLst/>
          </a:prstGeom>
          <a:noFill/>
        </p:spPr>
        <p:txBody>
          <a:bodyPr vert="horz" wrap="square" lIns="0" tIns="0" rIns="0" bIns="0" rtlCol="0">
            <a:noAutofit/>
          </a:bodyPr>
          <a:lstStyle/>
          <a:p>
            <a:pPr>
              <a:spcAft>
                <a:spcPts val="600"/>
              </a:spcAft>
            </a:pPr>
            <a:r>
              <a:rPr lang="it-IT" b="1">
                <a:solidFill>
                  <a:srgbClr val="AB6900"/>
                </a:solidFill>
                <a:latin typeface="Calibri" panose="020F0502020204030204" pitchFamily="34" charset="0"/>
              </a:rPr>
              <a:t>load_skill</a:t>
            </a:r>
          </a:p>
        </p:txBody>
      </p:sp>
      <p:sp>
        <p:nvSpPr>
          <p:cNvPr id="11" name="CreatedText_11">
            <a:extLst>
              <a:ext uri="{FF2B5EF4-FFF2-40B4-BE49-F238E27FC236}">
                <a16:creationId xmlns:a16="http://schemas.microsoft.com/office/drawing/2014/main" id="{7B33D38F-7252-1EA4-4D96-6D34B8EB13AC}"/>
              </a:ext>
            </a:extLst>
          </p:cNvPr>
          <p:cNvSpPr txBox="1"/>
          <p:nvPr/>
        </p:nvSpPr>
        <p:spPr>
          <a:xfrm>
            <a:off x="4576233" y="2819399"/>
            <a:ext cx="3191933" cy="482600"/>
          </a:xfrm>
          <a:prstGeom prst="rect">
            <a:avLst/>
          </a:prstGeom>
          <a:noFill/>
        </p:spPr>
        <p:txBody>
          <a:bodyPr vert="horz" wrap="square" lIns="0" tIns="0" rIns="0" bIns="0" rtlCol="0">
            <a:noAutofit/>
          </a:bodyPr>
          <a:lstStyle/>
          <a:p>
            <a:pPr>
              <a:spcAft>
                <a:spcPts val="600"/>
              </a:spcAft>
            </a:pPr>
            <a:r>
              <a:rPr lang="it-IT" sz="1400">
                <a:solidFill>
                  <a:srgbClr val="303030"/>
                </a:solidFill>
                <a:latin typeface="Calibri" panose="020F0502020204030204" pitchFamily="34" charset="0"/>
              </a:rPr>
              <a:t>Legge city-briefing</a:t>
            </a:r>
          </a:p>
        </p:txBody>
      </p:sp>
      <p:cxnSp>
        <p:nvCxnSpPr>
          <p:cNvPr id="12" name="Connettore diritto 11">
            <a:extLst>
              <a:ext uri="{FF2B5EF4-FFF2-40B4-BE49-F238E27FC236}">
                <a16:creationId xmlns:a16="http://schemas.microsoft.com/office/drawing/2014/main" id="{CE5F78EB-A3E3-35EE-3CEE-E6082177EEFB}"/>
              </a:ext>
            </a:extLst>
          </p:cNvPr>
          <p:cNvCxnSpPr/>
          <p:nvPr/>
        </p:nvCxnSpPr>
        <p:spPr>
          <a:xfrm>
            <a:off x="7958667" y="2717800"/>
            <a:ext cx="279400" cy="0"/>
          </a:xfrm>
          <a:prstGeom prst="line">
            <a:avLst/>
          </a:prstGeom>
          <a:ln w="25400">
            <a:solidFill>
              <a:srgbClr val="1873A5"/>
            </a:solidFill>
            <a:tailEnd type="arrow"/>
          </a:ln>
        </p:spPr>
        <p:style>
          <a:lnRef idx="1">
            <a:schemeClr val="accent1"/>
          </a:lnRef>
          <a:fillRef idx="0">
            <a:schemeClr val="accent1"/>
          </a:fillRef>
          <a:effectRef idx="0">
            <a:schemeClr val="accent1"/>
          </a:effectRef>
          <a:fontRef idx="minor">
            <a:schemeClr val="tx1"/>
          </a:fontRef>
        </p:style>
      </p:cxnSp>
      <p:sp>
        <p:nvSpPr>
          <p:cNvPr id="13" name="Rettangolo con angoli arrotondati 12">
            <a:extLst>
              <a:ext uri="{FF2B5EF4-FFF2-40B4-BE49-F238E27FC236}">
                <a16:creationId xmlns:a16="http://schemas.microsoft.com/office/drawing/2014/main" id="{6C5ECC9D-C406-8E56-4C37-E731EE344158}"/>
              </a:ext>
            </a:extLst>
          </p:cNvPr>
          <p:cNvSpPr/>
          <p:nvPr/>
        </p:nvSpPr>
        <p:spPr>
          <a:xfrm>
            <a:off x="8276167" y="2032000"/>
            <a:ext cx="3496733" cy="1371600"/>
          </a:xfrm>
          <a:prstGeom prst="roundRect">
            <a:avLst/>
          </a:prstGeom>
          <a:solidFill>
            <a:srgbClr val="F4F7FA"/>
          </a:solidFill>
          <a:ln w="16510">
            <a:solidFill>
              <a:srgbClr val="AB6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 name="CreatedText_14">
            <a:extLst>
              <a:ext uri="{FF2B5EF4-FFF2-40B4-BE49-F238E27FC236}">
                <a16:creationId xmlns:a16="http://schemas.microsoft.com/office/drawing/2014/main" id="{5E1E0C53-A1ED-A49E-E869-C1DE54B805C0}"/>
              </a:ext>
            </a:extLst>
          </p:cNvPr>
          <p:cNvSpPr txBox="1"/>
          <p:nvPr/>
        </p:nvSpPr>
        <p:spPr>
          <a:xfrm>
            <a:off x="8428567" y="2209799"/>
            <a:ext cx="3191933" cy="533400"/>
          </a:xfrm>
          <a:prstGeom prst="rect">
            <a:avLst/>
          </a:prstGeom>
          <a:noFill/>
        </p:spPr>
        <p:txBody>
          <a:bodyPr vert="horz" wrap="square" lIns="0" tIns="0" rIns="0" bIns="0" rtlCol="0">
            <a:noAutofit/>
          </a:bodyPr>
          <a:lstStyle/>
          <a:p>
            <a:pPr>
              <a:spcAft>
                <a:spcPts val="600"/>
              </a:spcAft>
            </a:pPr>
            <a:r>
              <a:rPr lang="it-IT" b="1">
                <a:solidFill>
                  <a:srgbClr val="AB6900"/>
                </a:solidFill>
                <a:latin typeface="Calibri" panose="020F0502020204030204" pitchFamily="34" charset="0"/>
              </a:rPr>
              <a:t>Tool C# locali</a:t>
            </a:r>
          </a:p>
        </p:txBody>
      </p:sp>
      <p:sp>
        <p:nvSpPr>
          <p:cNvPr id="15" name="CreatedText_15">
            <a:extLst>
              <a:ext uri="{FF2B5EF4-FFF2-40B4-BE49-F238E27FC236}">
                <a16:creationId xmlns:a16="http://schemas.microsoft.com/office/drawing/2014/main" id="{3FBCFB62-A954-742C-179E-14D41A15B54E}"/>
              </a:ext>
            </a:extLst>
          </p:cNvPr>
          <p:cNvSpPr txBox="1"/>
          <p:nvPr/>
        </p:nvSpPr>
        <p:spPr>
          <a:xfrm>
            <a:off x="8428567" y="2819399"/>
            <a:ext cx="3191933" cy="482600"/>
          </a:xfrm>
          <a:prstGeom prst="rect">
            <a:avLst/>
          </a:prstGeom>
          <a:noFill/>
        </p:spPr>
        <p:txBody>
          <a:bodyPr vert="horz" wrap="square" lIns="0" tIns="0" rIns="0" bIns="0" rtlCol="0">
            <a:noAutofit/>
          </a:bodyPr>
          <a:lstStyle/>
          <a:p>
            <a:pPr>
              <a:spcAft>
                <a:spcPts val="600"/>
              </a:spcAft>
            </a:pPr>
            <a:r>
              <a:rPr lang="it-IT" sz="1400">
                <a:solidFill>
                  <a:srgbClr val="303030"/>
                </a:solidFill>
                <a:latin typeface="Calibri" panose="020F0502020204030204" pitchFamily="34" charset="0"/>
              </a:rPr>
              <a:t>Meteo · zaino · avvisi</a:t>
            </a:r>
          </a:p>
        </p:txBody>
      </p:sp>
      <p:sp>
        <p:nvSpPr>
          <p:cNvPr id="16" name="CreatedText_16">
            <a:extLst>
              <a:ext uri="{FF2B5EF4-FFF2-40B4-BE49-F238E27FC236}">
                <a16:creationId xmlns:a16="http://schemas.microsoft.com/office/drawing/2014/main" id="{DA65FFA5-73DB-955F-A737-B532CCC5F7C0}"/>
              </a:ext>
            </a:extLst>
          </p:cNvPr>
          <p:cNvSpPr txBox="1"/>
          <p:nvPr/>
        </p:nvSpPr>
        <p:spPr>
          <a:xfrm>
            <a:off x="571500" y="3708399"/>
            <a:ext cx="11201400" cy="558800"/>
          </a:xfrm>
          <a:prstGeom prst="rect">
            <a:avLst/>
          </a:prstGeom>
          <a:noFill/>
        </p:spPr>
        <p:txBody>
          <a:bodyPr vert="horz" wrap="square" lIns="0" tIns="0" rIns="0" bIns="0" rtlCol="0">
            <a:noAutofit/>
          </a:bodyPr>
          <a:lstStyle/>
          <a:p>
            <a:pPr>
              <a:spcAft>
                <a:spcPts val="600"/>
              </a:spcAft>
            </a:pPr>
            <a:r>
              <a:rPr lang="it-IT" sz="2300" b="1">
                <a:solidFill>
                  <a:srgbClr val="AB6900"/>
                </a:solidFill>
                <a:latin typeface="Calibri" panose="020F0502020204030204" pitchFamily="34" charset="0"/>
              </a:rPr>
              <a:t>SKILL.md guida il lavoro: non crea un altro agente.</a:t>
            </a:r>
          </a:p>
        </p:txBody>
      </p:sp>
      <p:sp>
        <p:nvSpPr>
          <p:cNvPr id="17" name="CreatedText_17">
            <a:extLst>
              <a:ext uri="{FF2B5EF4-FFF2-40B4-BE49-F238E27FC236}">
                <a16:creationId xmlns:a16="http://schemas.microsoft.com/office/drawing/2014/main" id="{E5461736-1621-4C42-8E01-6BF8885C4C60}"/>
              </a:ext>
            </a:extLst>
          </p:cNvPr>
          <p:cNvSpPr txBox="1"/>
          <p:nvPr/>
        </p:nvSpPr>
        <p:spPr>
          <a:xfrm>
            <a:off x="571500" y="4508499"/>
            <a:ext cx="11201400" cy="1524000"/>
          </a:xfrm>
          <a:prstGeom prst="rect">
            <a:avLst/>
          </a:prstGeom>
          <a:noFill/>
        </p:spPr>
        <p:txBody>
          <a:bodyPr vert="horz" wrap="square" lIns="0" tIns="0" rIns="0" bIns="0" rtlCol="0">
            <a:noAutofit/>
          </a:bodyPr>
          <a:lstStyle/>
          <a:p>
            <a:pPr>
              <a:spcAft>
                <a:spcPts val="600"/>
              </a:spcAft>
            </a:pPr>
            <a:r>
              <a:rPr lang="it-IT" sz="2100">
                <a:solidFill>
                  <a:srgbClr val="303030"/>
                </a:solidFill>
                <a:latin typeface="Calibri" panose="020F0502020204030204" pitchFamily="34" charset="0"/>
              </a:rPr>
              <a:t>• Istruzioni e risorse sono caricate quando servono.</a:t>
            </a:r>
          </a:p>
          <a:p>
            <a:pPr>
              <a:spcAft>
                <a:spcPts val="600"/>
              </a:spcAft>
            </a:pPr>
            <a:r>
              <a:rPr lang="it-IT" sz="2100">
                <a:solidFill>
                  <a:srgbClr val="303030"/>
                </a:solidFill>
                <a:latin typeface="Calibri" panose="020F0502020204030204" pitchFamily="34" charset="0"/>
              </a:rPr>
              <a:t>• I tool vanno comunque resi disponibili allʼagente.</a:t>
            </a:r>
          </a:p>
          <a:p>
            <a:pPr>
              <a:spcAft>
                <a:spcPts val="600"/>
              </a:spcAft>
            </a:pPr>
            <a:r>
              <a:rPr lang="it-IT" sz="2100">
                <a:solidFill>
                  <a:srgbClr val="303030"/>
                </a:solidFill>
                <a:latin typeface="Calibri" panose="020F0502020204030204" pitchFamily="34" charset="0"/>
              </a:rPr>
              <a:t>• Qui non serve un processo «Skill server».</a:t>
            </a:r>
          </a:p>
        </p:txBody>
      </p:sp>
    </p:spTree>
    <p:custDataLst>
      <p:tags r:id="rId1"/>
    </p:custDataLst>
    <p:extLst>
      <p:ext uri="{BB962C8B-B14F-4D97-AF65-F5344CB8AC3E}">
        <p14:creationId xmlns:p14="http://schemas.microsoft.com/office/powerpoint/2010/main" val="1636123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B597F0F1-D597-44EB-755D-B45282D08CD2}"/>
              </a:ext>
            </a:extLst>
          </p:cNvPr>
          <p:cNvSpPr txBox="1"/>
          <p:nvPr/>
        </p:nvSpPr>
        <p:spPr>
          <a:xfrm>
            <a:off x="1625600" y="317499"/>
            <a:ext cx="10160000" cy="685800"/>
          </a:xfrm>
          <a:prstGeom prst="rect">
            <a:avLst/>
          </a:prstGeom>
          <a:noFill/>
        </p:spPr>
        <p:txBody>
          <a:bodyPr vert="horz" lIns="0" tIns="0" rIns="0" bIns="0" rtlCol="0">
            <a:noAutofit/>
          </a:bodyPr>
          <a:lstStyle/>
          <a:p>
            <a:r>
              <a:rPr lang="it-IT" sz="2800" b="1">
                <a:solidFill>
                  <a:srgbClr val="303030"/>
                </a:solidFill>
                <a:latin typeface="Aptos" panose="020B0004020202020204" pitchFamily="34" charset="0"/>
              </a:rPr>
              <a:t>Skill: quando il sapere è una procedura</a:t>
            </a:r>
          </a:p>
        </p:txBody>
      </p:sp>
      <p:sp>
        <p:nvSpPr>
          <p:cNvPr id="5" name="CasellaDiTesto 4">
            <a:extLst>
              <a:ext uri="{FF2B5EF4-FFF2-40B4-BE49-F238E27FC236}">
                <a16:creationId xmlns:a16="http://schemas.microsoft.com/office/drawing/2014/main" id="{FAEF244E-5ACD-231D-22E6-BEFDFA6E6A5A}"/>
              </a:ext>
            </a:extLst>
          </p:cNvPr>
          <p:cNvSpPr txBox="1"/>
          <p:nvPr/>
        </p:nvSpPr>
        <p:spPr>
          <a:xfrm>
            <a:off x="571500" y="6553199"/>
            <a:ext cx="10985500" cy="190500"/>
          </a:xfrm>
          <a:prstGeom prst="rect">
            <a:avLst/>
          </a:prstGeom>
          <a:noFill/>
        </p:spPr>
        <p:txBody>
          <a:bodyPr vert="horz" lIns="0" tIns="0" rIns="0" bIns="0" rtlCol="0">
            <a:noAutofit/>
          </a:bodyPr>
          <a:lstStyle/>
          <a:p>
            <a:r>
              <a:rPr lang="it-IT" sz="900" dirty="0" err="1">
                <a:hlinkClick r:id="rId4"/>
              </a:rPr>
              <a:t>Specification</a:t>
            </a:r>
            <a:r>
              <a:rPr lang="it-IT" sz="900" dirty="0">
                <a:hlinkClick r:id="rId4"/>
              </a:rPr>
              <a:t> - Agent Skills</a:t>
            </a:r>
            <a:endParaRPr lang="it-IT" sz="900" dirty="0">
              <a:solidFill>
                <a:srgbClr val="4E5F70"/>
              </a:solidFill>
              <a:latin typeface="Aptos" panose="020B0004020202020204" pitchFamily="34" charset="0"/>
            </a:endParaRPr>
          </a:p>
        </p:txBody>
      </p:sp>
      <p:sp>
        <p:nvSpPr>
          <p:cNvPr id="6" name="Rettangolo con angoli arrotondati 5">
            <a:extLst>
              <a:ext uri="{FF2B5EF4-FFF2-40B4-BE49-F238E27FC236}">
                <a16:creationId xmlns:a16="http://schemas.microsoft.com/office/drawing/2014/main" id="{37C3EED3-97CA-703B-1632-DEECA1BC1E2D}"/>
              </a:ext>
            </a:extLst>
          </p:cNvPr>
          <p:cNvSpPr/>
          <p:nvPr/>
        </p:nvSpPr>
        <p:spPr>
          <a:xfrm>
            <a:off x="571500" y="1651000"/>
            <a:ext cx="3581400" cy="36195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58BB6A1F-0FA1-CA82-89C5-481C951EBF2E}"/>
              </a:ext>
            </a:extLst>
          </p:cNvPr>
          <p:cNvSpPr txBox="1"/>
          <p:nvPr/>
        </p:nvSpPr>
        <p:spPr>
          <a:xfrm>
            <a:off x="774700" y="1854199"/>
            <a:ext cx="3175000" cy="533400"/>
          </a:xfrm>
          <a:prstGeom prst="rect">
            <a:avLst/>
          </a:prstGeom>
          <a:noFill/>
        </p:spPr>
        <p:txBody>
          <a:bodyPr vert="horz" lIns="0" tIns="0" rIns="0" bIns="0" rtlCol="0">
            <a:noAutofit/>
          </a:bodyPr>
          <a:lstStyle/>
          <a:p>
            <a:r>
              <a:rPr lang="it-IT" sz="2000" b="1">
                <a:solidFill>
                  <a:srgbClr val="008278"/>
                </a:solidFill>
                <a:latin typeface="Aptos" panose="020B0004020202020204" pitchFamily="34" charset="0"/>
              </a:rPr>
              <a:t>COS'È</a:t>
            </a:r>
          </a:p>
        </p:txBody>
      </p:sp>
      <p:sp>
        <p:nvSpPr>
          <p:cNvPr id="8" name="CasellaDiTesto 7">
            <a:extLst>
              <a:ext uri="{FF2B5EF4-FFF2-40B4-BE49-F238E27FC236}">
                <a16:creationId xmlns:a16="http://schemas.microsoft.com/office/drawing/2014/main" id="{A0751DA4-9C0E-7BCA-205D-5AA808CF9D14}"/>
              </a:ext>
            </a:extLst>
          </p:cNvPr>
          <p:cNvSpPr txBox="1"/>
          <p:nvPr/>
        </p:nvSpPr>
        <p:spPr>
          <a:xfrm>
            <a:off x="77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Istruzioni e risorse riutilizzabili per svolgere un compito.</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SKILL.md descrive come procedere.</a:t>
            </a:r>
          </a:p>
        </p:txBody>
      </p:sp>
      <p:sp>
        <p:nvSpPr>
          <p:cNvPr id="9" name="Rettangolo con angoli arrotondati 8">
            <a:extLst>
              <a:ext uri="{FF2B5EF4-FFF2-40B4-BE49-F238E27FC236}">
                <a16:creationId xmlns:a16="http://schemas.microsoft.com/office/drawing/2014/main" id="{67289DC2-1CC2-F2BC-AA5E-CA4D91C7F4FC}"/>
              </a:ext>
            </a:extLst>
          </p:cNvPr>
          <p:cNvSpPr/>
          <p:nvPr/>
        </p:nvSpPr>
        <p:spPr>
          <a:xfrm>
            <a:off x="4381500" y="1651000"/>
            <a:ext cx="3581400" cy="3619500"/>
          </a:xfrm>
          <a:prstGeom prst="roundRect">
            <a:avLst/>
          </a:prstGeom>
          <a:solidFill>
            <a:srgbClr val="F2F2F2"/>
          </a:solidFill>
          <a:ln>
            <a:solidFill>
              <a:srgbClr val="C06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6B04F7FB-8220-F0DE-40F6-A048E3158366}"/>
              </a:ext>
            </a:extLst>
          </p:cNvPr>
          <p:cNvSpPr txBox="1"/>
          <p:nvPr/>
        </p:nvSpPr>
        <p:spPr>
          <a:xfrm>
            <a:off x="4584700" y="1854199"/>
            <a:ext cx="3175000" cy="533400"/>
          </a:xfrm>
          <a:prstGeom prst="rect">
            <a:avLst/>
          </a:prstGeom>
          <a:noFill/>
        </p:spPr>
        <p:txBody>
          <a:bodyPr vert="horz" lIns="0" tIns="0" rIns="0" bIns="0" rtlCol="0">
            <a:noAutofit/>
          </a:bodyPr>
          <a:lstStyle/>
          <a:p>
            <a:r>
              <a:rPr lang="it-IT" sz="2000" b="1">
                <a:solidFill>
                  <a:srgbClr val="C064AA"/>
                </a:solidFill>
                <a:latin typeface="Aptos" panose="020B0004020202020204" pitchFamily="34" charset="0"/>
              </a:rPr>
              <a:t>USALA SE</a:t>
            </a:r>
          </a:p>
        </p:txBody>
      </p:sp>
      <p:sp>
        <p:nvSpPr>
          <p:cNvPr id="11" name="CasellaDiTesto 10">
            <a:extLst>
              <a:ext uri="{FF2B5EF4-FFF2-40B4-BE49-F238E27FC236}">
                <a16:creationId xmlns:a16="http://schemas.microsoft.com/office/drawing/2014/main" id="{45149C83-E357-A66F-BDF6-B7E30BC93543}"/>
              </a:ext>
            </a:extLst>
          </p:cNvPr>
          <p:cNvSpPr txBox="1"/>
          <p:nvPr/>
        </p:nvSpPr>
        <p:spPr>
          <a:xfrm>
            <a:off x="458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Vuoi una procedura coerente senza creare un altro agente.</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Vuoi caricarla solo quando serve.</a:t>
            </a:r>
          </a:p>
        </p:txBody>
      </p:sp>
      <p:sp>
        <p:nvSpPr>
          <p:cNvPr id="12" name="Rettangolo con angoli arrotondati 11">
            <a:extLst>
              <a:ext uri="{FF2B5EF4-FFF2-40B4-BE49-F238E27FC236}">
                <a16:creationId xmlns:a16="http://schemas.microsoft.com/office/drawing/2014/main" id="{17470206-62D7-7CEC-D048-189EAB6EC1D5}"/>
              </a:ext>
            </a:extLst>
          </p:cNvPr>
          <p:cNvSpPr/>
          <p:nvPr/>
        </p:nvSpPr>
        <p:spPr>
          <a:xfrm>
            <a:off x="8191500" y="1651000"/>
            <a:ext cx="3581400" cy="3619500"/>
          </a:xfrm>
          <a:prstGeom prst="roundRect">
            <a:avLst/>
          </a:prstGeom>
          <a:solidFill>
            <a:srgbClr val="F2F2F2"/>
          </a:solidFill>
          <a:ln>
            <a:solidFill>
              <a:srgbClr val="C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78B4625E-2E9D-2731-4AAE-3127A0B18E96}"/>
              </a:ext>
            </a:extLst>
          </p:cNvPr>
          <p:cNvSpPr txBox="1"/>
          <p:nvPr/>
        </p:nvSpPr>
        <p:spPr>
          <a:xfrm>
            <a:off x="8394700" y="1854199"/>
            <a:ext cx="3175000" cy="533400"/>
          </a:xfrm>
          <a:prstGeom prst="rect">
            <a:avLst/>
          </a:prstGeom>
          <a:noFill/>
        </p:spPr>
        <p:txBody>
          <a:bodyPr vert="horz" lIns="0" tIns="0" rIns="0" bIns="0" rtlCol="0">
            <a:noAutofit/>
          </a:bodyPr>
          <a:lstStyle/>
          <a:p>
            <a:r>
              <a:rPr lang="it-IT" sz="2000" b="1">
                <a:solidFill>
                  <a:srgbClr val="C08000"/>
                </a:solidFill>
                <a:latin typeface="Aptos" panose="020B0004020202020204" pitchFamily="34" charset="0"/>
              </a:rPr>
              <a:t>NON CONFONDERLA</a:t>
            </a:r>
          </a:p>
        </p:txBody>
      </p:sp>
      <p:sp>
        <p:nvSpPr>
          <p:cNvPr id="14" name="CasellaDiTesto 13">
            <a:extLst>
              <a:ext uri="{FF2B5EF4-FFF2-40B4-BE49-F238E27FC236}">
                <a16:creationId xmlns:a16="http://schemas.microsoft.com/office/drawing/2014/main" id="{6A5850A8-1266-EF3A-78DD-B02AF1812967}"/>
              </a:ext>
            </a:extLst>
          </p:cNvPr>
          <p:cNvSpPr txBox="1"/>
          <p:nvPr/>
        </p:nvSpPr>
        <p:spPr>
          <a:xfrm>
            <a:off x="8394700" y="2552700"/>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Non crea un server.</a:t>
            </a:r>
          </a:p>
          <a:p>
            <a:r>
              <a:rPr lang="it-IT" sz="2000">
                <a:solidFill>
                  <a:srgbClr val="303030"/>
                </a:solidFill>
                <a:latin typeface="Aptos" panose="020B0004020202020204" pitchFamily="34" charset="0"/>
              </a:rPr>
              <a:t>Non esegue da sola i tool.</a:t>
            </a:r>
          </a:p>
          <a:p>
            <a:r>
              <a:rPr lang="it-IT" sz="2000">
                <a:solidFill>
                  <a:srgbClr val="303030"/>
                </a:solidFill>
                <a:latin typeface="Aptos" panose="020B0004020202020204" pitchFamily="34" charset="0"/>
              </a:rPr>
              <a:t>Non isola il ragionamento in un altro processo.</a:t>
            </a:r>
          </a:p>
        </p:txBody>
      </p:sp>
      <p:sp>
        <p:nvSpPr>
          <p:cNvPr id="15" name="CasellaDiTesto 14">
            <a:extLst>
              <a:ext uri="{FF2B5EF4-FFF2-40B4-BE49-F238E27FC236}">
                <a16:creationId xmlns:a16="http://schemas.microsoft.com/office/drawing/2014/main" id="{2C19690A-6790-524D-1F72-FCF7774127A5}"/>
              </a:ext>
            </a:extLst>
          </p:cNvPr>
          <p:cNvSpPr txBox="1"/>
          <p:nvPr/>
        </p:nvSpPr>
        <p:spPr>
          <a:xfrm>
            <a:off x="571500" y="5626100"/>
            <a:ext cx="11201400" cy="660400"/>
          </a:xfrm>
          <a:prstGeom prst="rect">
            <a:avLst/>
          </a:prstGeom>
          <a:noFill/>
        </p:spPr>
        <p:txBody>
          <a:bodyPr vert="horz" lIns="0" tIns="0" rIns="0" bIns="0" rtlCol="0">
            <a:noAutofit/>
          </a:bodyPr>
          <a:lstStyle/>
          <a:p>
            <a:r>
              <a:rPr lang="it-IT" sz="2200" b="1">
                <a:solidFill>
                  <a:srgbClr val="303030"/>
                </a:solidFill>
                <a:latin typeface="Aptos" panose="020B0004020202020204" pitchFamily="34" charset="0"/>
              </a:rPr>
              <a:t>Esempio: city-briefing guida meteo, zaino e precauzioni nello stesso agente.</a:t>
            </a:r>
          </a:p>
        </p:txBody>
      </p:sp>
    </p:spTree>
    <p:custDataLst>
      <p:tags r:id="rId1"/>
    </p:custDataLst>
    <p:extLst>
      <p:ext uri="{BB962C8B-B14F-4D97-AF65-F5344CB8AC3E}">
        <p14:creationId xmlns:p14="http://schemas.microsoft.com/office/powerpoint/2010/main" val="1478000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64B1EE85-6549-36BD-191C-B590E9B613DC}"/>
              </a:ext>
            </a:extLst>
          </p:cNvPr>
          <p:cNvSpPr>
            <a:spLocks noGrp="1"/>
          </p:cNvSpPr>
          <p:nvPr>
            <p:ph type="title"/>
          </p:nvPr>
        </p:nvSpPr>
        <p:spPr>
          <a:xfrm>
            <a:off x="1625600" y="317500"/>
            <a:ext cx="10160000" cy="660400"/>
          </a:xfrm>
        </p:spPr>
        <p:txBody>
          <a:bodyPr>
            <a:normAutofit/>
          </a:bodyPr>
          <a:lstStyle/>
          <a:p>
            <a:r>
              <a:rPr lang="it-IT" sz="2800">
                <a:solidFill>
                  <a:srgbClr val="303030"/>
                </a:solidFill>
                <a:latin typeface="Calibri" panose="020F0502020204030204" pitchFamily="34" charset="0"/>
              </a:rPr>
              <a:t>Non sono alternative equivalenti</a:t>
            </a:r>
          </a:p>
        </p:txBody>
      </p:sp>
      <p:sp>
        <p:nvSpPr>
          <p:cNvPr id="4" name="CreatedText_4">
            <a:extLst>
              <a:ext uri="{FF2B5EF4-FFF2-40B4-BE49-F238E27FC236}">
                <a16:creationId xmlns:a16="http://schemas.microsoft.com/office/drawing/2014/main" id="{11577221-95DE-D43E-8A16-736FCCA09288}"/>
              </a:ext>
            </a:extLst>
          </p:cNvPr>
          <p:cNvSpPr txBox="1"/>
          <p:nvPr/>
        </p:nvSpPr>
        <p:spPr>
          <a:xfrm>
            <a:off x="571500" y="6540500"/>
            <a:ext cx="10795000" cy="190500"/>
          </a:xfrm>
          <a:prstGeom prst="rect">
            <a:avLst/>
          </a:prstGeom>
          <a:noFill/>
        </p:spPr>
        <p:txBody>
          <a:bodyPr vert="horz" wrap="square" lIns="0" tIns="0" rIns="0" bIns="0" rtlCol="0">
            <a:noAutofit/>
          </a:bodyPr>
          <a:lstStyle/>
          <a:p>
            <a:pPr>
              <a:spcAft>
                <a:spcPts val="600"/>
              </a:spcAft>
            </a:pPr>
            <a:r>
              <a:rPr lang="en-US" sz="900">
                <a:solidFill>
                  <a:srgbClr val="4E5F6E"/>
                </a:solidFill>
                <a:latin typeface="Calibri" panose="020F0502020204030204" pitchFamily="34" charset="0"/>
              </a:rPr>
              <a:t>Azure Day Torino 2026 | MCP · A2A · Skill</a:t>
            </a:r>
            <a:endParaRPr lang="it-IT" sz="900">
              <a:solidFill>
                <a:srgbClr val="4E5F6E"/>
              </a:solidFill>
              <a:latin typeface="Calibri" panose="020F0502020204030204" pitchFamily="34" charset="0"/>
            </a:endParaRPr>
          </a:p>
        </p:txBody>
      </p:sp>
      <p:sp>
        <p:nvSpPr>
          <p:cNvPr id="5" name="Rettangolo con angoli arrotondati 4">
            <a:extLst>
              <a:ext uri="{FF2B5EF4-FFF2-40B4-BE49-F238E27FC236}">
                <a16:creationId xmlns:a16="http://schemas.microsoft.com/office/drawing/2014/main" id="{5AEC7F17-BB85-0214-E798-2695567A5352}"/>
              </a:ext>
            </a:extLst>
          </p:cNvPr>
          <p:cNvSpPr/>
          <p:nvPr/>
        </p:nvSpPr>
        <p:spPr>
          <a:xfrm>
            <a:off x="571500" y="1600200"/>
            <a:ext cx="2209800" cy="711200"/>
          </a:xfrm>
          <a:prstGeom prst="roundRect">
            <a:avLst/>
          </a:prstGeom>
          <a:solidFill>
            <a:srgbClr val="EFD687"/>
          </a:solidFill>
          <a:ln w="16510">
            <a:solidFill>
              <a:srgbClr val="EFD6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CreatedText_6">
            <a:extLst>
              <a:ext uri="{FF2B5EF4-FFF2-40B4-BE49-F238E27FC236}">
                <a16:creationId xmlns:a16="http://schemas.microsoft.com/office/drawing/2014/main" id="{FD46176A-F2EB-158D-CF2E-112401EDF40B}"/>
              </a:ext>
            </a:extLst>
          </p:cNvPr>
          <p:cNvSpPr txBox="1"/>
          <p:nvPr/>
        </p:nvSpPr>
        <p:spPr>
          <a:xfrm>
            <a:off x="698500" y="1752599"/>
            <a:ext cx="1955800" cy="508000"/>
          </a:xfrm>
          <a:prstGeom prst="rect">
            <a:avLst/>
          </a:prstGeom>
          <a:noFill/>
        </p:spPr>
        <p:txBody>
          <a:bodyPr vert="horz" wrap="square" lIns="0" tIns="0" rIns="0" bIns="0" rtlCol="0">
            <a:noAutofit/>
          </a:bodyPr>
          <a:lstStyle/>
          <a:p>
            <a:pPr>
              <a:spcAft>
                <a:spcPts val="600"/>
              </a:spcAft>
            </a:pPr>
            <a:r>
              <a:rPr lang="it-IT" sz="1600" b="1">
                <a:solidFill>
                  <a:srgbClr val="303030"/>
                </a:solidFill>
                <a:latin typeface="Calibri" panose="020F0502020204030204" pitchFamily="34" charset="0"/>
              </a:rPr>
              <a:t>ASPETTO</a:t>
            </a:r>
          </a:p>
        </p:txBody>
      </p:sp>
      <p:sp>
        <p:nvSpPr>
          <p:cNvPr id="7" name="Rettangolo con angoli arrotondati 6">
            <a:extLst>
              <a:ext uri="{FF2B5EF4-FFF2-40B4-BE49-F238E27FC236}">
                <a16:creationId xmlns:a16="http://schemas.microsoft.com/office/drawing/2014/main" id="{DD382497-6BEC-1670-0C17-359A1000B666}"/>
              </a:ext>
            </a:extLst>
          </p:cNvPr>
          <p:cNvSpPr/>
          <p:nvPr/>
        </p:nvSpPr>
        <p:spPr>
          <a:xfrm>
            <a:off x="2781300" y="1600200"/>
            <a:ext cx="2794000" cy="711200"/>
          </a:xfrm>
          <a:prstGeom prst="roundRect">
            <a:avLst/>
          </a:prstGeom>
          <a:solidFill>
            <a:srgbClr val="EFD687"/>
          </a:solidFill>
          <a:ln w="16510">
            <a:solidFill>
              <a:srgbClr val="EFD6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CreatedText_8">
            <a:extLst>
              <a:ext uri="{FF2B5EF4-FFF2-40B4-BE49-F238E27FC236}">
                <a16:creationId xmlns:a16="http://schemas.microsoft.com/office/drawing/2014/main" id="{F67C1957-04F2-E03A-2106-EDD0E152D833}"/>
              </a:ext>
            </a:extLst>
          </p:cNvPr>
          <p:cNvSpPr txBox="1"/>
          <p:nvPr/>
        </p:nvSpPr>
        <p:spPr>
          <a:xfrm>
            <a:off x="2908300" y="1752599"/>
            <a:ext cx="2540000" cy="508000"/>
          </a:xfrm>
          <a:prstGeom prst="rect">
            <a:avLst/>
          </a:prstGeom>
          <a:noFill/>
        </p:spPr>
        <p:txBody>
          <a:bodyPr vert="horz" wrap="square" lIns="0" tIns="0" rIns="0" bIns="0" rtlCol="0">
            <a:noAutofit/>
          </a:bodyPr>
          <a:lstStyle/>
          <a:p>
            <a:pPr>
              <a:spcAft>
                <a:spcPts val="600"/>
              </a:spcAft>
            </a:pPr>
            <a:r>
              <a:rPr lang="it-IT" sz="1600" b="1">
                <a:solidFill>
                  <a:srgbClr val="303030"/>
                </a:solidFill>
                <a:latin typeface="Calibri" panose="020F0502020204030204" pitchFamily="34" charset="0"/>
              </a:rPr>
              <a:t>MCP</a:t>
            </a:r>
          </a:p>
        </p:txBody>
      </p:sp>
      <p:sp>
        <p:nvSpPr>
          <p:cNvPr id="9" name="Rettangolo con angoli arrotondati 8">
            <a:extLst>
              <a:ext uri="{FF2B5EF4-FFF2-40B4-BE49-F238E27FC236}">
                <a16:creationId xmlns:a16="http://schemas.microsoft.com/office/drawing/2014/main" id="{42F38ADB-3CB1-E01F-5238-78994B301EC3}"/>
              </a:ext>
            </a:extLst>
          </p:cNvPr>
          <p:cNvSpPr/>
          <p:nvPr/>
        </p:nvSpPr>
        <p:spPr>
          <a:xfrm>
            <a:off x="5575300" y="1600200"/>
            <a:ext cx="3098800" cy="711200"/>
          </a:xfrm>
          <a:prstGeom prst="roundRect">
            <a:avLst/>
          </a:prstGeom>
          <a:solidFill>
            <a:srgbClr val="EFD687"/>
          </a:solidFill>
          <a:ln w="16510">
            <a:solidFill>
              <a:srgbClr val="EFD6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reatedText_10">
            <a:extLst>
              <a:ext uri="{FF2B5EF4-FFF2-40B4-BE49-F238E27FC236}">
                <a16:creationId xmlns:a16="http://schemas.microsoft.com/office/drawing/2014/main" id="{AE4F7C3F-BEE9-16AF-C3CC-1C903BA5BE83}"/>
              </a:ext>
            </a:extLst>
          </p:cNvPr>
          <p:cNvSpPr txBox="1"/>
          <p:nvPr/>
        </p:nvSpPr>
        <p:spPr>
          <a:xfrm>
            <a:off x="5702300" y="1752599"/>
            <a:ext cx="2844800" cy="508000"/>
          </a:xfrm>
          <a:prstGeom prst="rect">
            <a:avLst/>
          </a:prstGeom>
          <a:noFill/>
        </p:spPr>
        <p:txBody>
          <a:bodyPr vert="horz" wrap="square" lIns="0" tIns="0" rIns="0" bIns="0" rtlCol="0">
            <a:noAutofit/>
          </a:bodyPr>
          <a:lstStyle/>
          <a:p>
            <a:pPr>
              <a:spcAft>
                <a:spcPts val="600"/>
              </a:spcAft>
            </a:pPr>
            <a:r>
              <a:rPr lang="it-IT" sz="1600" b="1">
                <a:solidFill>
                  <a:srgbClr val="303030"/>
                </a:solidFill>
                <a:latin typeface="Calibri" panose="020F0502020204030204" pitchFamily="34" charset="0"/>
              </a:rPr>
              <a:t>A2A</a:t>
            </a:r>
          </a:p>
        </p:txBody>
      </p:sp>
      <p:sp>
        <p:nvSpPr>
          <p:cNvPr id="11" name="Rettangolo con angoli arrotondati 10">
            <a:extLst>
              <a:ext uri="{FF2B5EF4-FFF2-40B4-BE49-F238E27FC236}">
                <a16:creationId xmlns:a16="http://schemas.microsoft.com/office/drawing/2014/main" id="{CBA1839D-F8CA-84F1-ACBC-2E42EF87AF72}"/>
              </a:ext>
            </a:extLst>
          </p:cNvPr>
          <p:cNvSpPr/>
          <p:nvPr/>
        </p:nvSpPr>
        <p:spPr>
          <a:xfrm>
            <a:off x="8674100" y="1600200"/>
            <a:ext cx="3098800" cy="711200"/>
          </a:xfrm>
          <a:prstGeom prst="roundRect">
            <a:avLst/>
          </a:prstGeom>
          <a:solidFill>
            <a:srgbClr val="EFD687"/>
          </a:solidFill>
          <a:ln w="16510">
            <a:solidFill>
              <a:srgbClr val="EFD6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CreatedText_12">
            <a:extLst>
              <a:ext uri="{FF2B5EF4-FFF2-40B4-BE49-F238E27FC236}">
                <a16:creationId xmlns:a16="http://schemas.microsoft.com/office/drawing/2014/main" id="{50CEA2BE-A74D-EFC7-4F5F-B6BB6DAD61F9}"/>
              </a:ext>
            </a:extLst>
          </p:cNvPr>
          <p:cNvSpPr txBox="1"/>
          <p:nvPr/>
        </p:nvSpPr>
        <p:spPr>
          <a:xfrm>
            <a:off x="8801100" y="1752599"/>
            <a:ext cx="2844800" cy="508000"/>
          </a:xfrm>
          <a:prstGeom prst="rect">
            <a:avLst/>
          </a:prstGeom>
          <a:noFill/>
        </p:spPr>
        <p:txBody>
          <a:bodyPr vert="horz" wrap="square" lIns="0" tIns="0" rIns="0" bIns="0" rtlCol="0">
            <a:noAutofit/>
          </a:bodyPr>
          <a:lstStyle/>
          <a:p>
            <a:pPr>
              <a:spcAft>
                <a:spcPts val="600"/>
              </a:spcAft>
            </a:pPr>
            <a:r>
              <a:rPr lang="it-IT" sz="1600" b="1">
                <a:solidFill>
                  <a:srgbClr val="303030"/>
                </a:solidFill>
                <a:latin typeface="Calibri" panose="020F0502020204030204" pitchFamily="34" charset="0"/>
              </a:rPr>
              <a:t>SKILL</a:t>
            </a:r>
          </a:p>
        </p:txBody>
      </p:sp>
      <p:sp>
        <p:nvSpPr>
          <p:cNvPr id="13" name="Rettangolo con angoli arrotondati 12">
            <a:extLst>
              <a:ext uri="{FF2B5EF4-FFF2-40B4-BE49-F238E27FC236}">
                <a16:creationId xmlns:a16="http://schemas.microsoft.com/office/drawing/2014/main" id="{B3A87DB2-4090-0097-9D45-1B6FD5FDCEC2}"/>
              </a:ext>
            </a:extLst>
          </p:cNvPr>
          <p:cNvSpPr/>
          <p:nvPr/>
        </p:nvSpPr>
        <p:spPr>
          <a:xfrm>
            <a:off x="571500" y="2311400"/>
            <a:ext cx="2209800" cy="711200"/>
          </a:xfrm>
          <a:prstGeom prst="roundRect">
            <a:avLst/>
          </a:prstGeom>
          <a:solidFill>
            <a:srgbClr val="F4F7FA"/>
          </a:solidFill>
          <a:ln w="16510">
            <a:solidFill>
              <a:srgbClr val="F4F7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 name="CreatedText_14">
            <a:extLst>
              <a:ext uri="{FF2B5EF4-FFF2-40B4-BE49-F238E27FC236}">
                <a16:creationId xmlns:a16="http://schemas.microsoft.com/office/drawing/2014/main" id="{742E6416-4FE5-1910-C643-FD291271BD69}"/>
              </a:ext>
            </a:extLst>
          </p:cNvPr>
          <p:cNvSpPr txBox="1"/>
          <p:nvPr/>
        </p:nvSpPr>
        <p:spPr>
          <a:xfrm>
            <a:off x="698500" y="2463799"/>
            <a:ext cx="1955800" cy="508000"/>
          </a:xfrm>
          <a:prstGeom prst="rect">
            <a:avLst/>
          </a:prstGeom>
          <a:noFill/>
        </p:spPr>
        <p:txBody>
          <a:bodyPr vert="horz" wrap="square" lIns="0" tIns="0" rIns="0" bIns="0" rtlCol="0">
            <a:noAutofit/>
          </a:bodyPr>
          <a:lstStyle/>
          <a:p>
            <a:pPr>
              <a:spcAft>
                <a:spcPts val="600"/>
              </a:spcAft>
            </a:pPr>
            <a:r>
              <a:rPr lang="it-IT" sz="1600" b="1">
                <a:solidFill>
                  <a:srgbClr val="303030"/>
                </a:solidFill>
                <a:latin typeface="Calibri" panose="020F0502020204030204" pitchFamily="34" charset="0"/>
              </a:rPr>
              <a:t>Contratto</a:t>
            </a:r>
          </a:p>
        </p:txBody>
      </p:sp>
      <p:sp>
        <p:nvSpPr>
          <p:cNvPr id="15" name="Rettangolo con angoli arrotondati 14">
            <a:extLst>
              <a:ext uri="{FF2B5EF4-FFF2-40B4-BE49-F238E27FC236}">
                <a16:creationId xmlns:a16="http://schemas.microsoft.com/office/drawing/2014/main" id="{B07A26FC-3201-9655-3BC1-9598A453BE25}"/>
              </a:ext>
            </a:extLst>
          </p:cNvPr>
          <p:cNvSpPr/>
          <p:nvPr/>
        </p:nvSpPr>
        <p:spPr>
          <a:xfrm>
            <a:off x="2781300" y="2311400"/>
            <a:ext cx="2794000" cy="711200"/>
          </a:xfrm>
          <a:prstGeom prst="roundRect">
            <a:avLst/>
          </a:prstGeom>
          <a:solidFill>
            <a:srgbClr val="F4F7FA"/>
          </a:solidFill>
          <a:ln w="16510">
            <a:solidFill>
              <a:srgbClr val="F4F7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CreatedText_16">
            <a:extLst>
              <a:ext uri="{FF2B5EF4-FFF2-40B4-BE49-F238E27FC236}">
                <a16:creationId xmlns:a16="http://schemas.microsoft.com/office/drawing/2014/main" id="{CCBB6C2A-C7BA-3AEE-6B65-151E0851FD73}"/>
              </a:ext>
            </a:extLst>
          </p:cNvPr>
          <p:cNvSpPr txBox="1"/>
          <p:nvPr/>
        </p:nvSpPr>
        <p:spPr>
          <a:xfrm>
            <a:off x="2908300" y="2463799"/>
            <a:ext cx="2540000" cy="508000"/>
          </a:xfrm>
          <a:prstGeom prst="rect">
            <a:avLst/>
          </a:prstGeom>
          <a:noFill/>
        </p:spPr>
        <p:txBody>
          <a:bodyPr vert="horz" wrap="square" lIns="0" tIns="0" rIns="0" bIns="0" rtlCol="0">
            <a:noAutofit/>
          </a:bodyPr>
          <a:lstStyle/>
          <a:p>
            <a:pPr>
              <a:spcAft>
                <a:spcPts val="600"/>
              </a:spcAft>
            </a:pPr>
            <a:r>
              <a:rPr lang="it-IT" sz="1600">
                <a:solidFill>
                  <a:srgbClr val="303030"/>
                </a:solidFill>
                <a:latin typeface="Calibri" panose="020F0502020204030204" pitchFamily="34" charset="0"/>
              </a:rPr>
              <a:t>Operazioni / dati</a:t>
            </a:r>
          </a:p>
        </p:txBody>
      </p:sp>
      <p:sp>
        <p:nvSpPr>
          <p:cNvPr id="17" name="Rettangolo con angoli arrotondati 16">
            <a:extLst>
              <a:ext uri="{FF2B5EF4-FFF2-40B4-BE49-F238E27FC236}">
                <a16:creationId xmlns:a16="http://schemas.microsoft.com/office/drawing/2014/main" id="{A30E50AB-688E-48E5-C4F9-D2B744DC3501}"/>
              </a:ext>
            </a:extLst>
          </p:cNvPr>
          <p:cNvSpPr/>
          <p:nvPr/>
        </p:nvSpPr>
        <p:spPr>
          <a:xfrm>
            <a:off x="5575300" y="2311400"/>
            <a:ext cx="3098800" cy="711200"/>
          </a:xfrm>
          <a:prstGeom prst="roundRect">
            <a:avLst/>
          </a:prstGeom>
          <a:solidFill>
            <a:srgbClr val="F4F7FA"/>
          </a:solidFill>
          <a:ln w="16510">
            <a:solidFill>
              <a:srgbClr val="F4F7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CreatedText_18">
            <a:extLst>
              <a:ext uri="{FF2B5EF4-FFF2-40B4-BE49-F238E27FC236}">
                <a16:creationId xmlns:a16="http://schemas.microsoft.com/office/drawing/2014/main" id="{CEB9BF75-D9A8-1D38-0391-DFB202F5F740}"/>
              </a:ext>
            </a:extLst>
          </p:cNvPr>
          <p:cNvSpPr txBox="1"/>
          <p:nvPr/>
        </p:nvSpPr>
        <p:spPr>
          <a:xfrm>
            <a:off x="5702300" y="2463799"/>
            <a:ext cx="2844800" cy="508000"/>
          </a:xfrm>
          <a:prstGeom prst="rect">
            <a:avLst/>
          </a:prstGeom>
          <a:noFill/>
        </p:spPr>
        <p:txBody>
          <a:bodyPr vert="horz" wrap="square" lIns="0" tIns="0" rIns="0" bIns="0" rtlCol="0">
            <a:noAutofit/>
          </a:bodyPr>
          <a:lstStyle/>
          <a:p>
            <a:pPr>
              <a:spcAft>
                <a:spcPts val="600"/>
              </a:spcAft>
            </a:pPr>
            <a:r>
              <a:rPr lang="it-IT" sz="1600">
                <a:solidFill>
                  <a:srgbClr val="303030"/>
                </a:solidFill>
                <a:latin typeface="Calibri" panose="020F0502020204030204" pitchFamily="34" charset="0"/>
              </a:rPr>
              <a:t>Capacità di un agente</a:t>
            </a:r>
          </a:p>
        </p:txBody>
      </p:sp>
      <p:sp>
        <p:nvSpPr>
          <p:cNvPr id="19" name="Rettangolo con angoli arrotondati 18">
            <a:extLst>
              <a:ext uri="{FF2B5EF4-FFF2-40B4-BE49-F238E27FC236}">
                <a16:creationId xmlns:a16="http://schemas.microsoft.com/office/drawing/2014/main" id="{9E51DD5B-A9F2-4104-CCCE-B19E8F04D960}"/>
              </a:ext>
            </a:extLst>
          </p:cNvPr>
          <p:cNvSpPr/>
          <p:nvPr/>
        </p:nvSpPr>
        <p:spPr>
          <a:xfrm>
            <a:off x="8674100" y="2311400"/>
            <a:ext cx="3098800" cy="711200"/>
          </a:xfrm>
          <a:prstGeom prst="roundRect">
            <a:avLst/>
          </a:prstGeom>
          <a:solidFill>
            <a:srgbClr val="F4F7FA"/>
          </a:solidFill>
          <a:ln w="16510">
            <a:solidFill>
              <a:srgbClr val="F4F7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0" name="CreatedText_20">
            <a:extLst>
              <a:ext uri="{FF2B5EF4-FFF2-40B4-BE49-F238E27FC236}">
                <a16:creationId xmlns:a16="http://schemas.microsoft.com/office/drawing/2014/main" id="{6FBFDBB6-B7E4-7B1D-92A3-A723AD8A5299}"/>
              </a:ext>
            </a:extLst>
          </p:cNvPr>
          <p:cNvSpPr txBox="1"/>
          <p:nvPr/>
        </p:nvSpPr>
        <p:spPr>
          <a:xfrm>
            <a:off x="8801100" y="2463799"/>
            <a:ext cx="2844800" cy="508000"/>
          </a:xfrm>
          <a:prstGeom prst="rect">
            <a:avLst/>
          </a:prstGeom>
          <a:noFill/>
        </p:spPr>
        <p:txBody>
          <a:bodyPr vert="horz" wrap="square" lIns="0" tIns="0" rIns="0" bIns="0" rtlCol="0">
            <a:noAutofit/>
          </a:bodyPr>
          <a:lstStyle/>
          <a:p>
            <a:pPr>
              <a:spcAft>
                <a:spcPts val="600"/>
              </a:spcAft>
            </a:pPr>
            <a:r>
              <a:rPr lang="it-IT" sz="1600">
                <a:solidFill>
                  <a:srgbClr val="303030"/>
                </a:solidFill>
                <a:latin typeface="Calibri" panose="020F0502020204030204" pitchFamily="34" charset="0"/>
              </a:rPr>
              <a:t>Istruzioni / risorse</a:t>
            </a:r>
          </a:p>
        </p:txBody>
      </p:sp>
      <p:sp>
        <p:nvSpPr>
          <p:cNvPr id="21" name="Rettangolo con angoli arrotondati 20">
            <a:extLst>
              <a:ext uri="{FF2B5EF4-FFF2-40B4-BE49-F238E27FC236}">
                <a16:creationId xmlns:a16="http://schemas.microsoft.com/office/drawing/2014/main" id="{BFFCFD65-CD6B-AC5A-0040-B7FABF93306A}"/>
              </a:ext>
            </a:extLst>
          </p:cNvPr>
          <p:cNvSpPr/>
          <p:nvPr/>
        </p:nvSpPr>
        <p:spPr>
          <a:xfrm>
            <a:off x="571500" y="3022600"/>
            <a:ext cx="2209800" cy="711200"/>
          </a:xfrm>
          <a:prstGeom prst="roundRect">
            <a:avLst/>
          </a:prstGeom>
          <a:solidFill>
            <a:srgbClr val="FFFFFF"/>
          </a:solidFill>
          <a:ln w="1651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CreatedText_22">
            <a:extLst>
              <a:ext uri="{FF2B5EF4-FFF2-40B4-BE49-F238E27FC236}">
                <a16:creationId xmlns:a16="http://schemas.microsoft.com/office/drawing/2014/main" id="{C33281F0-41C8-5495-97E0-49DC6A1263F8}"/>
              </a:ext>
            </a:extLst>
          </p:cNvPr>
          <p:cNvSpPr txBox="1"/>
          <p:nvPr/>
        </p:nvSpPr>
        <p:spPr>
          <a:xfrm>
            <a:off x="698500" y="3174999"/>
            <a:ext cx="1955800" cy="508000"/>
          </a:xfrm>
          <a:prstGeom prst="rect">
            <a:avLst/>
          </a:prstGeom>
          <a:noFill/>
        </p:spPr>
        <p:txBody>
          <a:bodyPr vert="horz" wrap="square" lIns="0" tIns="0" rIns="0" bIns="0" rtlCol="0">
            <a:noAutofit/>
          </a:bodyPr>
          <a:lstStyle/>
          <a:p>
            <a:pPr>
              <a:spcAft>
                <a:spcPts val="600"/>
              </a:spcAft>
            </a:pPr>
            <a:r>
              <a:rPr lang="it-IT" sz="1600" b="1">
                <a:solidFill>
                  <a:srgbClr val="303030"/>
                </a:solidFill>
                <a:latin typeface="Calibri" panose="020F0502020204030204" pitchFamily="34" charset="0"/>
              </a:rPr>
              <a:t>Modello in BASIC</a:t>
            </a:r>
          </a:p>
        </p:txBody>
      </p:sp>
      <p:sp>
        <p:nvSpPr>
          <p:cNvPr id="23" name="Rettangolo con angoli arrotondati 22">
            <a:extLst>
              <a:ext uri="{FF2B5EF4-FFF2-40B4-BE49-F238E27FC236}">
                <a16:creationId xmlns:a16="http://schemas.microsoft.com/office/drawing/2014/main" id="{343322B7-004F-6A71-549F-9AC98E82C644}"/>
              </a:ext>
            </a:extLst>
          </p:cNvPr>
          <p:cNvSpPr/>
          <p:nvPr/>
        </p:nvSpPr>
        <p:spPr>
          <a:xfrm>
            <a:off x="2781300" y="3022600"/>
            <a:ext cx="2794000" cy="711200"/>
          </a:xfrm>
          <a:prstGeom prst="roundRect">
            <a:avLst/>
          </a:prstGeom>
          <a:solidFill>
            <a:srgbClr val="FFFFFF"/>
          </a:solidFill>
          <a:ln w="1651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 name="CreatedText_24">
            <a:extLst>
              <a:ext uri="{FF2B5EF4-FFF2-40B4-BE49-F238E27FC236}">
                <a16:creationId xmlns:a16="http://schemas.microsoft.com/office/drawing/2014/main" id="{912C78FA-7FCA-2D85-5794-791F938F12E7}"/>
              </a:ext>
            </a:extLst>
          </p:cNvPr>
          <p:cNvSpPr txBox="1"/>
          <p:nvPr/>
        </p:nvSpPr>
        <p:spPr>
          <a:xfrm>
            <a:off x="2908300" y="3174999"/>
            <a:ext cx="2540000" cy="508000"/>
          </a:xfrm>
          <a:prstGeom prst="rect">
            <a:avLst/>
          </a:prstGeom>
          <a:noFill/>
        </p:spPr>
        <p:txBody>
          <a:bodyPr vert="horz" wrap="square" lIns="0" tIns="0" rIns="0" bIns="0" rtlCol="0">
            <a:noAutofit/>
          </a:bodyPr>
          <a:lstStyle/>
          <a:p>
            <a:pPr>
              <a:spcAft>
                <a:spcPts val="600"/>
              </a:spcAft>
            </a:pPr>
            <a:r>
              <a:rPr lang="it-IT" sz="1600">
                <a:solidFill>
                  <a:srgbClr val="303030"/>
                </a:solidFill>
                <a:latin typeface="Calibri" panose="020F0502020204030204" pitchFamily="34" charset="0"/>
              </a:rPr>
              <a:t>Nel Web</a:t>
            </a:r>
          </a:p>
        </p:txBody>
      </p:sp>
      <p:sp>
        <p:nvSpPr>
          <p:cNvPr id="25" name="Rettangolo con angoli arrotondati 24">
            <a:extLst>
              <a:ext uri="{FF2B5EF4-FFF2-40B4-BE49-F238E27FC236}">
                <a16:creationId xmlns:a16="http://schemas.microsoft.com/office/drawing/2014/main" id="{67822F59-207F-7167-D316-EDD0624A5AAE}"/>
              </a:ext>
            </a:extLst>
          </p:cNvPr>
          <p:cNvSpPr/>
          <p:nvPr/>
        </p:nvSpPr>
        <p:spPr>
          <a:xfrm>
            <a:off x="5575300" y="3022600"/>
            <a:ext cx="3098800" cy="711200"/>
          </a:xfrm>
          <a:prstGeom prst="roundRect">
            <a:avLst/>
          </a:prstGeom>
          <a:solidFill>
            <a:srgbClr val="FFFFFF"/>
          </a:solidFill>
          <a:ln w="1651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6" name="CreatedText_26">
            <a:extLst>
              <a:ext uri="{FF2B5EF4-FFF2-40B4-BE49-F238E27FC236}">
                <a16:creationId xmlns:a16="http://schemas.microsoft.com/office/drawing/2014/main" id="{8D1D6E3C-F5DF-4A48-D1D2-F7B3C7F73005}"/>
              </a:ext>
            </a:extLst>
          </p:cNvPr>
          <p:cNvSpPr txBox="1"/>
          <p:nvPr/>
        </p:nvSpPr>
        <p:spPr>
          <a:xfrm>
            <a:off x="5702300" y="3174999"/>
            <a:ext cx="2844800" cy="508000"/>
          </a:xfrm>
          <a:prstGeom prst="rect">
            <a:avLst/>
          </a:prstGeom>
          <a:noFill/>
        </p:spPr>
        <p:txBody>
          <a:bodyPr vert="horz" wrap="square" lIns="0" tIns="0" rIns="0" bIns="0" rtlCol="0">
            <a:noAutofit/>
          </a:bodyPr>
          <a:lstStyle/>
          <a:p>
            <a:pPr>
              <a:spcAft>
                <a:spcPts val="600"/>
              </a:spcAft>
            </a:pPr>
            <a:r>
              <a:rPr lang="it-IT" sz="1600">
                <a:solidFill>
                  <a:srgbClr val="303030"/>
                </a:solidFill>
                <a:latin typeface="Calibri" panose="020F0502020204030204" pitchFamily="34" charset="0"/>
              </a:rPr>
              <a:t>Nel remoto + nel Web</a:t>
            </a:r>
          </a:p>
        </p:txBody>
      </p:sp>
      <p:sp>
        <p:nvSpPr>
          <p:cNvPr id="27" name="Rettangolo con angoli arrotondati 26">
            <a:extLst>
              <a:ext uri="{FF2B5EF4-FFF2-40B4-BE49-F238E27FC236}">
                <a16:creationId xmlns:a16="http://schemas.microsoft.com/office/drawing/2014/main" id="{13F9EDB1-7842-5592-0B6B-53F6845026E1}"/>
              </a:ext>
            </a:extLst>
          </p:cNvPr>
          <p:cNvSpPr/>
          <p:nvPr/>
        </p:nvSpPr>
        <p:spPr>
          <a:xfrm>
            <a:off x="8674100" y="3022600"/>
            <a:ext cx="3098800" cy="711200"/>
          </a:xfrm>
          <a:prstGeom prst="roundRect">
            <a:avLst/>
          </a:prstGeom>
          <a:solidFill>
            <a:srgbClr val="FFFFFF"/>
          </a:solidFill>
          <a:ln w="1651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8" name="CreatedText_28">
            <a:extLst>
              <a:ext uri="{FF2B5EF4-FFF2-40B4-BE49-F238E27FC236}">
                <a16:creationId xmlns:a16="http://schemas.microsoft.com/office/drawing/2014/main" id="{7E423D8A-74A0-7349-07AE-B7A3C4E3EA93}"/>
              </a:ext>
            </a:extLst>
          </p:cNvPr>
          <p:cNvSpPr txBox="1"/>
          <p:nvPr/>
        </p:nvSpPr>
        <p:spPr>
          <a:xfrm>
            <a:off x="8801100" y="3174999"/>
            <a:ext cx="2844800" cy="508000"/>
          </a:xfrm>
          <a:prstGeom prst="rect">
            <a:avLst/>
          </a:prstGeom>
          <a:noFill/>
        </p:spPr>
        <p:txBody>
          <a:bodyPr vert="horz" wrap="square" lIns="0" tIns="0" rIns="0" bIns="0" rtlCol="0">
            <a:noAutofit/>
          </a:bodyPr>
          <a:lstStyle/>
          <a:p>
            <a:pPr>
              <a:spcAft>
                <a:spcPts val="600"/>
              </a:spcAft>
            </a:pPr>
            <a:r>
              <a:rPr lang="it-IT" sz="1600">
                <a:solidFill>
                  <a:srgbClr val="303030"/>
                </a:solidFill>
                <a:latin typeface="Calibri" panose="020F0502020204030204" pitchFamily="34" charset="0"/>
              </a:rPr>
              <a:t>Nel Web</a:t>
            </a:r>
          </a:p>
        </p:txBody>
      </p:sp>
      <p:sp>
        <p:nvSpPr>
          <p:cNvPr id="29" name="Rettangolo con angoli arrotondati 28">
            <a:extLst>
              <a:ext uri="{FF2B5EF4-FFF2-40B4-BE49-F238E27FC236}">
                <a16:creationId xmlns:a16="http://schemas.microsoft.com/office/drawing/2014/main" id="{F4AAFE8B-00F3-B25D-17B8-FECACB7C6695}"/>
              </a:ext>
            </a:extLst>
          </p:cNvPr>
          <p:cNvSpPr/>
          <p:nvPr/>
        </p:nvSpPr>
        <p:spPr>
          <a:xfrm>
            <a:off x="571500" y="3733800"/>
            <a:ext cx="2209800" cy="711200"/>
          </a:xfrm>
          <a:prstGeom prst="roundRect">
            <a:avLst/>
          </a:prstGeom>
          <a:solidFill>
            <a:srgbClr val="F4F7FA"/>
          </a:solidFill>
          <a:ln w="16510">
            <a:solidFill>
              <a:srgbClr val="F4F7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0" name="CreatedText_30">
            <a:extLst>
              <a:ext uri="{FF2B5EF4-FFF2-40B4-BE49-F238E27FC236}">
                <a16:creationId xmlns:a16="http://schemas.microsoft.com/office/drawing/2014/main" id="{EA2C67D7-B8BE-1CAA-8073-7F8B0DB35B33}"/>
              </a:ext>
            </a:extLst>
          </p:cNvPr>
          <p:cNvSpPr txBox="1"/>
          <p:nvPr/>
        </p:nvSpPr>
        <p:spPr>
          <a:xfrm>
            <a:off x="698500" y="3886199"/>
            <a:ext cx="1955800" cy="508000"/>
          </a:xfrm>
          <a:prstGeom prst="rect">
            <a:avLst/>
          </a:prstGeom>
          <a:noFill/>
        </p:spPr>
        <p:txBody>
          <a:bodyPr vert="horz" wrap="square" lIns="0" tIns="0" rIns="0" bIns="0" rtlCol="0">
            <a:noAutofit/>
          </a:bodyPr>
          <a:lstStyle/>
          <a:p>
            <a:pPr>
              <a:spcAft>
                <a:spcPts val="600"/>
              </a:spcAft>
            </a:pPr>
            <a:r>
              <a:rPr lang="it-IT" sz="1600" b="1">
                <a:solidFill>
                  <a:srgbClr val="303030"/>
                </a:solidFill>
                <a:latin typeface="Calibri" panose="020F0502020204030204" pitchFamily="34" charset="0"/>
              </a:rPr>
              <a:t>Confine in BASIC</a:t>
            </a:r>
          </a:p>
        </p:txBody>
      </p:sp>
      <p:sp>
        <p:nvSpPr>
          <p:cNvPr id="31" name="Rettangolo con angoli arrotondati 30">
            <a:extLst>
              <a:ext uri="{FF2B5EF4-FFF2-40B4-BE49-F238E27FC236}">
                <a16:creationId xmlns:a16="http://schemas.microsoft.com/office/drawing/2014/main" id="{7D48EEA7-43C8-EB7B-67C9-3A7476A856DC}"/>
              </a:ext>
            </a:extLst>
          </p:cNvPr>
          <p:cNvSpPr/>
          <p:nvPr/>
        </p:nvSpPr>
        <p:spPr>
          <a:xfrm>
            <a:off x="2781300" y="3733800"/>
            <a:ext cx="2794000" cy="711200"/>
          </a:xfrm>
          <a:prstGeom prst="roundRect">
            <a:avLst/>
          </a:prstGeom>
          <a:solidFill>
            <a:srgbClr val="F4F7FA"/>
          </a:solidFill>
          <a:ln w="16510">
            <a:solidFill>
              <a:srgbClr val="F4F7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 name="CreatedText_32">
            <a:extLst>
              <a:ext uri="{FF2B5EF4-FFF2-40B4-BE49-F238E27FC236}">
                <a16:creationId xmlns:a16="http://schemas.microsoft.com/office/drawing/2014/main" id="{480E792E-7517-2D03-B6C4-AF5839BAEB25}"/>
              </a:ext>
            </a:extLst>
          </p:cNvPr>
          <p:cNvSpPr txBox="1"/>
          <p:nvPr/>
        </p:nvSpPr>
        <p:spPr>
          <a:xfrm>
            <a:off x="2908300" y="3886199"/>
            <a:ext cx="2540000" cy="508000"/>
          </a:xfrm>
          <a:prstGeom prst="rect">
            <a:avLst/>
          </a:prstGeom>
          <a:noFill/>
        </p:spPr>
        <p:txBody>
          <a:bodyPr vert="horz" wrap="square" lIns="0" tIns="0" rIns="0" bIns="0" rtlCol="0">
            <a:noAutofit/>
          </a:bodyPr>
          <a:lstStyle/>
          <a:p>
            <a:pPr>
              <a:spcAft>
                <a:spcPts val="600"/>
              </a:spcAft>
            </a:pPr>
            <a:r>
              <a:rPr lang="it-IT" sz="1600">
                <a:solidFill>
                  <a:srgbClr val="303030"/>
                </a:solidFill>
                <a:latin typeface="Calibri" panose="020F0502020204030204" pitchFamily="34" charset="0"/>
              </a:rPr>
              <a:t>Server tool via HTTP</a:t>
            </a:r>
          </a:p>
        </p:txBody>
      </p:sp>
      <p:sp>
        <p:nvSpPr>
          <p:cNvPr id="33" name="Rettangolo con angoli arrotondati 32">
            <a:extLst>
              <a:ext uri="{FF2B5EF4-FFF2-40B4-BE49-F238E27FC236}">
                <a16:creationId xmlns:a16="http://schemas.microsoft.com/office/drawing/2014/main" id="{44CE7C27-8162-C892-0DBC-F5D8694DD5FC}"/>
              </a:ext>
            </a:extLst>
          </p:cNvPr>
          <p:cNvSpPr/>
          <p:nvPr/>
        </p:nvSpPr>
        <p:spPr>
          <a:xfrm>
            <a:off x="5575300" y="3733800"/>
            <a:ext cx="3098800" cy="711200"/>
          </a:xfrm>
          <a:prstGeom prst="roundRect">
            <a:avLst/>
          </a:prstGeom>
          <a:solidFill>
            <a:srgbClr val="F4F7FA"/>
          </a:solidFill>
          <a:ln w="16510">
            <a:solidFill>
              <a:srgbClr val="F4F7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 name="CreatedText_34">
            <a:extLst>
              <a:ext uri="{FF2B5EF4-FFF2-40B4-BE49-F238E27FC236}">
                <a16:creationId xmlns:a16="http://schemas.microsoft.com/office/drawing/2014/main" id="{27987B21-2006-5FDD-AB6A-A2FCADA97A1B}"/>
              </a:ext>
            </a:extLst>
          </p:cNvPr>
          <p:cNvSpPr txBox="1"/>
          <p:nvPr/>
        </p:nvSpPr>
        <p:spPr>
          <a:xfrm>
            <a:off x="5702300" y="3886199"/>
            <a:ext cx="2844800" cy="508000"/>
          </a:xfrm>
          <a:prstGeom prst="rect">
            <a:avLst/>
          </a:prstGeom>
          <a:noFill/>
        </p:spPr>
        <p:txBody>
          <a:bodyPr vert="horz" wrap="square" lIns="0" tIns="0" rIns="0" bIns="0" rtlCol="0">
            <a:noAutofit/>
          </a:bodyPr>
          <a:lstStyle/>
          <a:p>
            <a:pPr>
              <a:spcAft>
                <a:spcPts val="600"/>
              </a:spcAft>
            </a:pPr>
            <a:r>
              <a:rPr lang="it-IT" sz="1600">
                <a:solidFill>
                  <a:srgbClr val="303030"/>
                </a:solidFill>
                <a:latin typeface="Calibri" panose="020F0502020204030204" pitchFamily="34" charset="0"/>
              </a:rPr>
              <a:t>Agente via HTTP</a:t>
            </a:r>
          </a:p>
        </p:txBody>
      </p:sp>
      <p:sp>
        <p:nvSpPr>
          <p:cNvPr id="35" name="Rettangolo con angoli arrotondati 34">
            <a:extLst>
              <a:ext uri="{FF2B5EF4-FFF2-40B4-BE49-F238E27FC236}">
                <a16:creationId xmlns:a16="http://schemas.microsoft.com/office/drawing/2014/main" id="{4B77EEDA-9C89-3B67-A042-DCF7EA21EF7C}"/>
              </a:ext>
            </a:extLst>
          </p:cNvPr>
          <p:cNvSpPr/>
          <p:nvPr/>
        </p:nvSpPr>
        <p:spPr>
          <a:xfrm>
            <a:off x="8674100" y="3733800"/>
            <a:ext cx="3098800" cy="711200"/>
          </a:xfrm>
          <a:prstGeom prst="roundRect">
            <a:avLst/>
          </a:prstGeom>
          <a:solidFill>
            <a:srgbClr val="F4F7FA"/>
          </a:solidFill>
          <a:ln w="16510">
            <a:solidFill>
              <a:srgbClr val="F4F7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6" name="CreatedText_36">
            <a:extLst>
              <a:ext uri="{FF2B5EF4-FFF2-40B4-BE49-F238E27FC236}">
                <a16:creationId xmlns:a16="http://schemas.microsoft.com/office/drawing/2014/main" id="{B30850F2-A49B-062B-207C-6955D4B6C7AA}"/>
              </a:ext>
            </a:extLst>
          </p:cNvPr>
          <p:cNvSpPr txBox="1"/>
          <p:nvPr/>
        </p:nvSpPr>
        <p:spPr>
          <a:xfrm>
            <a:off x="8801100" y="3886199"/>
            <a:ext cx="2844800" cy="508000"/>
          </a:xfrm>
          <a:prstGeom prst="rect">
            <a:avLst/>
          </a:prstGeom>
          <a:noFill/>
        </p:spPr>
        <p:txBody>
          <a:bodyPr vert="horz" wrap="square" lIns="0" tIns="0" rIns="0" bIns="0" rtlCol="0">
            <a:noAutofit/>
          </a:bodyPr>
          <a:lstStyle/>
          <a:p>
            <a:pPr>
              <a:spcAft>
                <a:spcPts val="600"/>
              </a:spcAft>
            </a:pPr>
            <a:r>
              <a:rPr lang="it-IT" sz="1600">
                <a:solidFill>
                  <a:srgbClr val="303030"/>
                </a:solidFill>
                <a:latin typeface="Calibri" panose="020F0502020204030204" pitchFamily="34" charset="0"/>
              </a:rPr>
              <a:t>Libreria + file locali</a:t>
            </a:r>
          </a:p>
        </p:txBody>
      </p:sp>
      <p:sp>
        <p:nvSpPr>
          <p:cNvPr id="37" name="Rettangolo con angoli arrotondati 36">
            <a:extLst>
              <a:ext uri="{FF2B5EF4-FFF2-40B4-BE49-F238E27FC236}">
                <a16:creationId xmlns:a16="http://schemas.microsoft.com/office/drawing/2014/main" id="{2EF9A880-674F-9E17-DCA1-ECF931AFDA24}"/>
              </a:ext>
            </a:extLst>
          </p:cNvPr>
          <p:cNvSpPr/>
          <p:nvPr/>
        </p:nvSpPr>
        <p:spPr>
          <a:xfrm>
            <a:off x="571500" y="4445000"/>
            <a:ext cx="2209800" cy="711200"/>
          </a:xfrm>
          <a:prstGeom prst="roundRect">
            <a:avLst/>
          </a:prstGeom>
          <a:solidFill>
            <a:srgbClr val="FFFFFF"/>
          </a:solidFill>
          <a:ln w="1651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 name="CreatedText_38">
            <a:extLst>
              <a:ext uri="{FF2B5EF4-FFF2-40B4-BE49-F238E27FC236}">
                <a16:creationId xmlns:a16="http://schemas.microsoft.com/office/drawing/2014/main" id="{0B3DD235-5A9F-BC2C-C3B8-D0AB8407E612}"/>
              </a:ext>
            </a:extLst>
          </p:cNvPr>
          <p:cNvSpPr txBox="1"/>
          <p:nvPr/>
        </p:nvSpPr>
        <p:spPr>
          <a:xfrm>
            <a:off x="698500" y="4597399"/>
            <a:ext cx="1955800" cy="508000"/>
          </a:xfrm>
          <a:prstGeom prst="rect">
            <a:avLst/>
          </a:prstGeom>
          <a:noFill/>
        </p:spPr>
        <p:txBody>
          <a:bodyPr vert="horz" wrap="square" lIns="0" tIns="0" rIns="0" bIns="0" rtlCol="0">
            <a:noAutofit/>
          </a:bodyPr>
          <a:lstStyle/>
          <a:p>
            <a:pPr>
              <a:spcAft>
                <a:spcPts val="600"/>
              </a:spcAft>
            </a:pPr>
            <a:r>
              <a:rPr lang="it-IT" sz="1600" b="1">
                <a:solidFill>
                  <a:srgbClr val="303030"/>
                </a:solidFill>
                <a:latin typeface="Calibri" panose="020F0502020204030204" pitchFamily="34" charset="0"/>
              </a:rPr>
              <a:t>Responsabilità</a:t>
            </a:r>
          </a:p>
        </p:txBody>
      </p:sp>
      <p:sp>
        <p:nvSpPr>
          <p:cNvPr id="39" name="Rettangolo con angoli arrotondati 38">
            <a:extLst>
              <a:ext uri="{FF2B5EF4-FFF2-40B4-BE49-F238E27FC236}">
                <a16:creationId xmlns:a16="http://schemas.microsoft.com/office/drawing/2014/main" id="{2BFDBA5A-1823-17DD-521C-14F5E58ACCBE}"/>
              </a:ext>
            </a:extLst>
          </p:cNvPr>
          <p:cNvSpPr/>
          <p:nvPr/>
        </p:nvSpPr>
        <p:spPr>
          <a:xfrm>
            <a:off x="2781300" y="4445000"/>
            <a:ext cx="2794000" cy="711200"/>
          </a:xfrm>
          <a:prstGeom prst="roundRect">
            <a:avLst/>
          </a:prstGeom>
          <a:solidFill>
            <a:srgbClr val="FFFFFF"/>
          </a:solidFill>
          <a:ln w="1651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 name="CreatedText_40">
            <a:extLst>
              <a:ext uri="{FF2B5EF4-FFF2-40B4-BE49-F238E27FC236}">
                <a16:creationId xmlns:a16="http://schemas.microsoft.com/office/drawing/2014/main" id="{F60E2A6E-461A-A7A2-CC4C-98C078BB5D7D}"/>
              </a:ext>
            </a:extLst>
          </p:cNvPr>
          <p:cNvSpPr txBox="1"/>
          <p:nvPr/>
        </p:nvSpPr>
        <p:spPr>
          <a:xfrm>
            <a:off x="2908300" y="4597399"/>
            <a:ext cx="2540000" cy="508000"/>
          </a:xfrm>
          <a:prstGeom prst="rect">
            <a:avLst/>
          </a:prstGeom>
          <a:noFill/>
        </p:spPr>
        <p:txBody>
          <a:bodyPr vert="horz" wrap="square" lIns="0" tIns="0" rIns="0" bIns="0" rtlCol="0">
            <a:noAutofit/>
          </a:bodyPr>
          <a:lstStyle/>
          <a:p>
            <a:pPr>
              <a:spcAft>
                <a:spcPts val="600"/>
              </a:spcAft>
            </a:pPr>
            <a:r>
              <a:rPr lang="it-IT" sz="1600">
                <a:solidFill>
                  <a:srgbClr val="303030"/>
                </a:solidFill>
                <a:latin typeface="Calibri" panose="020F0502020204030204" pitchFamily="34" charset="0"/>
              </a:rPr>
              <a:t>Eseguire il tool</a:t>
            </a:r>
          </a:p>
        </p:txBody>
      </p:sp>
      <p:sp>
        <p:nvSpPr>
          <p:cNvPr id="41" name="Rettangolo con angoli arrotondati 40">
            <a:extLst>
              <a:ext uri="{FF2B5EF4-FFF2-40B4-BE49-F238E27FC236}">
                <a16:creationId xmlns:a16="http://schemas.microsoft.com/office/drawing/2014/main" id="{48756308-D521-0D1F-2983-E3414D41FB9E}"/>
              </a:ext>
            </a:extLst>
          </p:cNvPr>
          <p:cNvSpPr/>
          <p:nvPr/>
        </p:nvSpPr>
        <p:spPr>
          <a:xfrm>
            <a:off x="5575300" y="4445000"/>
            <a:ext cx="3098800" cy="711200"/>
          </a:xfrm>
          <a:prstGeom prst="roundRect">
            <a:avLst/>
          </a:prstGeom>
          <a:solidFill>
            <a:srgbClr val="FFFFFF"/>
          </a:solidFill>
          <a:ln w="1651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 name="CreatedText_42">
            <a:extLst>
              <a:ext uri="{FF2B5EF4-FFF2-40B4-BE49-F238E27FC236}">
                <a16:creationId xmlns:a16="http://schemas.microsoft.com/office/drawing/2014/main" id="{4A6A4532-4340-5697-340F-B98416226B8A}"/>
              </a:ext>
            </a:extLst>
          </p:cNvPr>
          <p:cNvSpPr txBox="1"/>
          <p:nvPr/>
        </p:nvSpPr>
        <p:spPr>
          <a:xfrm>
            <a:off x="5702300" y="4597399"/>
            <a:ext cx="2844800" cy="508000"/>
          </a:xfrm>
          <a:prstGeom prst="rect">
            <a:avLst/>
          </a:prstGeom>
          <a:noFill/>
        </p:spPr>
        <p:txBody>
          <a:bodyPr vert="horz" wrap="square" lIns="0" tIns="0" rIns="0" bIns="0" rtlCol="0">
            <a:noAutofit/>
          </a:bodyPr>
          <a:lstStyle/>
          <a:p>
            <a:pPr>
              <a:spcAft>
                <a:spcPts val="600"/>
              </a:spcAft>
            </a:pPr>
            <a:r>
              <a:rPr lang="it-IT" sz="1600">
                <a:solidFill>
                  <a:srgbClr val="303030"/>
                </a:solidFill>
                <a:latin typeface="Calibri" panose="020F0502020204030204" pitchFamily="34" charset="0"/>
              </a:rPr>
              <a:t>Svolgere il sottotask</a:t>
            </a:r>
          </a:p>
        </p:txBody>
      </p:sp>
      <p:sp>
        <p:nvSpPr>
          <p:cNvPr id="43" name="Rettangolo con angoli arrotondati 42">
            <a:extLst>
              <a:ext uri="{FF2B5EF4-FFF2-40B4-BE49-F238E27FC236}">
                <a16:creationId xmlns:a16="http://schemas.microsoft.com/office/drawing/2014/main" id="{D8D87874-1B33-03D5-FEDD-E68646C7BE62}"/>
              </a:ext>
            </a:extLst>
          </p:cNvPr>
          <p:cNvSpPr/>
          <p:nvPr/>
        </p:nvSpPr>
        <p:spPr>
          <a:xfrm>
            <a:off x="8674100" y="4445000"/>
            <a:ext cx="3098800" cy="711200"/>
          </a:xfrm>
          <a:prstGeom prst="roundRect">
            <a:avLst/>
          </a:prstGeom>
          <a:solidFill>
            <a:srgbClr val="FFFFFF"/>
          </a:solidFill>
          <a:ln w="1651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4" name="CreatedText_44">
            <a:extLst>
              <a:ext uri="{FF2B5EF4-FFF2-40B4-BE49-F238E27FC236}">
                <a16:creationId xmlns:a16="http://schemas.microsoft.com/office/drawing/2014/main" id="{17E04F3D-BF0E-162D-46A0-0527AEB97FE7}"/>
              </a:ext>
            </a:extLst>
          </p:cNvPr>
          <p:cNvSpPr txBox="1"/>
          <p:nvPr/>
        </p:nvSpPr>
        <p:spPr>
          <a:xfrm>
            <a:off x="8801100" y="4597399"/>
            <a:ext cx="2844800" cy="508000"/>
          </a:xfrm>
          <a:prstGeom prst="rect">
            <a:avLst/>
          </a:prstGeom>
          <a:noFill/>
        </p:spPr>
        <p:txBody>
          <a:bodyPr vert="horz" wrap="square" lIns="0" tIns="0" rIns="0" bIns="0" rtlCol="0">
            <a:noAutofit/>
          </a:bodyPr>
          <a:lstStyle/>
          <a:p>
            <a:pPr>
              <a:spcAft>
                <a:spcPts val="600"/>
              </a:spcAft>
            </a:pPr>
            <a:r>
              <a:rPr lang="it-IT" sz="1600">
                <a:solidFill>
                  <a:srgbClr val="303030"/>
                </a:solidFill>
                <a:latin typeface="Calibri" panose="020F0502020204030204" pitchFamily="34" charset="0"/>
              </a:rPr>
              <a:t>Guidare la procedura</a:t>
            </a:r>
          </a:p>
        </p:txBody>
      </p:sp>
      <p:sp>
        <p:nvSpPr>
          <p:cNvPr id="45" name="Rettangolo con angoli arrotondati 44">
            <a:extLst>
              <a:ext uri="{FF2B5EF4-FFF2-40B4-BE49-F238E27FC236}">
                <a16:creationId xmlns:a16="http://schemas.microsoft.com/office/drawing/2014/main" id="{AA0EA926-A092-1557-A1AA-E9BBF5E70386}"/>
              </a:ext>
            </a:extLst>
          </p:cNvPr>
          <p:cNvSpPr/>
          <p:nvPr/>
        </p:nvSpPr>
        <p:spPr>
          <a:xfrm>
            <a:off x="571500" y="5156200"/>
            <a:ext cx="2209800" cy="711200"/>
          </a:xfrm>
          <a:prstGeom prst="roundRect">
            <a:avLst/>
          </a:prstGeom>
          <a:solidFill>
            <a:srgbClr val="F4F7FA"/>
          </a:solidFill>
          <a:ln w="16510">
            <a:solidFill>
              <a:srgbClr val="F4F7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6" name="CreatedText_46">
            <a:extLst>
              <a:ext uri="{FF2B5EF4-FFF2-40B4-BE49-F238E27FC236}">
                <a16:creationId xmlns:a16="http://schemas.microsoft.com/office/drawing/2014/main" id="{0D902648-FB02-6899-1D16-DE6C571D4F66}"/>
              </a:ext>
            </a:extLst>
          </p:cNvPr>
          <p:cNvSpPr txBox="1"/>
          <p:nvPr/>
        </p:nvSpPr>
        <p:spPr>
          <a:xfrm>
            <a:off x="698500" y="5308599"/>
            <a:ext cx="1955800" cy="508000"/>
          </a:xfrm>
          <a:prstGeom prst="rect">
            <a:avLst/>
          </a:prstGeom>
          <a:noFill/>
        </p:spPr>
        <p:txBody>
          <a:bodyPr vert="horz" wrap="square" lIns="0" tIns="0" rIns="0" bIns="0" rtlCol="0">
            <a:noAutofit/>
          </a:bodyPr>
          <a:lstStyle/>
          <a:p>
            <a:pPr>
              <a:spcAft>
                <a:spcPts val="600"/>
              </a:spcAft>
            </a:pPr>
            <a:r>
              <a:rPr lang="it-IT" sz="1600" b="1">
                <a:solidFill>
                  <a:srgbClr val="303030"/>
                </a:solidFill>
                <a:latin typeface="Calibri" panose="020F0502020204030204" pitchFamily="34" charset="0"/>
              </a:rPr>
              <a:t>Può combinarsi?</a:t>
            </a:r>
          </a:p>
        </p:txBody>
      </p:sp>
      <p:sp>
        <p:nvSpPr>
          <p:cNvPr id="47" name="Rettangolo con angoli arrotondati 46">
            <a:extLst>
              <a:ext uri="{FF2B5EF4-FFF2-40B4-BE49-F238E27FC236}">
                <a16:creationId xmlns:a16="http://schemas.microsoft.com/office/drawing/2014/main" id="{7281705F-A36F-C6A2-16C1-B78CAEA76791}"/>
              </a:ext>
            </a:extLst>
          </p:cNvPr>
          <p:cNvSpPr/>
          <p:nvPr/>
        </p:nvSpPr>
        <p:spPr>
          <a:xfrm>
            <a:off x="2781300" y="5156200"/>
            <a:ext cx="2794000" cy="711200"/>
          </a:xfrm>
          <a:prstGeom prst="roundRect">
            <a:avLst/>
          </a:prstGeom>
          <a:solidFill>
            <a:srgbClr val="F4F7FA"/>
          </a:solidFill>
          <a:ln w="16510">
            <a:solidFill>
              <a:srgbClr val="F4F7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8" name="CreatedText_48">
            <a:extLst>
              <a:ext uri="{FF2B5EF4-FFF2-40B4-BE49-F238E27FC236}">
                <a16:creationId xmlns:a16="http://schemas.microsoft.com/office/drawing/2014/main" id="{249E007C-D731-F760-EA87-FDB4734DEC25}"/>
              </a:ext>
            </a:extLst>
          </p:cNvPr>
          <p:cNvSpPr txBox="1"/>
          <p:nvPr/>
        </p:nvSpPr>
        <p:spPr>
          <a:xfrm>
            <a:off x="2908300" y="5308599"/>
            <a:ext cx="2540000" cy="508000"/>
          </a:xfrm>
          <a:prstGeom prst="rect">
            <a:avLst/>
          </a:prstGeom>
          <a:noFill/>
        </p:spPr>
        <p:txBody>
          <a:bodyPr vert="horz" wrap="square" lIns="0" tIns="0" rIns="0" bIns="0" rtlCol="0">
            <a:noAutofit/>
          </a:bodyPr>
          <a:lstStyle/>
          <a:p>
            <a:pPr>
              <a:spcAft>
                <a:spcPts val="600"/>
              </a:spcAft>
            </a:pPr>
            <a:r>
              <a:rPr lang="it-IT" sz="1600">
                <a:solidFill>
                  <a:srgbClr val="303030"/>
                </a:solidFill>
                <a:latin typeface="Calibri" panose="020F0502020204030204" pitchFamily="34" charset="0"/>
              </a:rPr>
              <a:t>Con Skill e A2A</a:t>
            </a:r>
          </a:p>
        </p:txBody>
      </p:sp>
      <p:sp>
        <p:nvSpPr>
          <p:cNvPr id="49" name="Rettangolo con angoli arrotondati 48">
            <a:extLst>
              <a:ext uri="{FF2B5EF4-FFF2-40B4-BE49-F238E27FC236}">
                <a16:creationId xmlns:a16="http://schemas.microsoft.com/office/drawing/2014/main" id="{F51270FE-1F59-D87B-125A-10D2A52B5C76}"/>
              </a:ext>
            </a:extLst>
          </p:cNvPr>
          <p:cNvSpPr/>
          <p:nvPr/>
        </p:nvSpPr>
        <p:spPr>
          <a:xfrm>
            <a:off x="5575300" y="5156200"/>
            <a:ext cx="3098800" cy="711200"/>
          </a:xfrm>
          <a:prstGeom prst="roundRect">
            <a:avLst/>
          </a:prstGeom>
          <a:solidFill>
            <a:srgbClr val="F4F7FA"/>
          </a:solidFill>
          <a:ln w="16510">
            <a:solidFill>
              <a:srgbClr val="F4F7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0" name="CreatedText_50">
            <a:extLst>
              <a:ext uri="{FF2B5EF4-FFF2-40B4-BE49-F238E27FC236}">
                <a16:creationId xmlns:a16="http://schemas.microsoft.com/office/drawing/2014/main" id="{9D91C3E5-F7B5-FC1B-71D1-E0D669853636}"/>
              </a:ext>
            </a:extLst>
          </p:cNvPr>
          <p:cNvSpPr txBox="1"/>
          <p:nvPr/>
        </p:nvSpPr>
        <p:spPr>
          <a:xfrm>
            <a:off x="5702300" y="5308599"/>
            <a:ext cx="2844800" cy="508000"/>
          </a:xfrm>
          <a:prstGeom prst="rect">
            <a:avLst/>
          </a:prstGeom>
          <a:noFill/>
        </p:spPr>
        <p:txBody>
          <a:bodyPr vert="horz" wrap="square" lIns="0" tIns="0" rIns="0" bIns="0" rtlCol="0">
            <a:noAutofit/>
          </a:bodyPr>
          <a:lstStyle/>
          <a:p>
            <a:pPr>
              <a:spcAft>
                <a:spcPts val="600"/>
              </a:spcAft>
            </a:pPr>
            <a:r>
              <a:rPr lang="it-IT" sz="1600">
                <a:solidFill>
                  <a:srgbClr val="303030"/>
                </a:solidFill>
                <a:latin typeface="Calibri" panose="020F0502020204030204" pitchFamily="34" charset="0"/>
              </a:rPr>
              <a:t>Con Skill e MCP</a:t>
            </a:r>
          </a:p>
        </p:txBody>
      </p:sp>
      <p:sp>
        <p:nvSpPr>
          <p:cNvPr id="51" name="Rettangolo con angoli arrotondati 50">
            <a:extLst>
              <a:ext uri="{FF2B5EF4-FFF2-40B4-BE49-F238E27FC236}">
                <a16:creationId xmlns:a16="http://schemas.microsoft.com/office/drawing/2014/main" id="{EB71E386-DA92-BCE6-C6D7-A84387A3F6D8}"/>
              </a:ext>
            </a:extLst>
          </p:cNvPr>
          <p:cNvSpPr/>
          <p:nvPr/>
        </p:nvSpPr>
        <p:spPr>
          <a:xfrm>
            <a:off x="8674100" y="5156200"/>
            <a:ext cx="3098800" cy="711200"/>
          </a:xfrm>
          <a:prstGeom prst="roundRect">
            <a:avLst/>
          </a:prstGeom>
          <a:solidFill>
            <a:srgbClr val="F4F7FA"/>
          </a:solidFill>
          <a:ln w="16510">
            <a:solidFill>
              <a:srgbClr val="F4F7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2" name="CreatedText_52">
            <a:extLst>
              <a:ext uri="{FF2B5EF4-FFF2-40B4-BE49-F238E27FC236}">
                <a16:creationId xmlns:a16="http://schemas.microsoft.com/office/drawing/2014/main" id="{A8773B58-BCC6-E35B-7A6B-70A031A7A600}"/>
              </a:ext>
            </a:extLst>
          </p:cNvPr>
          <p:cNvSpPr txBox="1"/>
          <p:nvPr/>
        </p:nvSpPr>
        <p:spPr>
          <a:xfrm>
            <a:off x="8801100" y="5308599"/>
            <a:ext cx="2844800" cy="508000"/>
          </a:xfrm>
          <a:prstGeom prst="rect">
            <a:avLst/>
          </a:prstGeom>
          <a:noFill/>
        </p:spPr>
        <p:txBody>
          <a:bodyPr vert="horz" wrap="square" lIns="0" tIns="0" rIns="0" bIns="0" rtlCol="0">
            <a:noAutofit/>
          </a:bodyPr>
          <a:lstStyle/>
          <a:p>
            <a:pPr>
              <a:spcAft>
                <a:spcPts val="600"/>
              </a:spcAft>
            </a:pPr>
            <a:r>
              <a:rPr lang="it-IT" sz="1600">
                <a:solidFill>
                  <a:srgbClr val="303030"/>
                </a:solidFill>
                <a:latin typeface="Calibri" panose="020F0502020204030204" pitchFamily="34" charset="0"/>
              </a:rPr>
              <a:t>Con MCP e A2A</a:t>
            </a:r>
          </a:p>
        </p:txBody>
      </p:sp>
      <p:sp>
        <p:nvSpPr>
          <p:cNvPr id="53" name="CreatedText_53">
            <a:extLst>
              <a:ext uri="{FF2B5EF4-FFF2-40B4-BE49-F238E27FC236}">
                <a16:creationId xmlns:a16="http://schemas.microsoft.com/office/drawing/2014/main" id="{17AE80CA-CCBA-328B-8123-1F4ED4103DEC}"/>
              </a:ext>
            </a:extLst>
          </p:cNvPr>
          <p:cNvSpPr txBox="1"/>
          <p:nvPr/>
        </p:nvSpPr>
        <p:spPr>
          <a:xfrm>
            <a:off x="571500" y="6070599"/>
            <a:ext cx="11201400" cy="355600"/>
          </a:xfrm>
          <a:prstGeom prst="rect">
            <a:avLst/>
          </a:prstGeom>
          <a:noFill/>
        </p:spPr>
        <p:txBody>
          <a:bodyPr vert="horz" wrap="square" lIns="0" tIns="0" rIns="0" bIns="0" rtlCol="0">
            <a:noAutofit/>
          </a:bodyPr>
          <a:lstStyle/>
          <a:p>
            <a:pPr>
              <a:spcAft>
                <a:spcPts val="600"/>
              </a:spcAft>
            </a:pPr>
            <a:r>
              <a:rPr lang="it-IT" sz="2100" b="1">
                <a:solidFill>
                  <a:srgbClr val="303030"/>
                </a:solidFill>
                <a:latin typeface="Calibri" panose="020F0502020204030204" pitchFamily="34" charset="0"/>
              </a:rPr>
              <a:t>Sono complementari: scegli quale responsabilità distribuire.</a:t>
            </a:r>
          </a:p>
        </p:txBody>
      </p:sp>
    </p:spTree>
    <p:custDataLst>
      <p:tags r:id="rId1"/>
    </p:custDataLst>
    <p:extLst>
      <p:ext uri="{BB962C8B-B14F-4D97-AF65-F5344CB8AC3E}">
        <p14:creationId xmlns:p14="http://schemas.microsoft.com/office/powerpoint/2010/main" val="3883976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egnaposto contenuto 4">
            <a:extLst>
              <a:ext uri="{FF2B5EF4-FFF2-40B4-BE49-F238E27FC236}">
                <a16:creationId xmlns:a16="http://schemas.microsoft.com/office/drawing/2014/main" id="{F0DA3364-A0B0-3A2C-07F8-1CECC2A154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65269" y="1473874"/>
            <a:ext cx="5861461" cy="5447711"/>
          </a:xfrm>
          <a:prstGeom prst="rect">
            <a:avLst/>
          </a:prstGeom>
        </p:spPr>
      </p:pic>
      <p:sp>
        <p:nvSpPr>
          <p:cNvPr id="3" name="Titolo 2">
            <a:extLst>
              <a:ext uri="{FF2B5EF4-FFF2-40B4-BE49-F238E27FC236}">
                <a16:creationId xmlns:a16="http://schemas.microsoft.com/office/drawing/2014/main" id="{7B9640DD-0CF5-4C39-9017-442CF720E908}"/>
              </a:ext>
            </a:extLst>
          </p:cNvPr>
          <p:cNvSpPr>
            <a:spLocks noGrp="1"/>
          </p:cNvSpPr>
          <p:nvPr>
            <p:ph type="title"/>
          </p:nvPr>
        </p:nvSpPr>
        <p:spPr/>
        <p:txBody>
          <a:bodyPr>
            <a:normAutofit fontScale="90000"/>
          </a:bodyPr>
          <a:lstStyle/>
          <a:p>
            <a:r>
              <a:rPr lang="it-IT" dirty="0"/>
              <a:t>Riassumendo</a:t>
            </a:r>
          </a:p>
        </p:txBody>
      </p:sp>
    </p:spTree>
    <p:extLst>
      <p:ext uri="{BB962C8B-B14F-4D97-AF65-F5344CB8AC3E}">
        <p14:creationId xmlns:p14="http://schemas.microsoft.com/office/powerpoint/2010/main" val="3546583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a:extLst>
              <a:ext uri="{FF2B5EF4-FFF2-40B4-BE49-F238E27FC236}">
                <a16:creationId xmlns:a16="http://schemas.microsoft.com/office/drawing/2014/main" id="{FB6F0A8D-A584-D139-1CDD-94A32E2FDAC1}"/>
              </a:ext>
            </a:extLst>
          </p:cNvPr>
          <p:cNvSpPr>
            <a:spLocks noGrp="1"/>
          </p:cNvSpPr>
          <p:nvPr>
            <p:ph type="title"/>
          </p:nvPr>
        </p:nvSpPr>
        <p:spPr/>
        <p:txBody>
          <a:bodyPr/>
          <a:lstStyle/>
          <a:p>
            <a:endParaRPr lang="it-IT"/>
          </a:p>
        </p:txBody>
      </p:sp>
      <p:sp>
        <p:nvSpPr>
          <p:cNvPr id="13" name="CasellaDiTesto 12">
            <a:extLst>
              <a:ext uri="{FF2B5EF4-FFF2-40B4-BE49-F238E27FC236}">
                <a16:creationId xmlns:a16="http://schemas.microsoft.com/office/drawing/2014/main" id="{62A2F6A7-1F92-4F70-A59D-5CDDD60F886C}"/>
              </a:ext>
            </a:extLst>
          </p:cNvPr>
          <p:cNvSpPr txBox="1"/>
          <p:nvPr/>
        </p:nvSpPr>
        <p:spPr>
          <a:xfrm>
            <a:off x="2818327" y="2092668"/>
            <a:ext cx="6555346" cy="2123658"/>
          </a:xfrm>
          <a:prstGeom prst="rect">
            <a:avLst/>
          </a:prstGeom>
          <a:noFill/>
        </p:spPr>
        <p:txBody>
          <a:bodyPr wrap="square">
            <a:spAutoFit/>
          </a:bodyPr>
          <a:lstStyle/>
          <a:p>
            <a:pPr algn="ctr"/>
            <a:r>
              <a:rPr lang="it-IT" sz="6600" b="1" dirty="0">
                <a:solidFill>
                  <a:srgbClr val="303030"/>
                </a:solidFill>
                <a:latin typeface="Aptos" panose="020B0004020202020204" pitchFamily="34" charset="0"/>
              </a:rPr>
              <a:t>Microsoft Agent Framework</a:t>
            </a:r>
            <a:endParaRPr lang="it-IT" sz="4800" dirty="0"/>
          </a:p>
        </p:txBody>
      </p:sp>
    </p:spTree>
    <p:extLst>
      <p:ext uri="{BB962C8B-B14F-4D97-AF65-F5344CB8AC3E}">
        <p14:creationId xmlns:p14="http://schemas.microsoft.com/office/powerpoint/2010/main" val="3616646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5FB59C41-9BC4-C311-BBC3-9D7A496A694B}"/>
              </a:ext>
            </a:extLst>
          </p:cNvPr>
          <p:cNvSpPr txBox="1"/>
          <p:nvPr/>
        </p:nvSpPr>
        <p:spPr>
          <a:xfrm>
            <a:off x="1625600" y="317499"/>
            <a:ext cx="10160000" cy="685800"/>
          </a:xfrm>
          <a:prstGeom prst="rect">
            <a:avLst/>
          </a:prstGeom>
          <a:noFill/>
        </p:spPr>
        <p:txBody>
          <a:bodyPr vert="horz" lIns="0" tIns="0" rIns="0" bIns="0" rtlCol="0">
            <a:noAutofit/>
          </a:bodyPr>
          <a:lstStyle/>
          <a:p>
            <a:r>
              <a:rPr lang="it-IT" sz="2800" b="1" dirty="0">
                <a:solidFill>
                  <a:srgbClr val="303030"/>
                </a:solidFill>
                <a:latin typeface="Aptos" panose="020B0004020202020204" pitchFamily="34" charset="0"/>
              </a:rPr>
              <a:t>Perché Microsoft Agent Framework?</a:t>
            </a:r>
          </a:p>
        </p:txBody>
      </p:sp>
      <p:sp>
        <p:nvSpPr>
          <p:cNvPr id="5" name="CasellaDiTesto 4">
            <a:extLst>
              <a:ext uri="{FF2B5EF4-FFF2-40B4-BE49-F238E27FC236}">
                <a16:creationId xmlns:a16="http://schemas.microsoft.com/office/drawing/2014/main" id="{51A605C2-1D55-92D8-2ECE-B74799A80559}"/>
              </a:ext>
            </a:extLst>
          </p:cNvPr>
          <p:cNvSpPr txBox="1"/>
          <p:nvPr/>
        </p:nvSpPr>
        <p:spPr>
          <a:xfrm>
            <a:off x="571500" y="6553199"/>
            <a:ext cx="10985500" cy="190500"/>
          </a:xfrm>
          <a:prstGeom prst="rect">
            <a:avLst/>
          </a:prstGeom>
          <a:noFill/>
        </p:spPr>
        <p:txBody>
          <a:bodyPr vert="horz" lIns="0" tIns="0" rIns="0" bIns="0" rtlCol="0">
            <a:noAutofit/>
          </a:bodyPr>
          <a:lstStyle/>
          <a:p>
            <a:r>
              <a:rPr lang="it-IT" sz="900">
                <a:solidFill>
                  <a:srgbClr val="4E5F70"/>
                </a:solidFill>
                <a:latin typeface="Aptos" panose="020B0004020202020204" pitchFamily="34" charset="0"/>
              </a:rPr>
              <a:t>Azure Day Torino 2026 | MCP - A2A - Skill | Prompt e costi</a:t>
            </a:r>
          </a:p>
        </p:txBody>
      </p:sp>
      <p:sp>
        <p:nvSpPr>
          <p:cNvPr id="6" name="Rettangolo con angoli arrotondati 5">
            <a:extLst>
              <a:ext uri="{FF2B5EF4-FFF2-40B4-BE49-F238E27FC236}">
                <a16:creationId xmlns:a16="http://schemas.microsoft.com/office/drawing/2014/main" id="{2FC61C1A-E093-9D6D-5B88-7D047F31F21A}"/>
              </a:ext>
            </a:extLst>
          </p:cNvPr>
          <p:cNvSpPr/>
          <p:nvPr/>
        </p:nvSpPr>
        <p:spPr>
          <a:xfrm>
            <a:off x="571500" y="1651000"/>
            <a:ext cx="3581400" cy="36195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555FC5F0-A394-91B6-DE8B-193292612528}"/>
              </a:ext>
            </a:extLst>
          </p:cNvPr>
          <p:cNvSpPr txBox="1"/>
          <p:nvPr/>
        </p:nvSpPr>
        <p:spPr>
          <a:xfrm>
            <a:off x="774700" y="1854199"/>
            <a:ext cx="3175000" cy="533400"/>
          </a:xfrm>
          <a:prstGeom prst="rect">
            <a:avLst/>
          </a:prstGeom>
          <a:noFill/>
        </p:spPr>
        <p:txBody>
          <a:bodyPr vert="horz" lIns="0" tIns="0" rIns="0" bIns="0" rtlCol="0">
            <a:noAutofit/>
          </a:bodyPr>
          <a:lstStyle/>
          <a:p>
            <a:r>
              <a:rPr lang="it-IT" sz="2000" b="1">
                <a:solidFill>
                  <a:srgbClr val="008278"/>
                </a:solidFill>
                <a:latin typeface="Aptos" panose="020B0004020202020204" pitchFamily="34" charset="0"/>
              </a:rPr>
              <a:t>MENO PLUMBING</a:t>
            </a:r>
          </a:p>
        </p:txBody>
      </p:sp>
      <p:sp>
        <p:nvSpPr>
          <p:cNvPr id="8" name="CasellaDiTesto 7">
            <a:extLst>
              <a:ext uri="{FF2B5EF4-FFF2-40B4-BE49-F238E27FC236}">
                <a16:creationId xmlns:a16="http://schemas.microsoft.com/office/drawing/2014/main" id="{A5930B3E-B108-A939-ADCE-73D689A9CB50}"/>
              </a:ext>
            </a:extLst>
          </p:cNvPr>
          <p:cNvSpPr txBox="1"/>
          <p:nvPr/>
        </p:nvSpPr>
        <p:spPr>
          <a:xfrm>
            <a:off x="77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Un runtime per modello e tool.</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Sessioni e context provider.</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Streaming e cancellazione.</a:t>
            </a:r>
          </a:p>
        </p:txBody>
      </p:sp>
      <p:sp>
        <p:nvSpPr>
          <p:cNvPr id="9" name="Rettangolo con angoli arrotondati 8">
            <a:extLst>
              <a:ext uri="{FF2B5EF4-FFF2-40B4-BE49-F238E27FC236}">
                <a16:creationId xmlns:a16="http://schemas.microsoft.com/office/drawing/2014/main" id="{9DD33742-29F8-89C3-DB3E-33C859638879}"/>
              </a:ext>
            </a:extLst>
          </p:cNvPr>
          <p:cNvSpPr/>
          <p:nvPr/>
        </p:nvSpPr>
        <p:spPr>
          <a:xfrm>
            <a:off x="4381500" y="1651000"/>
            <a:ext cx="3581400" cy="3619500"/>
          </a:xfrm>
          <a:prstGeom prst="roundRect">
            <a:avLst/>
          </a:prstGeom>
          <a:solidFill>
            <a:srgbClr val="F2F2F2"/>
          </a:solidFill>
          <a:ln>
            <a:solidFill>
              <a:srgbClr val="C06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512BE924-7DBC-9CD1-F515-0659C124A570}"/>
              </a:ext>
            </a:extLst>
          </p:cNvPr>
          <p:cNvSpPr txBox="1"/>
          <p:nvPr/>
        </p:nvSpPr>
        <p:spPr>
          <a:xfrm>
            <a:off x="4584700" y="1854199"/>
            <a:ext cx="3175000" cy="533400"/>
          </a:xfrm>
          <a:prstGeom prst="rect">
            <a:avLst/>
          </a:prstGeom>
          <a:noFill/>
        </p:spPr>
        <p:txBody>
          <a:bodyPr vert="horz" lIns="0" tIns="0" rIns="0" bIns="0" rtlCol="0">
            <a:noAutofit/>
          </a:bodyPr>
          <a:lstStyle/>
          <a:p>
            <a:r>
              <a:rPr lang="it-IT" sz="2000" b="1">
                <a:solidFill>
                  <a:srgbClr val="C064AA"/>
                </a:solidFill>
                <a:latin typeface="Aptos" panose="020B0004020202020204" pitchFamily="34" charset="0"/>
              </a:rPr>
              <a:t>CONTROLLO</a:t>
            </a:r>
          </a:p>
        </p:txBody>
      </p:sp>
      <p:sp>
        <p:nvSpPr>
          <p:cNvPr id="11" name="CasellaDiTesto 10">
            <a:extLst>
              <a:ext uri="{FF2B5EF4-FFF2-40B4-BE49-F238E27FC236}">
                <a16:creationId xmlns:a16="http://schemas.microsoft.com/office/drawing/2014/main" id="{E60E84B0-FBDA-82CE-30ED-831B48AD768A}"/>
              </a:ext>
            </a:extLst>
          </p:cNvPr>
          <p:cNvSpPr txBox="1"/>
          <p:nvPr/>
        </p:nvSpPr>
        <p:spPr>
          <a:xfrm>
            <a:off x="4584700" y="2552700"/>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Middleware e telemetria.</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Workflow espliciti quando servono.</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Policy e approvazioni applicative.</a:t>
            </a:r>
          </a:p>
        </p:txBody>
      </p:sp>
      <p:sp>
        <p:nvSpPr>
          <p:cNvPr id="12" name="Rettangolo con angoli arrotondati 11">
            <a:extLst>
              <a:ext uri="{FF2B5EF4-FFF2-40B4-BE49-F238E27FC236}">
                <a16:creationId xmlns:a16="http://schemas.microsoft.com/office/drawing/2014/main" id="{71C32429-668A-5289-1877-4FB91500A441}"/>
              </a:ext>
            </a:extLst>
          </p:cNvPr>
          <p:cNvSpPr/>
          <p:nvPr/>
        </p:nvSpPr>
        <p:spPr>
          <a:xfrm>
            <a:off x="8191500" y="1651000"/>
            <a:ext cx="3581400" cy="3619500"/>
          </a:xfrm>
          <a:prstGeom prst="roundRect">
            <a:avLst/>
          </a:prstGeom>
          <a:solidFill>
            <a:srgbClr val="F2F2F2"/>
          </a:solidFill>
          <a:ln>
            <a:solidFill>
              <a:srgbClr val="C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8AB8DA8D-1052-FACE-B836-32DF61F94B63}"/>
              </a:ext>
            </a:extLst>
          </p:cNvPr>
          <p:cNvSpPr txBox="1"/>
          <p:nvPr/>
        </p:nvSpPr>
        <p:spPr>
          <a:xfrm>
            <a:off x="8394700" y="1854199"/>
            <a:ext cx="3175000" cy="533400"/>
          </a:xfrm>
          <a:prstGeom prst="rect">
            <a:avLst/>
          </a:prstGeom>
          <a:noFill/>
        </p:spPr>
        <p:txBody>
          <a:bodyPr vert="horz" lIns="0" tIns="0" rIns="0" bIns="0" rtlCol="0">
            <a:noAutofit/>
          </a:bodyPr>
          <a:lstStyle/>
          <a:p>
            <a:r>
              <a:rPr lang="it-IT" sz="2000" b="1">
                <a:solidFill>
                  <a:srgbClr val="C08000"/>
                </a:solidFill>
                <a:latin typeface="Aptos" panose="020B0004020202020204" pitchFamily="34" charset="0"/>
              </a:rPr>
              <a:t>INTEGRAZIONI</a:t>
            </a:r>
          </a:p>
        </p:txBody>
      </p:sp>
      <p:sp>
        <p:nvSpPr>
          <p:cNvPr id="14" name="CasellaDiTesto 13">
            <a:extLst>
              <a:ext uri="{FF2B5EF4-FFF2-40B4-BE49-F238E27FC236}">
                <a16:creationId xmlns:a16="http://schemas.microsoft.com/office/drawing/2014/main" id="{01325F60-4AC6-E348-BEF9-8E93973826F4}"/>
              </a:ext>
            </a:extLst>
          </p:cNvPr>
          <p:cNvSpPr txBox="1"/>
          <p:nvPr/>
        </p:nvSpPr>
        <p:spPr>
          <a:xfrm>
            <a:off x="839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Client dei modelli.</a:t>
            </a:r>
          </a:p>
          <a:p>
            <a:r>
              <a:rPr lang="it-IT" sz="2000">
                <a:solidFill>
                  <a:srgbClr val="303030"/>
                </a:solidFill>
                <a:latin typeface="Aptos" panose="020B0004020202020204" pitchFamily="34" charset="0"/>
              </a:rPr>
              <a:t>Funzioni C# e MCP.</a:t>
            </a:r>
          </a:p>
          <a:p>
            <a:r>
              <a:rPr lang="it-IT" sz="2000">
                <a:solidFill>
                  <a:srgbClr val="303030"/>
                </a:solidFill>
                <a:latin typeface="Aptos" panose="020B0004020202020204" pitchFamily="34" charset="0"/>
              </a:rPr>
              <a:t>Agenti remoti e Skill.</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Capacità variabili per provider.</a:t>
            </a:r>
          </a:p>
        </p:txBody>
      </p:sp>
      <p:sp>
        <p:nvSpPr>
          <p:cNvPr id="15" name="CasellaDiTesto 14">
            <a:extLst>
              <a:ext uri="{FF2B5EF4-FFF2-40B4-BE49-F238E27FC236}">
                <a16:creationId xmlns:a16="http://schemas.microsoft.com/office/drawing/2014/main" id="{399DB32E-808A-175C-7BD2-2599F69340C4}"/>
              </a:ext>
            </a:extLst>
          </p:cNvPr>
          <p:cNvSpPr txBox="1"/>
          <p:nvPr/>
        </p:nvSpPr>
        <p:spPr>
          <a:xfrm>
            <a:off x="571500" y="5626100"/>
            <a:ext cx="11201400" cy="660400"/>
          </a:xfrm>
          <a:prstGeom prst="rect">
            <a:avLst/>
          </a:prstGeom>
          <a:noFill/>
        </p:spPr>
        <p:txBody>
          <a:bodyPr vert="horz" lIns="0" tIns="0" rIns="0" bIns="0" rtlCol="0">
            <a:noAutofit/>
          </a:bodyPr>
          <a:lstStyle/>
          <a:p>
            <a:r>
              <a:rPr lang="it-IT" sz="2200" b="1">
                <a:solidFill>
                  <a:srgbClr val="303030"/>
                </a:solidFill>
                <a:latin typeface="Aptos" panose="020B0004020202020204" pitchFamily="34" charset="0"/>
              </a:rPr>
              <a:t>È utile per governare il ciclo agentico. Non serve un framework per ogni chiamata LLM.</a:t>
            </a:r>
          </a:p>
        </p:txBody>
      </p:sp>
    </p:spTree>
    <p:custDataLst>
      <p:tags r:id="rId1"/>
    </p:custDataLst>
    <p:extLst>
      <p:ext uri="{BB962C8B-B14F-4D97-AF65-F5344CB8AC3E}">
        <p14:creationId xmlns:p14="http://schemas.microsoft.com/office/powerpoint/2010/main" val="3452882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24F8CC6-E4AE-7A37-513D-A89A77E91CE4}"/>
              </a:ext>
            </a:extLst>
          </p:cNvPr>
          <p:cNvSpPr txBox="1"/>
          <p:nvPr/>
        </p:nvSpPr>
        <p:spPr>
          <a:xfrm>
            <a:off x="1625600" y="317499"/>
            <a:ext cx="10160000" cy="685800"/>
          </a:xfrm>
          <a:prstGeom prst="rect">
            <a:avLst/>
          </a:prstGeom>
          <a:noFill/>
        </p:spPr>
        <p:txBody>
          <a:bodyPr vert="horz" lIns="0" tIns="0" rIns="0" bIns="0" rtlCol="0">
            <a:noAutofit/>
          </a:bodyPr>
          <a:lstStyle/>
          <a:p>
            <a:r>
              <a:rPr lang="it-IT" sz="2800" b="1">
                <a:solidFill>
                  <a:srgbClr val="303030"/>
                </a:solidFill>
                <a:latin typeface="Aptos" panose="020B0004020202020204" pitchFamily="34" charset="0"/>
              </a:rPr>
              <a:t>Agent Framework: il runtime, non il cervello</a:t>
            </a:r>
          </a:p>
        </p:txBody>
      </p:sp>
      <p:sp>
        <p:nvSpPr>
          <p:cNvPr id="5" name="CasellaDiTesto 4">
            <a:extLst>
              <a:ext uri="{FF2B5EF4-FFF2-40B4-BE49-F238E27FC236}">
                <a16:creationId xmlns:a16="http://schemas.microsoft.com/office/drawing/2014/main" id="{817438ED-2F23-2CFB-2980-65FD14BE6E50}"/>
              </a:ext>
            </a:extLst>
          </p:cNvPr>
          <p:cNvSpPr txBox="1"/>
          <p:nvPr/>
        </p:nvSpPr>
        <p:spPr>
          <a:xfrm>
            <a:off x="571500" y="6553199"/>
            <a:ext cx="10985500" cy="190500"/>
          </a:xfrm>
          <a:prstGeom prst="rect">
            <a:avLst/>
          </a:prstGeom>
          <a:noFill/>
        </p:spPr>
        <p:txBody>
          <a:bodyPr vert="horz" lIns="0" tIns="0" rIns="0" bIns="0" rtlCol="0">
            <a:noAutofit/>
          </a:bodyPr>
          <a:lstStyle/>
          <a:p>
            <a:r>
              <a:rPr lang="it-IT" sz="900">
                <a:solidFill>
                  <a:srgbClr val="4E5F70"/>
                </a:solidFill>
                <a:latin typeface="Aptos" panose="020B0004020202020204" pitchFamily="34" charset="0"/>
              </a:rPr>
              <a:t>Azure Day Torino 2026 | MCP - A2A - Skill | Prompt e costi</a:t>
            </a:r>
          </a:p>
        </p:txBody>
      </p:sp>
      <p:sp>
        <p:nvSpPr>
          <p:cNvPr id="6" name="Rettangolo con angoli arrotondati 5">
            <a:extLst>
              <a:ext uri="{FF2B5EF4-FFF2-40B4-BE49-F238E27FC236}">
                <a16:creationId xmlns:a16="http://schemas.microsoft.com/office/drawing/2014/main" id="{F8B9C413-9EA2-FE32-A2CB-82C8C536E0FB}"/>
              </a:ext>
            </a:extLst>
          </p:cNvPr>
          <p:cNvSpPr/>
          <p:nvPr/>
        </p:nvSpPr>
        <p:spPr>
          <a:xfrm>
            <a:off x="571500" y="2006600"/>
            <a:ext cx="2495550" cy="22733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0560A0A7-C675-C138-477A-7509B17B4EB9}"/>
              </a:ext>
            </a:extLst>
          </p:cNvPr>
          <p:cNvSpPr txBox="1"/>
          <p:nvPr/>
        </p:nvSpPr>
        <p:spPr>
          <a:xfrm>
            <a:off x="723900" y="2222499"/>
            <a:ext cx="2190750" cy="482600"/>
          </a:xfrm>
          <a:prstGeom prst="rect">
            <a:avLst/>
          </a:prstGeom>
          <a:noFill/>
        </p:spPr>
        <p:txBody>
          <a:bodyPr vert="horz" lIns="0" tIns="0" rIns="0" bIns="0" rtlCol="0">
            <a:noAutofit/>
          </a:bodyPr>
          <a:lstStyle/>
          <a:p>
            <a:r>
              <a:rPr lang="it-IT" sz="2000" b="1">
                <a:solidFill>
                  <a:srgbClr val="008278"/>
                </a:solidFill>
                <a:latin typeface="Aptos" panose="020B0004020202020204" pitchFamily="34" charset="0"/>
              </a:rPr>
              <a:t>APP / WEB</a:t>
            </a:r>
          </a:p>
        </p:txBody>
      </p:sp>
      <p:sp>
        <p:nvSpPr>
          <p:cNvPr id="8" name="CasellaDiTesto 7">
            <a:extLst>
              <a:ext uri="{FF2B5EF4-FFF2-40B4-BE49-F238E27FC236}">
                <a16:creationId xmlns:a16="http://schemas.microsoft.com/office/drawing/2014/main" id="{B69EF25D-5144-DA33-94E6-3B3C09287BEF}"/>
              </a:ext>
            </a:extLst>
          </p:cNvPr>
          <p:cNvSpPr txBox="1"/>
          <p:nvPr/>
        </p:nvSpPr>
        <p:spPr>
          <a:xfrm>
            <a:off x="723900" y="2870199"/>
            <a:ext cx="2190750" cy="1295400"/>
          </a:xfrm>
          <a:prstGeom prst="rect">
            <a:avLst/>
          </a:prstGeom>
          <a:noFill/>
        </p:spPr>
        <p:txBody>
          <a:bodyPr vert="horz" lIns="0" tIns="0" rIns="0" bIns="0" rtlCol="0">
            <a:noAutofit/>
          </a:bodyPr>
          <a:lstStyle/>
          <a:p>
            <a:r>
              <a:rPr lang="it-IT">
                <a:solidFill>
                  <a:srgbClr val="303030"/>
                </a:solidFill>
                <a:latin typeface="Aptos" panose="020B0004020202020204" pitchFamily="34" charset="0"/>
              </a:rPr>
              <a:t>Input utente</a:t>
            </a:r>
          </a:p>
          <a:p>
            <a:r>
              <a:rPr lang="it-IT">
                <a:solidFill>
                  <a:srgbClr val="303030"/>
                </a:solidFill>
                <a:latin typeface="Aptos" panose="020B0004020202020204" pitchFamily="34" charset="0"/>
              </a:rPr>
              <a:t>Sessione</a:t>
            </a:r>
          </a:p>
          <a:p>
            <a:r>
              <a:rPr lang="it-IT">
                <a:solidFill>
                  <a:srgbClr val="303030"/>
                </a:solidFill>
                <a:latin typeface="Aptos" panose="020B0004020202020204" pitchFamily="34" charset="0"/>
              </a:rPr>
              <a:t>Policy</a:t>
            </a:r>
          </a:p>
        </p:txBody>
      </p:sp>
      <p:sp>
        <p:nvSpPr>
          <p:cNvPr id="9" name="Freccia a destra 8">
            <a:extLst>
              <a:ext uri="{FF2B5EF4-FFF2-40B4-BE49-F238E27FC236}">
                <a16:creationId xmlns:a16="http://schemas.microsoft.com/office/drawing/2014/main" id="{AC238FEF-52C3-C7D1-FEA9-E1C7C0398E83}"/>
              </a:ext>
            </a:extLst>
          </p:cNvPr>
          <p:cNvSpPr/>
          <p:nvPr/>
        </p:nvSpPr>
        <p:spPr>
          <a:xfrm>
            <a:off x="3117850" y="2971800"/>
            <a:ext cx="304800" cy="254000"/>
          </a:xfrm>
          <a:prstGeom prst="rightArrow">
            <a:avLst/>
          </a:prstGeom>
          <a:solidFill>
            <a:srgbClr val="00827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Rettangolo con angoli arrotondati 9">
            <a:extLst>
              <a:ext uri="{FF2B5EF4-FFF2-40B4-BE49-F238E27FC236}">
                <a16:creationId xmlns:a16="http://schemas.microsoft.com/office/drawing/2014/main" id="{10651BDB-3603-C45C-D973-DF7BD35B29CC}"/>
              </a:ext>
            </a:extLst>
          </p:cNvPr>
          <p:cNvSpPr/>
          <p:nvPr/>
        </p:nvSpPr>
        <p:spPr>
          <a:xfrm>
            <a:off x="3473450" y="2006600"/>
            <a:ext cx="2495550" cy="22733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CasellaDiTesto 10">
            <a:extLst>
              <a:ext uri="{FF2B5EF4-FFF2-40B4-BE49-F238E27FC236}">
                <a16:creationId xmlns:a16="http://schemas.microsoft.com/office/drawing/2014/main" id="{AB38E08A-57F5-7434-4DB6-19C9F37CED36}"/>
              </a:ext>
            </a:extLst>
          </p:cNvPr>
          <p:cNvSpPr txBox="1"/>
          <p:nvPr/>
        </p:nvSpPr>
        <p:spPr>
          <a:xfrm>
            <a:off x="3625850" y="2222499"/>
            <a:ext cx="2190750" cy="482600"/>
          </a:xfrm>
          <a:prstGeom prst="rect">
            <a:avLst/>
          </a:prstGeom>
          <a:noFill/>
        </p:spPr>
        <p:txBody>
          <a:bodyPr vert="horz" lIns="0" tIns="0" rIns="0" bIns="0" rtlCol="0">
            <a:noAutofit/>
          </a:bodyPr>
          <a:lstStyle/>
          <a:p>
            <a:r>
              <a:rPr lang="it-IT" sz="2000" b="1">
                <a:solidFill>
                  <a:srgbClr val="008278"/>
                </a:solidFill>
                <a:latin typeface="Aptos" panose="020B0004020202020204" pitchFamily="34" charset="0"/>
              </a:rPr>
              <a:t>MAF</a:t>
            </a:r>
          </a:p>
        </p:txBody>
      </p:sp>
      <p:sp>
        <p:nvSpPr>
          <p:cNvPr id="12" name="CasellaDiTesto 11">
            <a:extLst>
              <a:ext uri="{FF2B5EF4-FFF2-40B4-BE49-F238E27FC236}">
                <a16:creationId xmlns:a16="http://schemas.microsoft.com/office/drawing/2014/main" id="{31AEBA11-BE1A-96C5-74D4-D5EC6CDB9BE6}"/>
              </a:ext>
            </a:extLst>
          </p:cNvPr>
          <p:cNvSpPr txBox="1"/>
          <p:nvPr/>
        </p:nvSpPr>
        <p:spPr>
          <a:xfrm>
            <a:off x="3625850" y="2870199"/>
            <a:ext cx="2190750" cy="1295400"/>
          </a:xfrm>
          <a:prstGeom prst="rect">
            <a:avLst/>
          </a:prstGeom>
          <a:noFill/>
        </p:spPr>
        <p:txBody>
          <a:bodyPr vert="horz" lIns="0" tIns="0" rIns="0" bIns="0" rtlCol="0">
            <a:noAutofit/>
          </a:bodyPr>
          <a:lstStyle/>
          <a:p>
            <a:r>
              <a:rPr lang="it-IT">
                <a:solidFill>
                  <a:srgbClr val="303030"/>
                </a:solidFill>
                <a:latin typeface="Aptos" panose="020B0004020202020204" pitchFamily="34" charset="0"/>
              </a:rPr>
              <a:t>Contesto</a:t>
            </a:r>
          </a:p>
          <a:p>
            <a:r>
              <a:rPr lang="it-IT">
                <a:solidFill>
                  <a:srgbClr val="303030"/>
                </a:solidFill>
                <a:latin typeface="Aptos" panose="020B0004020202020204" pitchFamily="34" charset="0"/>
              </a:rPr>
              <a:t>Tool schema</a:t>
            </a:r>
          </a:p>
          <a:p>
            <a:r>
              <a:rPr lang="it-IT">
                <a:solidFill>
                  <a:srgbClr val="303030"/>
                </a:solidFill>
                <a:latin typeface="Aptos" panose="020B0004020202020204" pitchFamily="34" charset="0"/>
              </a:rPr>
              <a:t>Loop e telemetria</a:t>
            </a:r>
          </a:p>
        </p:txBody>
      </p:sp>
      <p:sp>
        <p:nvSpPr>
          <p:cNvPr id="13" name="Freccia a destra 12">
            <a:extLst>
              <a:ext uri="{FF2B5EF4-FFF2-40B4-BE49-F238E27FC236}">
                <a16:creationId xmlns:a16="http://schemas.microsoft.com/office/drawing/2014/main" id="{3997358E-8D4F-F96B-0743-C4FC5D316E6B}"/>
              </a:ext>
            </a:extLst>
          </p:cNvPr>
          <p:cNvSpPr/>
          <p:nvPr/>
        </p:nvSpPr>
        <p:spPr>
          <a:xfrm>
            <a:off x="6019800" y="2971800"/>
            <a:ext cx="304800" cy="254000"/>
          </a:xfrm>
          <a:prstGeom prst="rightArrow">
            <a:avLst/>
          </a:prstGeom>
          <a:solidFill>
            <a:srgbClr val="00827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 name="Rettangolo con angoli arrotondati 13">
            <a:extLst>
              <a:ext uri="{FF2B5EF4-FFF2-40B4-BE49-F238E27FC236}">
                <a16:creationId xmlns:a16="http://schemas.microsoft.com/office/drawing/2014/main" id="{D94B0F4F-D3C1-F78F-8624-C069D3AB6CD8}"/>
              </a:ext>
            </a:extLst>
          </p:cNvPr>
          <p:cNvSpPr/>
          <p:nvPr/>
        </p:nvSpPr>
        <p:spPr>
          <a:xfrm>
            <a:off x="6375400" y="2006600"/>
            <a:ext cx="2495550" cy="22733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CasellaDiTesto 14">
            <a:extLst>
              <a:ext uri="{FF2B5EF4-FFF2-40B4-BE49-F238E27FC236}">
                <a16:creationId xmlns:a16="http://schemas.microsoft.com/office/drawing/2014/main" id="{2DA1419B-249C-A2F7-FA86-D1677933E0A8}"/>
              </a:ext>
            </a:extLst>
          </p:cNvPr>
          <p:cNvSpPr txBox="1"/>
          <p:nvPr/>
        </p:nvSpPr>
        <p:spPr>
          <a:xfrm>
            <a:off x="6527800" y="2222499"/>
            <a:ext cx="2190750" cy="482600"/>
          </a:xfrm>
          <a:prstGeom prst="rect">
            <a:avLst/>
          </a:prstGeom>
          <a:noFill/>
        </p:spPr>
        <p:txBody>
          <a:bodyPr vert="horz" lIns="0" tIns="0" rIns="0" bIns="0" rtlCol="0">
            <a:noAutofit/>
          </a:bodyPr>
          <a:lstStyle/>
          <a:p>
            <a:r>
              <a:rPr lang="it-IT" sz="2000" b="1">
                <a:solidFill>
                  <a:srgbClr val="008278"/>
                </a:solidFill>
                <a:latin typeface="Aptos" panose="020B0004020202020204" pitchFamily="34" charset="0"/>
              </a:rPr>
              <a:t>MODELLO</a:t>
            </a:r>
          </a:p>
        </p:txBody>
      </p:sp>
      <p:sp>
        <p:nvSpPr>
          <p:cNvPr id="16" name="CasellaDiTesto 15">
            <a:extLst>
              <a:ext uri="{FF2B5EF4-FFF2-40B4-BE49-F238E27FC236}">
                <a16:creationId xmlns:a16="http://schemas.microsoft.com/office/drawing/2014/main" id="{10AF4484-CF5F-BD61-2720-93D2E0145BC6}"/>
              </a:ext>
            </a:extLst>
          </p:cNvPr>
          <p:cNvSpPr txBox="1"/>
          <p:nvPr/>
        </p:nvSpPr>
        <p:spPr>
          <a:xfrm>
            <a:off x="6527800" y="2870200"/>
            <a:ext cx="2190750" cy="1295400"/>
          </a:xfrm>
          <a:prstGeom prst="rect">
            <a:avLst/>
          </a:prstGeom>
          <a:noFill/>
        </p:spPr>
        <p:txBody>
          <a:bodyPr vert="horz" lIns="0" tIns="0" rIns="0" bIns="0" rtlCol="0">
            <a:noAutofit/>
          </a:bodyPr>
          <a:lstStyle/>
          <a:p>
            <a:r>
              <a:rPr lang="it-IT">
                <a:solidFill>
                  <a:srgbClr val="303030"/>
                </a:solidFill>
                <a:latin typeface="Aptos" panose="020B0004020202020204" pitchFamily="34" charset="0"/>
              </a:rPr>
              <a:t>Risposta oppure</a:t>
            </a:r>
          </a:p>
          <a:p>
            <a:r>
              <a:rPr lang="it-IT">
                <a:solidFill>
                  <a:srgbClr val="303030"/>
                </a:solidFill>
                <a:latin typeface="Aptos" panose="020B0004020202020204" pitchFamily="34" charset="0"/>
              </a:rPr>
              <a:t>tool call strutturata</a:t>
            </a:r>
          </a:p>
        </p:txBody>
      </p:sp>
      <p:sp>
        <p:nvSpPr>
          <p:cNvPr id="17" name="Freccia a destra 16">
            <a:extLst>
              <a:ext uri="{FF2B5EF4-FFF2-40B4-BE49-F238E27FC236}">
                <a16:creationId xmlns:a16="http://schemas.microsoft.com/office/drawing/2014/main" id="{53E7AFD1-0F61-B5BA-A7EA-1757B5AD5B3A}"/>
              </a:ext>
            </a:extLst>
          </p:cNvPr>
          <p:cNvSpPr/>
          <p:nvPr/>
        </p:nvSpPr>
        <p:spPr>
          <a:xfrm>
            <a:off x="8921750" y="2971800"/>
            <a:ext cx="304800" cy="254000"/>
          </a:xfrm>
          <a:prstGeom prst="rightArrow">
            <a:avLst/>
          </a:prstGeom>
          <a:solidFill>
            <a:srgbClr val="00827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Rettangolo con angoli arrotondati 17">
            <a:extLst>
              <a:ext uri="{FF2B5EF4-FFF2-40B4-BE49-F238E27FC236}">
                <a16:creationId xmlns:a16="http://schemas.microsoft.com/office/drawing/2014/main" id="{E469E994-4028-A9AB-12E6-191C3CB7C82B}"/>
              </a:ext>
            </a:extLst>
          </p:cNvPr>
          <p:cNvSpPr/>
          <p:nvPr/>
        </p:nvSpPr>
        <p:spPr>
          <a:xfrm>
            <a:off x="9277350" y="2006600"/>
            <a:ext cx="2495550" cy="22733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9" name="CasellaDiTesto 18">
            <a:extLst>
              <a:ext uri="{FF2B5EF4-FFF2-40B4-BE49-F238E27FC236}">
                <a16:creationId xmlns:a16="http://schemas.microsoft.com/office/drawing/2014/main" id="{EE25581C-2357-CE2B-709B-C091D2EEBDCE}"/>
              </a:ext>
            </a:extLst>
          </p:cNvPr>
          <p:cNvSpPr txBox="1"/>
          <p:nvPr/>
        </p:nvSpPr>
        <p:spPr>
          <a:xfrm>
            <a:off x="9429750" y="2222499"/>
            <a:ext cx="2190750" cy="482600"/>
          </a:xfrm>
          <a:prstGeom prst="rect">
            <a:avLst/>
          </a:prstGeom>
          <a:noFill/>
        </p:spPr>
        <p:txBody>
          <a:bodyPr vert="horz" lIns="0" tIns="0" rIns="0" bIns="0" rtlCol="0">
            <a:noAutofit/>
          </a:bodyPr>
          <a:lstStyle/>
          <a:p>
            <a:r>
              <a:rPr lang="it-IT" sz="2000" b="1">
                <a:solidFill>
                  <a:srgbClr val="008278"/>
                </a:solidFill>
                <a:latin typeface="Aptos" panose="020B0004020202020204" pitchFamily="34" charset="0"/>
              </a:rPr>
              <a:t>TOOL / AGENTE</a:t>
            </a:r>
          </a:p>
        </p:txBody>
      </p:sp>
      <p:sp>
        <p:nvSpPr>
          <p:cNvPr id="20" name="CasellaDiTesto 19">
            <a:extLst>
              <a:ext uri="{FF2B5EF4-FFF2-40B4-BE49-F238E27FC236}">
                <a16:creationId xmlns:a16="http://schemas.microsoft.com/office/drawing/2014/main" id="{94DFC353-6B8F-0333-229D-1F4607A8AC48}"/>
              </a:ext>
            </a:extLst>
          </p:cNvPr>
          <p:cNvSpPr txBox="1"/>
          <p:nvPr/>
        </p:nvSpPr>
        <p:spPr>
          <a:xfrm>
            <a:off x="9429750" y="2870199"/>
            <a:ext cx="2190750" cy="1295400"/>
          </a:xfrm>
          <a:prstGeom prst="rect">
            <a:avLst/>
          </a:prstGeom>
          <a:noFill/>
        </p:spPr>
        <p:txBody>
          <a:bodyPr vert="horz" lIns="0" tIns="0" rIns="0" bIns="0" rtlCol="0">
            <a:noAutofit/>
          </a:bodyPr>
          <a:lstStyle/>
          <a:p>
            <a:r>
              <a:rPr lang="it-IT">
                <a:solidFill>
                  <a:srgbClr val="303030"/>
                </a:solidFill>
                <a:latin typeface="Aptos" panose="020B0004020202020204" pitchFamily="34" charset="0"/>
              </a:rPr>
              <a:t>Funzione / MCP</a:t>
            </a:r>
          </a:p>
          <a:p>
            <a:r>
              <a:rPr lang="it-IT">
                <a:solidFill>
                  <a:srgbClr val="303030"/>
                </a:solidFill>
                <a:latin typeface="Aptos" panose="020B0004020202020204" pitchFamily="34" charset="0"/>
              </a:rPr>
              <a:t>Delega A2A</a:t>
            </a:r>
          </a:p>
          <a:p>
            <a:r>
              <a:rPr lang="it-IT">
                <a:solidFill>
                  <a:srgbClr val="303030"/>
                </a:solidFill>
                <a:latin typeface="Aptos" panose="020B0004020202020204" pitchFamily="34" charset="0"/>
              </a:rPr>
              <a:t>Risultato</a:t>
            </a:r>
          </a:p>
        </p:txBody>
      </p:sp>
      <p:sp>
        <p:nvSpPr>
          <p:cNvPr id="21" name="CasellaDiTesto 20">
            <a:extLst>
              <a:ext uri="{FF2B5EF4-FFF2-40B4-BE49-F238E27FC236}">
                <a16:creationId xmlns:a16="http://schemas.microsoft.com/office/drawing/2014/main" id="{4184DB33-06A6-C0E0-A8B1-23E6A5031883}"/>
              </a:ext>
            </a:extLst>
          </p:cNvPr>
          <p:cNvSpPr txBox="1"/>
          <p:nvPr/>
        </p:nvSpPr>
        <p:spPr>
          <a:xfrm>
            <a:off x="571500" y="4610100"/>
            <a:ext cx="11201400" cy="825500"/>
          </a:xfrm>
          <a:prstGeom prst="rect">
            <a:avLst/>
          </a:prstGeom>
          <a:noFill/>
        </p:spPr>
        <p:txBody>
          <a:bodyPr vert="horz" lIns="0" tIns="0" rIns="0" bIns="0" rtlCol="0">
            <a:noAutofit/>
          </a:bodyPr>
          <a:lstStyle/>
          <a:p>
            <a:r>
              <a:rPr lang="it-IT" sz="2200">
                <a:solidFill>
                  <a:srgbClr val="303030"/>
                </a:solidFill>
                <a:latin typeface="Aptos" panose="020B0004020202020204" pitchFamily="34" charset="0"/>
              </a:rPr>
              <a:t>Se c'è una tool call: risultato -&gt; nuovo input al modello -&gt; eventuale risposta finale.</a:t>
            </a:r>
          </a:p>
        </p:txBody>
      </p:sp>
      <p:sp>
        <p:nvSpPr>
          <p:cNvPr id="22" name="CasellaDiTesto 21">
            <a:extLst>
              <a:ext uri="{FF2B5EF4-FFF2-40B4-BE49-F238E27FC236}">
                <a16:creationId xmlns:a16="http://schemas.microsoft.com/office/drawing/2014/main" id="{11C8B255-D904-A8D7-7D5B-19D1B6DBFA2D}"/>
              </a:ext>
            </a:extLst>
          </p:cNvPr>
          <p:cNvSpPr txBox="1"/>
          <p:nvPr/>
        </p:nvSpPr>
        <p:spPr>
          <a:xfrm>
            <a:off x="571500" y="5626100"/>
            <a:ext cx="11201400" cy="660400"/>
          </a:xfrm>
          <a:prstGeom prst="rect">
            <a:avLst/>
          </a:prstGeom>
          <a:noFill/>
        </p:spPr>
        <p:txBody>
          <a:bodyPr vert="horz" lIns="0" tIns="0" rIns="0" bIns="0" rtlCol="0">
            <a:noAutofit/>
          </a:bodyPr>
          <a:lstStyle/>
          <a:p>
            <a:r>
              <a:rPr lang="it-IT" sz="2200" b="1">
                <a:solidFill>
                  <a:srgbClr val="303030"/>
                </a:solidFill>
                <a:latin typeface="Aptos" panose="020B0004020202020204" pitchFamily="34" charset="0"/>
              </a:rPr>
              <a:t>Il modello propone una chiamata. Il codice controlla ed esegue.</a:t>
            </a:r>
          </a:p>
        </p:txBody>
      </p:sp>
    </p:spTree>
    <p:custDataLst>
      <p:tags r:id="rId1"/>
    </p:custDataLst>
    <p:extLst>
      <p:ext uri="{BB962C8B-B14F-4D97-AF65-F5344CB8AC3E}">
        <p14:creationId xmlns:p14="http://schemas.microsoft.com/office/powerpoint/2010/main" val="38432167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5A6D9-D160-EF4C-3B46-FF7784954524}"/>
            </a:ext>
          </a:extLst>
        </p:cNvPr>
        <p:cNvGrpSpPr/>
        <p:nvPr/>
      </p:nvGrpSpPr>
      <p:grpSpPr>
        <a:xfrm>
          <a:off x="0" y="0"/>
          <a:ext cx="0" cy="0"/>
          <a:chOff x="0" y="0"/>
          <a:chExt cx="0" cy="0"/>
        </a:xfrm>
      </p:grpSpPr>
      <p:sp>
        <p:nvSpPr>
          <p:cNvPr id="11" name="Titolo 10">
            <a:extLst>
              <a:ext uri="{FF2B5EF4-FFF2-40B4-BE49-F238E27FC236}">
                <a16:creationId xmlns:a16="http://schemas.microsoft.com/office/drawing/2014/main" id="{B8080D18-1B36-3B44-B12F-BA1D016239BF}"/>
              </a:ext>
            </a:extLst>
          </p:cNvPr>
          <p:cNvSpPr>
            <a:spLocks noGrp="1"/>
          </p:cNvSpPr>
          <p:nvPr>
            <p:ph type="title"/>
          </p:nvPr>
        </p:nvSpPr>
        <p:spPr/>
        <p:txBody>
          <a:bodyPr/>
          <a:lstStyle/>
          <a:p>
            <a:endParaRPr lang="it-IT"/>
          </a:p>
        </p:txBody>
      </p:sp>
      <p:sp>
        <p:nvSpPr>
          <p:cNvPr id="13" name="CasellaDiTesto 12">
            <a:extLst>
              <a:ext uri="{FF2B5EF4-FFF2-40B4-BE49-F238E27FC236}">
                <a16:creationId xmlns:a16="http://schemas.microsoft.com/office/drawing/2014/main" id="{EF0779AE-8242-7F65-3955-50D91CFBD01E}"/>
              </a:ext>
            </a:extLst>
          </p:cNvPr>
          <p:cNvSpPr txBox="1"/>
          <p:nvPr/>
        </p:nvSpPr>
        <p:spPr>
          <a:xfrm>
            <a:off x="2818327" y="2092668"/>
            <a:ext cx="6555346"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6600" b="1" i="0" u="none" strike="noStrike" kern="1200" cap="none" spc="0" normalizeH="0" baseline="0" noProof="0" dirty="0">
                <a:ln>
                  <a:noFill/>
                </a:ln>
                <a:solidFill>
                  <a:srgbClr val="303030"/>
                </a:solidFill>
                <a:effectLst/>
                <a:uLnTx/>
                <a:uFillTx/>
                <a:latin typeface="Aptos" panose="020B0004020202020204" pitchFamily="34" charset="0"/>
                <a:ea typeface="+mn-ea"/>
                <a:cs typeface="+mn-cs"/>
              </a:rPr>
              <a:t>PROMPT</a:t>
            </a:r>
            <a:endParaRPr kumimoji="0" lang="it-IT"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0372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8B804084-4777-278D-4359-22831C3BDE58}"/>
              </a:ext>
            </a:extLst>
          </p:cNvPr>
          <p:cNvSpPr txBox="1"/>
          <p:nvPr/>
        </p:nvSpPr>
        <p:spPr>
          <a:xfrm>
            <a:off x="1625600" y="317499"/>
            <a:ext cx="10160000" cy="685800"/>
          </a:xfrm>
          <a:prstGeom prst="rect">
            <a:avLst/>
          </a:prstGeom>
          <a:noFill/>
        </p:spPr>
        <p:txBody>
          <a:bodyPr vert="horz" lIns="0" tIns="0" rIns="0" bIns="0" rtlCol="0">
            <a:noAutofit/>
          </a:bodyPr>
          <a:lstStyle/>
          <a:p>
            <a:r>
              <a:rPr lang="it-IT" sz="2800" b="1">
                <a:solidFill>
                  <a:srgbClr val="303030"/>
                </a:solidFill>
                <a:latin typeface="Aptos" panose="020B0004020202020204" pitchFamily="34" charset="0"/>
              </a:rPr>
              <a:t>Il prompt agentico non è una sola stringa</a:t>
            </a:r>
          </a:p>
        </p:txBody>
      </p:sp>
      <p:sp>
        <p:nvSpPr>
          <p:cNvPr id="6" name="Rettangolo con angoli arrotondati 5">
            <a:extLst>
              <a:ext uri="{FF2B5EF4-FFF2-40B4-BE49-F238E27FC236}">
                <a16:creationId xmlns:a16="http://schemas.microsoft.com/office/drawing/2014/main" id="{42652C7A-7BF0-9850-7C61-E98ADB9AC9D3}"/>
              </a:ext>
            </a:extLst>
          </p:cNvPr>
          <p:cNvSpPr/>
          <p:nvPr/>
        </p:nvSpPr>
        <p:spPr>
          <a:xfrm>
            <a:off x="571500" y="1574800"/>
            <a:ext cx="11201400" cy="9144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B40205C2-E880-A1BC-F29D-33F174E71ED2}"/>
              </a:ext>
            </a:extLst>
          </p:cNvPr>
          <p:cNvSpPr txBox="1"/>
          <p:nvPr/>
        </p:nvSpPr>
        <p:spPr>
          <a:xfrm>
            <a:off x="749300" y="1701800"/>
            <a:ext cx="2514600" cy="609600"/>
          </a:xfrm>
          <a:prstGeom prst="rect">
            <a:avLst/>
          </a:prstGeom>
          <a:noFill/>
        </p:spPr>
        <p:txBody>
          <a:bodyPr vert="horz" lIns="0" tIns="0" rIns="0" bIns="0" rtlCol="0">
            <a:noAutofit/>
          </a:bodyPr>
          <a:lstStyle/>
          <a:p>
            <a:r>
              <a:rPr lang="it-IT" sz="1900" b="1">
                <a:solidFill>
                  <a:srgbClr val="008278"/>
                </a:solidFill>
                <a:latin typeface="Aptos" panose="020B0004020202020204" pitchFamily="34" charset="0"/>
              </a:rPr>
              <a:t>ISTRUZIONI</a:t>
            </a:r>
          </a:p>
        </p:txBody>
      </p:sp>
      <p:sp>
        <p:nvSpPr>
          <p:cNvPr id="8" name="CasellaDiTesto 7">
            <a:extLst>
              <a:ext uri="{FF2B5EF4-FFF2-40B4-BE49-F238E27FC236}">
                <a16:creationId xmlns:a16="http://schemas.microsoft.com/office/drawing/2014/main" id="{EECB59D8-9CF5-2E96-AE29-15B505962562}"/>
              </a:ext>
            </a:extLst>
          </p:cNvPr>
          <p:cNvSpPr txBox="1"/>
          <p:nvPr/>
        </p:nvSpPr>
        <p:spPr>
          <a:xfrm>
            <a:off x="3479800" y="1701800"/>
            <a:ext cx="8064500" cy="647700"/>
          </a:xfrm>
          <a:prstGeom prst="rect">
            <a:avLst/>
          </a:prstGeom>
          <a:noFill/>
        </p:spPr>
        <p:txBody>
          <a:bodyPr vert="horz" lIns="0" tIns="0" rIns="0" bIns="0" rtlCol="0">
            <a:noAutofit/>
          </a:bodyPr>
          <a:lstStyle/>
          <a:p>
            <a:r>
              <a:rPr lang="it-IT" sz="1900">
                <a:solidFill>
                  <a:srgbClr val="303030"/>
                </a:solidFill>
                <a:latin typeface="Aptos" panose="020B0004020202020204" pitchFamily="34" charset="0"/>
              </a:rPr>
              <a:t>Ruolo, obiettivo, vincoli, policy, procedura e criterio di stop.</a:t>
            </a:r>
          </a:p>
        </p:txBody>
      </p:sp>
      <p:sp>
        <p:nvSpPr>
          <p:cNvPr id="9" name="Rettangolo con angoli arrotondati 8">
            <a:extLst>
              <a:ext uri="{FF2B5EF4-FFF2-40B4-BE49-F238E27FC236}">
                <a16:creationId xmlns:a16="http://schemas.microsoft.com/office/drawing/2014/main" id="{7ABD3DFA-71B3-93E0-23E7-D14B2FC1763D}"/>
              </a:ext>
            </a:extLst>
          </p:cNvPr>
          <p:cNvSpPr/>
          <p:nvPr/>
        </p:nvSpPr>
        <p:spPr>
          <a:xfrm>
            <a:off x="571500" y="2616200"/>
            <a:ext cx="11201400" cy="9144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94A902D3-BB9D-BA13-2379-6EB21602F70C}"/>
              </a:ext>
            </a:extLst>
          </p:cNvPr>
          <p:cNvSpPr txBox="1"/>
          <p:nvPr/>
        </p:nvSpPr>
        <p:spPr>
          <a:xfrm>
            <a:off x="749300" y="2743200"/>
            <a:ext cx="2514600" cy="609600"/>
          </a:xfrm>
          <a:prstGeom prst="rect">
            <a:avLst/>
          </a:prstGeom>
          <a:noFill/>
        </p:spPr>
        <p:txBody>
          <a:bodyPr vert="horz" lIns="0" tIns="0" rIns="0" bIns="0" rtlCol="0">
            <a:noAutofit/>
          </a:bodyPr>
          <a:lstStyle/>
          <a:p>
            <a:r>
              <a:rPr lang="it-IT" sz="1900" b="1">
                <a:solidFill>
                  <a:srgbClr val="008278"/>
                </a:solidFill>
                <a:latin typeface="Aptos" panose="020B0004020202020204" pitchFamily="34" charset="0"/>
              </a:rPr>
              <a:t>CONTESTO E DATI</a:t>
            </a:r>
          </a:p>
        </p:txBody>
      </p:sp>
      <p:sp>
        <p:nvSpPr>
          <p:cNvPr id="11" name="CasellaDiTesto 10">
            <a:extLst>
              <a:ext uri="{FF2B5EF4-FFF2-40B4-BE49-F238E27FC236}">
                <a16:creationId xmlns:a16="http://schemas.microsoft.com/office/drawing/2014/main" id="{11EDB09B-7D6D-CEDA-54E7-75782CF53E22}"/>
              </a:ext>
            </a:extLst>
          </p:cNvPr>
          <p:cNvSpPr txBox="1"/>
          <p:nvPr/>
        </p:nvSpPr>
        <p:spPr>
          <a:xfrm>
            <a:off x="3479800" y="2743200"/>
            <a:ext cx="8064500" cy="647700"/>
          </a:xfrm>
          <a:prstGeom prst="rect">
            <a:avLst/>
          </a:prstGeom>
          <a:noFill/>
        </p:spPr>
        <p:txBody>
          <a:bodyPr vert="horz" lIns="0" tIns="0" rIns="0" bIns="0" rtlCol="0">
            <a:noAutofit/>
          </a:bodyPr>
          <a:lstStyle/>
          <a:p>
            <a:r>
              <a:rPr lang="it-IT" sz="1900">
                <a:solidFill>
                  <a:srgbClr val="303030"/>
                </a:solidFill>
                <a:latin typeface="Aptos" panose="020B0004020202020204" pitchFamily="34" charset="0"/>
              </a:rPr>
              <a:t>Fatti pertinenti, documenti recuperati, Skill caricata, risultati dei tool.</a:t>
            </a:r>
          </a:p>
        </p:txBody>
      </p:sp>
      <p:sp>
        <p:nvSpPr>
          <p:cNvPr id="12" name="Rettangolo con angoli arrotondati 11">
            <a:extLst>
              <a:ext uri="{FF2B5EF4-FFF2-40B4-BE49-F238E27FC236}">
                <a16:creationId xmlns:a16="http://schemas.microsoft.com/office/drawing/2014/main" id="{DDBE5CB7-EEC7-4B97-B445-35E78D2B872B}"/>
              </a:ext>
            </a:extLst>
          </p:cNvPr>
          <p:cNvSpPr/>
          <p:nvPr/>
        </p:nvSpPr>
        <p:spPr>
          <a:xfrm>
            <a:off x="571500" y="3657600"/>
            <a:ext cx="11201400" cy="9144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1F1B4D5B-1A47-3E02-8AD9-38081D3E33E1}"/>
              </a:ext>
            </a:extLst>
          </p:cNvPr>
          <p:cNvSpPr txBox="1"/>
          <p:nvPr/>
        </p:nvSpPr>
        <p:spPr>
          <a:xfrm>
            <a:off x="749300" y="3784600"/>
            <a:ext cx="2514600" cy="609600"/>
          </a:xfrm>
          <a:prstGeom prst="rect">
            <a:avLst/>
          </a:prstGeom>
          <a:noFill/>
        </p:spPr>
        <p:txBody>
          <a:bodyPr vert="horz" lIns="0" tIns="0" rIns="0" bIns="0" rtlCol="0">
            <a:noAutofit/>
          </a:bodyPr>
          <a:lstStyle/>
          <a:p>
            <a:r>
              <a:rPr lang="it-IT" sz="1900" b="1">
                <a:solidFill>
                  <a:srgbClr val="008278"/>
                </a:solidFill>
                <a:latin typeface="Aptos" panose="020B0004020202020204" pitchFamily="34" charset="0"/>
              </a:rPr>
              <a:t>CONVERSAZIONE</a:t>
            </a:r>
          </a:p>
        </p:txBody>
      </p:sp>
      <p:sp>
        <p:nvSpPr>
          <p:cNvPr id="14" name="CasellaDiTesto 13">
            <a:extLst>
              <a:ext uri="{FF2B5EF4-FFF2-40B4-BE49-F238E27FC236}">
                <a16:creationId xmlns:a16="http://schemas.microsoft.com/office/drawing/2014/main" id="{61453B72-94E7-36E0-077F-CE5F6C0EC193}"/>
              </a:ext>
            </a:extLst>
          </p:cNvPr>
          <p:cNvSpPr txBox="1"/>
          <p:nvPr/>
        </p:nvSpPr>
        <p:spPr>
          <a:xfrm>
            <a:off x="3479800" y="3784600"/>
            <a:ext cx="8064500" cy="647700"/>
          </a:xfrm>
          <a:prstGeom prst="rect">
            <a:avLst/>
          </a:prstGeom>
          <a:noFill/>
        </p:spPr>
        <p:txBody>
          <a:bodyPr vert="horz" lIns="0" tIns="0" rIns="0" bIns="0" rtlCol="0">
            <a:noAutofit/>
          </a:bodyPr>
          <a:lstStyle/>
          <a:p>
            <a:r>
              <a:rPr lang="it-IT" sz="1900">
                <a:solidFill>
                  <a:srgbClr val="303030"/>
                </a:solidFill>
                <a:latin typeface="Aptos" panose="020B0004020202020204" pitchFamily="34" charset="0"/>
              </a:rPr>
              <a:t>Domanda corrente, history selezionata, tool call e relativi risultati.</a:t>
            </a:r>
          </a:p>
        </p:txBody>
      </p:sp>
      <p:sp>
        <p:nvSpPr>
          <p:cNvPr id="15" name="Rettangolo con angoli arrotondati 14">
            <a:extLst>
              <a:ext uri="{FF2B5EF4-FFF2-40B4-BE49-F238E27FC236}">
                <a16:creationId xmlns:a16="http://schemas.microsoft.com/office/drawing/2014/main" id="{8A8000B8-F866-F5F0-96F1-130BB5656715}"/>
              </a:ext>
            </a:extLst>
          </p:cNvPr>
          <p:cNvSpPr/>
          <p:nvPr/>
        </p:nvSpPr>
        <p:spPr>
          <a:xfrm>
            <a:off x="571500" y="4699000"/>
            <a:ext cx="11201400" cy="9144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CasellaDiTesto 15">
            <a:extLst>
              <a:ext uri="{FF2B5EF4-FFF2-40B4-BE49-F238E27FC236}">
                <a16:creationId xmlns:a16="http://schemas.microsoft.com/office/drawing/2014/main" id="{A2017104-E0C7-CC56-31F1-06473BFC2D49}"/>
              </a:ext>
            </a:extLst>
          </p:cNvPr>
          <p:cNvSpPr txBox="1"/>
          <p:nvPr/>
        </p:nvSpPr>
        <p:spPr>
          <a:xfrm>
            <a:off x="749300" y="4826000"/>
            <a:ext cx="2514600" cy="609600"/>
          </a:xfrm>
          <a:prstGeom prst="rect">
            <a:avLst/>
          </a:prstGeom>
          <a:noFill/>
        </p:spPr>
        <p:txBody>
          <a:bodyPr vert="horz" lIns="0" tIns="0" rIns="0" bIns="0" rtlCol="0">
            <a:noAutofit/>
          </a:bodyPr>
          <a:lstStyle/>
          <a:p>
            <a:r>
              <a:rPr lang="it-IT" sz="1900" b="1">
                <a:solidFill>
                  <a:srgbClr val="008278"/>
                </a:solidFill>
                <a:latin typeface="Aptos" panose="020B0004020202020204" pitchFamily="34" charset="0"/>
              </a:rPr>
              <a:t>TOOL E FORMATO</a:t>
            </a:r>
          </a:p>
        </p:txBody>
      </p:sp>
      <p:sp>
        <p:nvSpPr>
          <p:cNvPr id="17" name="CasellaDiTesto 16">
            <a:extLst>
              <a:ext uri="{FF2B5EF4-FFF2-40B4-BE49-F238E27FC236}">
                <a16:creationId xmlns:a16="http://schemas.microsoft.com/office/drawing/2014/main" id="{BDB7DA0D-C5AE-F63E-CD96-5DC1F93EC92E}"/>
              </a:ext>
            </a:extLst>
          </p:cNvPr>
          <p:cNvSpPr txBox="1"/>
          <p:nvPr/>
        </p:nvSpPr>
        <p:spPr>
          <a:xfrm>
            <a:off x="3479800" y="4826000"/>
            <a:ext cx="8064500" cy="647700"/>
          </a:xfrm>
          <a:prstGeom prst="rect">
            <a:avLst/>
          </a:prstGeom>
          <a:noFill/>
        </p:spPr>
        <p:txBody>
          <a:bodyPr vert="horz" lIns="0" tIns="0" rIns="0" bIns="0" rtlCol="0">
            <a:noAutofit/>
          </a:bodyPr>
          <a:lstStyle/>
          <a:p>
            <a:r>
              <a:rPr lang="it-IT" sz="1900">
                <a:solidFill>
                  <a:srgbClr val="303030"/>
                </a:solidFill>
                <a:latin typeface="Aptos" panose="020B0004020202020204" pitchFamily="34" charset="0"/>
              </a:rPr>
              <a:t>Nomi, descrizioni, parametri / JSON Schema, eventuale schema di risposta.</a:t>
            </a:r>
          </a:p>
        </p:txBody>
      </p:sp>
      <p:sp>
        <p:nvSpPr>
          <p:cNvPr id="18" name="CasellaDiTesto 17">
            <a:extLst>
              <a:ext uri="{FF2B5EF4-FFF2-40B4-BE49-F238E27FC236}">
                <a16:creationId xmlns:a16="http://schemas.microsoft.com/office/drawing/2014/main" id="{1D862825-3847-1BD9-DA6F-8082B911C40E}"/>
              </a:ext>
            </a:extLst>
          </p:cNvPr>
          <p:cNvSpPr txBox="1"/>
          <p:nvPr/>
        </p:nvSpPr>
        <p:spPr>
          <a:xfrm>
            <a:off x="571500" y="5626100"/>
            <a:ext cx="11201400" cy="660400"/>
          </a:xfrm>
          <a:prstGeom prst="rect">
            <a:avLst/>
          </a:prstGeom>
          <a:noFill/>
        </p:spPr>
        <p:txBody>
          <a:bodyPr vert="horz" lIns="0" tIns="0" rIns="0" bIns="0" rtlCol="0">
            <a:noAutofit/>
          </a:bodyPr>
          <a:lstStyle/>
          <a:p>
            <a:r>
              <a:rPr lang="it-IT" sz="2200" b="1">
                <a:solidFill>
                  <a:srgbClr val="303030"/>
                </a:solidFill>
                <a:latin typeface="Aptos" panose="020B0004020202020204" pitchFamily="34" charset="0"/>
              </a:rPr>
              <a:t>Input al modello = contenuto + struttura. Dati esterni non sono istruzioni fidate.</a:t>
            </a:r>
          </a:p>
        </p:txBody>
      </p:sp>
    </p:spTree>
    <p:custDataLst>
      <p:tags r:id="rId1"/>
    </p:custDataLst>
    <p:extLst>
      <p:ext uri="{BB962C8B-B14F-4D97-AF65-F5344CB8AC3E}">
        <p14:creationId xmlns:p14="http://schemas.microsoft.com/office/powerpoint/2010/main" val="3493891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55E25D2A-923A-566A-2421-6FDA260AF9CB}"/>
              </a:ext>
            </a:extLst>
          </p:cNvPr>
          <p:cNvSpPr txBox="1"/>
          <p:nvPr/>
        </p:nvSpPr>
        <p:spPr>
          <a:xfrm>
            <a:off x="1625600" y="317499"/>
            <a:ext cx="10160000" cy="685800"/>
          </a:xfrm>
          <a:prstGeom prst="rect">
            <a:avLst/>
          </a:prstGeom>
          <a:noFill/>
        </p:spPr>
        <p:txBody>
          <a:bodyPr vert="horz" lIns="0" tIns="0" rIns="0" bIns="0" rtlCol="0">
            <a:noAutofit/>
          </a:bodyPr>
          <a:lstStyle/>
          <a:p>
            <a:r>
              <a:rPr lang="it-IT" sz="2800" b="1">
                <a:solidFill>
                  <a:srgbClr val="303030"/>
                </a:solidFill>
                <a:latin typeface="Aptos" panose="020B0004020202020204" pitchFamily="34" charset="0"/>
              </a:rPr>
              <a:t>Dove si compone il prompt in Agent Framework</a:t>
            </a:r>
          </a:p>
        </p:txBody>
      </p:sp>
      <p:sp>
        <p:nvSpPr>
          <p:cNvPr id="6" name="Rettangolo con angoli arrotondati 5">
            <a:extLst>
              <a:ext uri="{FF2B5EF4-FFF2-40B4-BE49-F238E27FC236}">
                <a16:creationId xmlns:a16="http://schemas.microsoft.com/office/drawing/2014/main" id="{6074088D-1A1A-452A-3BAE-41C9299500ED}"/>
              </a:ext>
            </a:extLst>
          </p:cNvPr>
          <p:cNvSpPr/>
          <p:nvPr/>
        </p:nvSpPr>
        <p:spPr>
          <a:xfrm>
            <a:off x="571500" y="1574800"/>
            <a:ext cx="11201400" cy="9144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CD986ECD-6974-B76D-ED56-F29D93AADEBC}"/>
              </a:ext>
            </a:extLst>
          </p:cNvPr>
          <p:cNvSpPr txBox="1"/>
          <p:nvPr/>
        </p:nvSpPr>
        <p:spPr>
          <a:xfrm>
            <a:off x="749300" y="1701800"/>
            <a:ext cx="2514600" cy="609600"/>
          </a:xfrm>
          <a:prstGeom prst="rect">
            <a:avLst/>
          </a:prstGeom>
          <a:noFill/>
        </p:spPr>
        <p:txBody>
          <a:bodyPr vert="horz" lIns="0" tIns="0" rIns="0" bIns="0" rtlCol="0">
            <a:noAutofit/>
          </a:bodyPr>
          <a:lstStyle/>
          <a:p>
            <a:r>
              <a:rPr lang="it-IT" sz="1900" b="1">
                <a:solidFill>
                  <a:srgbClr val="008278"/>
                </a:solidFill>
                <a:latin typeface="Aptos" panose="020B0004020202020204" pitchFamily="34" charset="0"/>
              </a:rPr>
              <a:t>Instructions</a:t>
            </a:r>
          </a:p>
        </p:txBody>
      </p:sp>
      <p:sp>
        <p:nvSpPr>
          <p:cNvPr id="8" name="CasellaDiTesto 7">
            <a:extLst>
              <a:ext uri="{FF2B5EF4-FFF2-40B4-BE49-F238E27FC236}">
                <a16:creationId xmlns:a16="http://schemas.microsoft.com/office/drawing/2014/main" id="{975EF6B9-2687-4DBD-895F-9A44AF54C4D8}"/>
              </a:ext>
            </a:extLst>
          </p:cNvPr>
          <p:cNvSpPr txBox="1"/>
          <p:nvPr/>
        </p:nvSpPr>
        <p:spPr>
          <a:xfrm>
            <a:off x="3479800" y="1701800"/>
            <a:ext cx="8064500" cy="647700"/>
          </a:xfrm>
          <a:prstGeom prst="rect">
            <a:avLst/>
          </a:prstGeom>
          <a:noFill/>
        </p:spPr>
        <p:txBody>
          <a:bodyPr vert="horz" lIns="0" tIns="0" rIns="0" bIns="0" rtlCol="0">
            <a:noAutofit/>
          </a:bodyPr>
          <a:lstStyle/>
          <a:p>
            <a:r>
              <a:rPr lang="it-IT" sz="1900">
                <a:solidFill>
                  <a:srgbClr val="303030"/>
                </a:solidFill>
                <a:latin typeface="Aptos" panose="020B0004020202020204" pitchFamily="34" charset="0"/>
              </a:rPr>
              <a:t>ChatOptions.Instructions -&gt; regole e comportamento dell'agente.</a:t>
            </a:r>
          </a:p>
        </p:txBody>
      </p:sp>
      <p:sp>
        <p:nvSpPr>
          <p:cNvPr id="9" name="Rettangolo con angoli arrotondati 8">
            <a:extLst>
              <a:ext uri="{FF2B5EF4-FFF2-40B4-BE49-F238E27FC236}">
                <a16:creationId xmlns:a16="http://schemas.microsoft.com/office/drawing/2014/main" id="{812092E5-A1B6-6BD2-76EC-FC03231DAF88}"/>
              </a:ext>
            </a:extLst>
          </p:cNvPr>
          <p:cNvSpPr/>
          <p:nvPr/>
        </p:nvSpPr>
        <p:spPr>
          <a:xfrm>
            <a:off x="571500" y="2616200"/>
            <a:ext cx="11201400" cy="9144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52568FA2-D4B4-553A-313D-399DE7868C33}"/>
              </a:ext>
            </a:extLst>
          </p:cNvPr>
          <p:cNvSpPr txBox="1"/>
          <p:nvPr/>
        </p:nvSpPr>
        <p:spPr>
          <a:xfrm>
            <a:off x="749300" y="2743200"/>
            <a:ext cx="2514600" cy="609600"/>
          </a:xfrm>
          <a:prstGeom prst="rect">
            <a:avLst/>
          </a:prstGeom>
          <a:noFill/>
        </p:spPr>
        <p:txBody>
          <a:bodyPr vert="horz" lIns="0" tIns="0" rIns="0" bIns="0" rtlCol="0">
            <a:noAutofit/>
          </a:bodyPr>
          <a:lstStyle/>
          <a:p>
            <a:r>
              <a:rPr lang="it-IT" sz="1900" b="1">
                <a:solidFill>
                  <a:srgbClr val="008278"/>
                </a:solidFill>
                <a:latin typeface="Aptos" panose="020B0004020202020204" pitchFamily="34" charset="0"/>
              </a:rPr>
              <a:t>Run / sessione</a:t>
            </a:r>
          </a:p>
        </p:txBody>
      </p:sp>
      <p:sp>
        <p:nvSpPr>
          <p:cNvPr id="11" name="CasellaDiTesto 10">
            <a:extLst>
              <a:ext uri="{FF2B5EF4-FFF2-40B4-BE49-F238E27FC236}">
                <a16:creationId xmlns:a16="http://schemas.microsoft.com/office/drawing/2014/main" id="{1EE84C9E-748F-AE6A-E76D-0CD3F0BB4788}"/>
              </a:ext>
            </a:extLst>
          </p:cNvPr>
          <p:cNvSpPr txBox="1"/>
          <p:nvPr/>
        </p:nvSpPr>
        <p:spPr>
          <a:xfrm>
            <a:off x="3479800" y="2743200"/>
            <a:ext cx="8064500" cy="647700"/>
          </a:xfrm>
          <a:prstGeom prst="rect">
            <a:avLst/>
          </a:prstGeom>
          <a:noFill/>
        </p:spPr>
        <p:txBody>
          <a:bodyPr vert="horz" lIns="0" tIns="0" rIns="0" bIns="0" rtlCol="0">
            <a:noAutofit/>
          </a:bodyPr>
          <a:lstStyle/>
          <a:p>
            <a:r>
              <a:rPr lang="it-IT" sz="1900">
                <a:solidFill>
                  <a:srgbClr val="303030"/>
                </a:solidFill>
                <a:latin typeface="Aptos" panose="020B0004020202020204" pitchFamily="34" charset="0"/>
              </a:rPr>
              <a:t>RunAsync(input, session) -&gt; domanda + history, se la sessione e riutilizzata.</a:t>
            </a:r>
          </a:p>
        </p:txBody>
      </p:sp>
      <p:sp>
        <p:nvSpPr>
          <p:cNvPr id="12" name="Rettangolo con angoli arrotondati 11">
            <a:extLst>
              <a:ext uri="{FF2B5EF4-FFF2-40B4-BE49-F238E27FC236}">
                <a16:creationId xmlns:a16="http://schemas.microsoft.com/office/drawing/2014/main" id="{708E88EA-0E47-D33C-2AEF-259693C3978C}"/>
              </a:ext>
            </a:extLst>
          </p:cNvPr>
          <p:cNvSpPr/>
          <p:nvPr/>
        </p:nvSpPr>
        <p:spPr>
          <a:xfrm>
            <a:off x="571500" y="3657600"/>
            <a:ext cx="11201400" cy="9144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42FC491F-05C6-85D9-8095-853E14758C20}"/>
              </a:ext>
            </a:extLst>
          </p:cNvPr>
          <p:cNvSpPr txBox="1"/>
          <p:nvPr/>
        </p:nvSpPr>
        <p:spPr>
          <a:xfrm>
            <a:off x="749300" y="3784600"/>
            <a:ext cx="2514600" cy="609600"/>
          </a:xfrm>
          <a:prstGeom prst="rect">
            <a:avLst/>
          </a:prstGeom>
          <a:noFill/>
        </p:spPr>
        <p:txBody>
          <a:bodyPr vert="horz" lIns="0" tIns="0" rIns="0" bIns="0" rtlCol="0">
            <a:noAutofit/>
          </a:bodyPr>
          <a:lstStyle/>
          <a:p>
            <a:r>
              <a:rPr lang="it-IT" sz="1900" b="1">
                <a:solidFill>
                  <a:srgbClr val="008278"/>
                </a:solidFill>
                <a:latin typeface="Aptos" panose="020B0004020202020204" pitchFamily="34" charset="0"/>
              </a:rPr>
              <a:t>Context provider</a:t>
            </a:r>
          </a:p>
        </p:txBody>
      </p:sp>
      <p:sp>
        <p:nvSpPr>
          <p:cNvPr id="14" name="CasellaDiTesto 13">
            <a:extLst>
              <a:ext uri="{FF2B5EF4-FFF2-40B4-BE49-F238E27FC236}">
                <a16:creationId xmlns:a16="http://schemas.microsoft.com/office/drawing/2014/main" id="{4A33AAEB-1F22-549B-4FE0-02D4775BA157}"/>
              </a:ext>
            </a:extLst>
          </p:cNvPr>
          <p:cNvSpPr txBox="1"/>
          <p:nvPr/>
        </p:nvSpPr>
        <p:spPr>
          <a:xfrm>
            <a:off x="3479800" y="3784600"/>
            <a:ext cx="8064500" cy="647700"/>
          </a:xfrm>
          <a:prstGeom prst="rect">
            <a:avLst/>
          </a:prstGeom>
          <a:noFill/>
        </p:spPr>
        <p:txBody>
          <a:bodyPr vert="horz" lIns="0" tIns="0" rIns="0" bIns="0" rtlCol="0">
            <a:noAutofit/>
          </a:bodyPr>
          <a:lstStyle/>
          <a:p>
            <a:r>
              <a:rPr lang="it-IT" sz="1900">
                <a:solidFill>
                  <a:srgbClr val="303030"/>
                </a:solidFill>
                <a:latin typeface="Aptos" panose="020B0004020202020204" pitchFamily="34" charset="0"/>
              </a:rPr>
              <a:t>AIContextProviders -&gt; contesto pertinente; AgentSkillsProvider -&gt; Skill.</a:t>
            </a:r>
          </a:p>
        </p:txBody>
      </p:sp>
      <p:sp>
        <p:nvSpPr>
          <p:cNvPr id="15" name="Rettangolo con angoli arrotondati 14">
            <a:extLst>
              <a:ext uri="{FF2B5EF4-FFF2-40B4-BE49-F238E27FC236}">
                <a16:creationId xmlns:a16="http://schemas.microsoft.com/office/drawing/2014/main" id="{FC67A092-B2BB-F70A-1B86-C6D86D10B29C}"/>
              </a:ext>
            </a:extLst>
          </p:cNvPr>
          <p:cNvSpPr/>
          <p:nvPr/>
        </p:nvSpPr>
        <p:spPr>
          <a:xfrm>
            <a:off x="571500" y="4699000"/>
            <a:ext cx="11201400" cy="9144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CasellaDiTesto 15">
            <a:extLst>
              <a:ext uri="{FF2B5EF4-FFF2-40B4-BE49-F238E27FC236}">
                <a16:creationId xmlns:a16="http://schemas.microsoft.com/office/drawing/2014/main" id="{21233D79-5FB6-FCE6-52F6-671B642863E9}"/>
              </a:ext>
            </a:extLst>
          </p:cNvPr>
          <p:cNvSpPr txBox="1"/>
          <p:nvPr/>
        </p:nvSpPr>
        <p:spPr>
          <a:xfrm>
            <a:off x="749300" y="4826000"/>
            <a:ext cx="2514600" cy="609600"/>
          </a:xfrm>
          <a:prstGeom prst="rect">
            <a:avLst/>
          </a:prstGeom>
          <a:noFill/>
        </p:spPr>
        <p:txBody>
          <a:bodyPr vert="horz" lIns="0" tIns="0" rIns="0" bIns="0" rtlCol="0">
            <a:noAutofit/>
          </a:bodyPr>
          <a:lstStyle/>
          <a:p>
            <a:r>
              <a:rPr lang="it-IT" sz="1900" b="1">
                <a:solidFill>
                  <a:srgbClr val="008278"/>
                </a:solidFill>
                <a:latin typeface="Aptos" panose="020B0004020202020204" pitchFamily="34" charset="0"/>
              </a:rPr>
              <a:t>Tools + client</a:t>
            </a:r>
          </a:p>
        </p:txBody>
      </p:sp>
      <p:sp>
        <p:nvSpPr>
          <p:cNvPr id="17" name="CasellaDiTesto 16">
            <a:extLst>
              <a:ext uri="{FF2B5EF4-FFF2-40B4-BE49-F238E27FC236}">
                <a16:creationId xmlns:a16="http://schemas.microsoft.com/office/drawing/2014/main" id="{801FF7A6-FFC6-6A9C-4C09-67AB22659FC3}"/>
              </a:ext>
            </a:extLst>
          </p:cNvPr>
          <p:cNvSpPr txBox="1"/>
          <p:nvPr/>
        </p:nvSpPr>
        <p:spPr>
          <a:xfrm>
            <a:off x="3479800" y="4826000"/>
            <a:ext cx="8064500" cy="647700"/>
          </a:xfrm>
          <a:prstGeom prst="rect">
            <a:avLst/>
          </a:prstGeom>
          <a:noFill/>
        </p:spPr>
        <p:txBody>
          <a:bodyPr vert="horz" lIns="0" tIns="0" rIns="0" bIns="0" rtlCol="0">
            <a:noAutofit/>
          </a:bodyPr>
          <a:lstStyle/>
          <a:p>
            <a:r>
              <a:rPr lang="it-IT" sz="1900">
                <a:solidFill>
                  <a:srgbClr val="303030"/>
                </a:solidFill>
                <a:latin typeface="Aptos" panose="020B0004020202020204" pitchFamily="34" charset="0"/>
              </a:rPr>
              <a:t>ChatOptions.Tools -&gt; schemi; IChatClient -&gt; richiesta al provider.</a:t>
            </a:r>
          </a:p>
        </p:txBody>
      </p:sp>
      <p:sp>
        <p:nvSpPr>
          <p:cNvPr id="18" name="CasellaDiTesto 17">
            <a:extLst>
              <a:ext uri="{FF2B5EF4-FFF2-40B4-BE49-F238E27FC236}">
                <a16:creationId xmlns:a16="http://schemas.microsoft.com/office/drawing/2014/main" id="{CC3D35EF-1916-2F54-6511-681C4B667505}"/>
              </a:ext>
            </a:extLst>
          </p:cNvPr>
          <p:cNvSpPr txBox="1"/>
          <p:nvPr/>
        </p:nvSpPr>
        <p:spPr>
          <a:xfrm>
            <a:off x="571500" y="5626100"/>
            <a:ext cx="11201400" cy="660400"/>
          </a:xfrm>
          <a:prstGeom prst="rect">
            <a:avLst/>
          </a:prstGeom>
          <a:noFill/>
        </p:spPr>
        <p:txBody>
          <a:bodyPr vert="horz" lIns="0" tIns="0" rIns="0" bIns="0" rtlCol="0">
            <a:noAutofit/>
          </a:bodyPr>
          <a:lstStyle/>
          <a:p>
            <a:r>
              <a:rPr lang="it-IT" sz="2200" b="1">
                <a:solidFill>
                  <a:srgbClr val="303030"/>
                </a:solidFill>
                <a:latin typeface="Aptos" panose="020B0004020202020204" pitchFamily="34" charset="0"/>
              </a:rPr>
              <a:t>Il prompt finale si verifica nella richiesta al modello, non solo nel file di istruzioni.</a:t>
            </a:r>
          </a:p>
        </p:txBody>
      </p:sp>
    </p:spTree>
    <p:custDataLst>
      <p:tags r:id="rId1"/>
    </p:custDataLst>
    <p:extLst>
      <p:ext uri="{BB962C8B-B14F-4D97-AF65-F5344CB8AC3E}">
        <p14:creationId xmlns:p14="http://schemas.microsoft.com/office/powerpoint/2010/main" val="3212405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B5D89B61-D27F-0E17-9ED2-3DE040B9F760}"/>
              </a:ext>
            </a:extLst>
          </p:cNvPr>
          <p:cNvSpPr txBox="1"/>
          <p:nvPr/>
        </p:nvSpPr>
        <p:spPr>
          <a:xfrm>
            <a:off x="1625600" y="317499"/>
            <a:ext cx="10160000" cy="685800"/>
          </a:xfrm>
          <a:prstGeom prst="rect">
            <a:avLst/>
          </a:prstGeom>
          <a:noFill/>
        </p:spPr>
        <p:txBody>
          <a:bodyPr vert="horz" lIns="0" tIns="0" rIns="0" bIns="0" rtlCol="0">
            <a:noAutofit/>
          </a:bodyPr>
          <a:lstStyle/>
          <a:p>
            <a:r>
              <a:rPr lang="it-IT" sz="2800" b="1">
                <a:solidFill>
                  <a:srgbClr val="303030"/>
                </a:solidFill>
                <a:latin typeface="Aptos" panose="020B0004020202020204" pitchFamily="34" charset="0"/>
              </a:rPr>
              <a:t>Token: quali contatori stiamo leggendo?</a:t>
            </a:r>
          </a:p>
        </p:txBody>
      </p:sp>
      <p:sp>
        <p:nvSpPr>
          <p:cNvPr id="6" name="Rettangolo con angoli arrotondati 5">
            <a:extLst>
              <a:ext uri="{FF2B5EF4-FFF2-40B4-BE49-F238E27FC236}">
                <a16:creationId xmlns:a16="http://schemas.microsoft.com/office/drawing/2014/main" id="{D850D256-23F5-657B-A933-BE9BBD60BE50}"/>
              </a:ext>
            </a:extLst>
          </p:cNvPr>
          <p:cNvSpPr/>
          <p:nvPr/>
        </p:nvSpPr>
        <p:spPr>
          <a:xfrm>
            <a:off x="571500" y="1651000"/>
            <a:ext cx="3581400" cy="36195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9DCC65C8-002D-C116-5EF9-F390CC413FDB}"/>
              </a:ext>
            </a:extLst>
          </p:cNvPr>
          <p:cNvSpPr txBox="1"/>
          <p:nvPr/>
        </p:nvSpPr>
        <p:spPr>
          <a:xfrm>
            <a:off x="774700" y="1854199"/>
            <a:ext cx="3175000" cy="533400"/>
          </a:xfrm>
          <a:prstGeom prst="rect">
            <a:avLst/>
          </a:prstGeom>
          <a:noFill/>
        </p:spPr>
        <p:txBody>
          <a:bodyPr vert="horz" lIns="0" tIns="0" rIns="0" bIns="0" rtlCol="0">
            <a:noAutofit/>
          </a:bodyPr>
          <a:lstStyle/>
          <a:p>
            <a:r>
              <a:rPr lang="it-IT" sz="2000" b="1">
                <a:solidFill>
                  <a:srgbClr val="008278"/>
                </a:solidFill>
                <a:latin typeface="Aptos" panose="020B0004020202020204" pitchFamily="34" charset="0"/>
              </a:rPr>
              <a:t>INPUT</a:t>
            </a:r>
          </a:p>
        </p:txBody>
      </p:sp>
      <p:sp>
        <p:nvSpPr>
          <p:cNvPr id="8" name="CasellaDiTesto 7">
            <a:extLst>
              <a:ext uri="{FF2B5EF4-FFF2-40B4-BE49-F238E27FC236}">
                <a16:creationId xmlns:a16="http://schemas.microsoft.com/office/drawing/2014/main" id="{3670657D-7D09-7D22-6025-840487509986}"/>
              </a:ext>
            </a:extLst>
          </p:cNvPr>
          <p:cNvSpPr txBox="1"/>
          <p:nvPr/>
        </p:nvSpPr>
        <p:spPr>
          <a:xfrm>
            <a:off x="77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Tutto ciò che entra.</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Prompt, history, tool schema e risultati.</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Token != parole.</a:t>
            </a:r>
          </a:p>
        </p:txBody>
      </p:sp>
      <p:sp>
        <p:nvSpPr>
          <p:cNvPr id="9" name="Rettangolo con angoli arrotondati 8">
            <a:extLst>
              <a:ext uri="{FF2B5EF4-FFF2-40B4-BE49-F238E27FC236}">
                <a16:creationId xmlns:a16="http://schemas.microsoft.com/office/drawing/2014/main" id="{544918AA-6B8E-D619-976E-B08D1EA73CE3}"/>
              </a:ext>
            </a:extLst>
          </p:cNvPr>
          <p:cNvSpPr/>
          <p:nvPr/>
        </p:nvSpPr>
        <p:spPr>
          <a:xfrm>
            <a:off x="4381500" y="1651000"/>
            <a:ext cx="3581400" cy="3619500"/>
          </a:xfrm>
          <a:prstGeom prst="roundRect">
            <a:avLst/>
          </a:prstGeom>
          <a:solidFill>
            <a:srgbClr val="F2F2F2"/>
          </a:solidFill>
          <a:ln>
            <a:solidFill>
              <a:srgbClr val="C06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C5EFB3D1-9F46-FF0A-A326-6027CDB155C1}"/>
              </a:ext>
            </a:extLst>
          </p:cNvPr>
          <p:cNvSpPr txBox="1"/>
          <p:nvPr/>
        </p:nvSpPr>
        <p:spPr>
          <a:xfrm>
            <a:off x="4584700" y="1854199"/>
            <a:ext cx="3175000" cy="533400"/>
          </a:xfrm>
          <a:prstGeom prst="rect">
            <a:avLst/>
          </a:prstGeom>
          <a:noFill/>
        </p:spPr>
        <p:txBody>
          <a:bodyPr vert="horz" lIns="0" tIns="0" rIns="0" bIns="0" rtlCol="0">
            <a:noAutofit/>
          </a:bodyPr>
          <a:lstStyle/>
          <a:p>
            <a:r>
              <a:rPr lang="it-IT" sz="2000" b="1">
                <a:solidFill>
                  <a:srgbClr val="C064AA"/>
                </a:solidFill>
                <a:latin typeface="Aptos" panose="020B0004020202020204" pitchFamily="34" charset="0"/>
              </a:rPr>
              <a:t>CACHE</a:t>
            </a:r>
          </a:p>
        </p:txBody>
      </p:sp>
      <p:sp>
        <p:nvSpPr>
          <p:cNvPr id="11" name="CasellaDiTesto 10">
            <a:extLst>
              <a:ext uri="{FF2B5EF4-FFF2-40B4-BE49-F238E27FC236}">
                <a16:creationId xmlns:a16="http://schemas.microsoft.com/office/drawing/2014/main" id="{CA8AB377-2629-F66D-A081-DDD85E9EA164}"/>
              </a:ext>
            </a:extLst>
          </p:cNvPr>
          <p:cNvSpPr txBox="1"/>
          <p:nvPr/>
        </p:nvSpPr>
        <p:spPr>
          <a:xfrm>
            <a:off x="458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Read: parte di input riusata.</a:t>
            </a:r>
          </a:p>
          <a:p>
            <a:r>
              <a:rPr lang="it-IT" sz="2000">
                <a:solidFill>
                  <a:srgbClr val="303030"/>
                </a:solidFill>
                <a:latin typeface="Aptos" panose="020B0004020202020204" pitchFamily="34" charset="0"/>
              </a:rPr>
              <a:t>Write: nuova cache scritta, se esposta.</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Non sommare i read all input.</a:t>
            </a:r>
          </a:p>
        </p:txBody>
      </p:sp>
      <p:sp>
        <p:nvSpPr>
          <p:cNvPr id="12" name="Rettangolo con angoli arrotondati 11">
            <a:extLst>
              <a:ext uri="{FF2B5EF4-FFF2-40B4-BE49-F238E27FC236}">
                <a16:creationId xmlns:a16="http://schemas.microsoft.com/office/drawing/2014/main" id="{3222E3C4-CBF9-E45E-49DF-8826691E472F}"/>
              </a:ext>
            </a:extLst>
          </p:cNvPr>
          <p:cNvSpPr/>
          <p:nvPr/>
        </p:nvSpPr>
        <p:spPr>
          <a:xfrm>
            <a:off x="8191500" y="1651000"/>
            <a:ext cx="3581400" cy="3619500"/>
          </a:xfrm>
          <a:prstGeom prst="roundRect">
            <a:avLst/>
          </a:prstGeom>
          <a:solidFill>
            <a:srgbClr val="F2F2F2"/>
          </a:solidFill>
          <a:ln>
            <a:solidFill>
              <a:srgbClr val="C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0B9C862A-F91E-AF3B-802D-2D5A5D7F0E7E}"/>
              </a:ext>
            </a:extLst>
          </p:cNvPr>
          <p:cNvSpPr txBox="1"/>
          <p:nvPr/>
        </p:nvSpPr>
        <p:spPr>
          <a:xfrm>
            <a:off x="8394700" y="1854199"/>
            <a:ext cx="3175000" cy="533400"/>
          </a:xfrm>
          <a:prstGeom prst="rect">
            <a:avLst/>
          </a:prstGeom>
          <a:noFill/>
        </p:spPr>
        <p:txBody>
          <a:bodyPr vert="horz" lIns="0" tIns="0" rIns="0" bIns="0" rtlCol="0">
            <a:noAutofit/>
          </a:bodyPr>
          <a:lstStyle/>
          <a:p>
            <a:r>
              <a:rPr lang="it-IT" sz="2000" b="1">
                <a:solidFill>
                  <a:srgbClr val="C08000"/>
                </a:solidFill>
                <a:latin typeface="Aptos" panose="020B0004020202020204" pitchFamily="34" charset="0"/>
              </a:rPr>
              <a:t>OUTPUT</a:t>
            </a:r>
          </a:p>
        </p:txBody>
      </p:sp>
      <p:sp>
        <p:nvSpPr>
          <p:cNvPr id="14" name="CasellaDiTesto 13">
            <a:extLst>
              <a:ext uri="{FF2B5EF4-FFF2-40B4-BE49-F238E27FC236}">
                <a16:creationId xmlns:a16="http://schemas.microsoft.com/office/drawing/2014/main" id="{D5D99CC6-1F09-A0F6-853B-BCD30EE91377}"/>
              </a:ext>
            </a:extLst>
          </p:cNvPr>
          <p:cNvSpPr txBox="1"/>
          <p:nvPr/>
        </p:nvSpPr>
        <p:spPr>
          <a:xfrm>
            <a:off x="839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Risposta + chiamate tool.</a:t>
            </a:r>
          </a:p>
          <a:p>
            <a:r>
              <a:rPr lang="it-IT" sz="2000">
                <a:solidFill>
                  <a:srgbClr val="303030"/>
                </a:solidFill>
                <a:latin typeface="Aptos" panose="020B0004020202020204" pitchFamily="34" charset="0"/>
              </a:rPr>
              <a:t>Reasoning, se previsto dal modello.</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Non tutto è visibile all'utente.</a:t>
            </a:r>
          </a:p>
        </p:txBody>
      </p:sp>
      <p:sp>
        <p:nvSpPr>
          <p:cNvPr id="15" name="CasellaDiTesto 14">
            <a:extLst>
              <a:ext uri="{FF2B5EF4-FFF2-40B4-BE49-F238E27FC236}">
                <a16:creationId xmlns:a16="http://schemas.microsoft.com/office/drawing/2014/main" id="{160D37AE-017B-B069-8221-F59B9A98090F}"/>
              </a:ext>
            </a:extLst>
          </p:cNvPr>
          <p:cNvSpPr txBox="1"/>
          <p:nvPr/>
        </p:nvSpPr>
        <p:spPr>
          <a:xfrm>
            <a:off x="571500" y="5626100"/>
            <a:ext cx="11201400" cy="660400"/>
          </a:xfrm>
          <a:prstGeom prst="rect">
            <a:avLst/>
          </a:prstGeom>
          <a:noFill/>
        </p:spPr>
        <p:txBody>
          <a:bodyPr vert="horz" lIns="0" tIns="0" rIns="0" bIns="0" rtlCol="0">
            <a:noAutofit/>
          </a:bodyPr>
          <a:lstStyle/>
          <a:p>
            <a:r>
              <a:rPr lang="it-IT" sz="2200" b="1">
                <a:solidFill>
                  <a:srgbClr val="303030"/>
                </a:solidFill>
                <a:latin typeface="Aptos" panose="020B0004020202020204" pitchFamily="34" charset="0"/>
              </a:rPr>
              <a:t>Leggi lo schema usage del provider: le categorie non sono sempre disgiunte.</a:t>
            </a:r>
          </a:p>
        </p:txBody>
      </p:sp>
    </p:spTree>
    <p:custDataLst>
      <p:tags r:id="rId1"/>
    </p:custDataLst>
    <p:extLst>
      <p:ext uri="{BB962C8B-B14F-4D97-AF65-F5344CB8AC3E}">
        <p14:creationId xmlns:p14="http://schemas.microsoft.com/office/powerpoint/2010/main" val="24076450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C7E3C29A-54C8-D3C6-B2C3-8D6C69D949FE}"/>
              </a:ext>
            </a:extLst>
          </p:cNvPr>
          <p:cNvSpPr txBox="1"/>
          <p:nvPr/>
        </p:nvSpPr>
        <p:spPr>
          <a:xfrm>
            <a:off x="1625600" y="317499"/>
            <a:ext cx="10160000" cy="685800"/>
          </a:xfrm>
          <a:prstGeom prst="rect">
            <a:avLst/>
          </a:prstGeom>
          <a:noFill/>
        </p:spPr>
        <p:txBody>
          <a:bodyPr vert="horz" lIns="0" tIns="0" rIns="0" bIns="0" rtlCol="0">
            <a:noAutofit/>
          </a:bodyPr>
          <a:lstStyle/>
          <a:p>
            <a:r>
              <a:rPr lang="it-IT" sz="2800" b="1">
                <a:solidFill>
                  <a:srgbClr val="303030"/>
                </a:solidFill>
                <a:latin typeface="Aptos" panose="020B0004020202020204" pitchFamily="34" charset="0"/>
              </a:rPr>
              <a:t>Stabile davanti, variabile dopo: progettare il prefisso</a:t>
            </a:r>
          </a:p>
        </p:txBody>
      </p:sp>
      <p:sp>
        <p:nvSpPr>
          <p:cNvPr id="6" name="Rettangolo con angoli arrotondati 5">
            <a:extLst>
              <a:ext uri="{FF2B5EF4-FFF2-40B4-BE49-F238E27FC236}">
                <a16:creationId xmlns:a16="http://schemas.microsoft.com/office/drawing/2014/main" id="{F1F7FE52-4CFA-38F7-E953-02BF53AB1A69}"/>
              </a:ext>
            </a:extLst>
          </p:cNvPr>
          <p:cNvSpPr/>
          <p:nvPr/>
        </p:nvSpPr>
        <p:spPr>
          <a:xfrm>
            <a:off x="571500" y="1651000"/>
            <a:ext cx="7073900" cy="2273300"/>
          </a:xfrm>
          <a:prstGeom prst="roundRect">
            <a:avLst/>
          </a:prstGeom>
          <a:solidFill>
            <a:srgbClr val="EBF5E6"/>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B9C627B8-57D8-CF6F-98AD-F0864A3B7F92}"/>
              </a:ext>
            </a:extLst>
          </p:cNvPr>
          <p:cNvSpPr txBox="1"/>
          <p:nvPr/>
        </p:nvSpPr>
        <p:spPr>
          <a:xfrm>
            <a:off x="774700" y="1866900"/>
            <a:ext cx="6667500" cy="444500"/>
          </a:xfrm>
          <a:prstGeom prst="rect">
            <a:avLst/>
          </a:prstGeom>
          <a:noFill/>
        </p:spPr>
        <p:txBody>
          <a:bodyPr vert="horz" lIns="0" tIns="0" rIns="0" bIns="0" rtlCol="0">
            <a:noAutofit/>
          </a:bodyPr>
          <a:lstStyle/>
          <a:p>
            <a:r>
              <a:rPr lang="it-IT" sz="2400" b="1">
                <a:solidFill>
                  <a:srgbClr val="008278"/>
                </a:solidFill>
                <a:latin typeface="Aptos" panose="020B0004020202020204" pitchFamily="34" charset="0"/>
              </a:rPr>
              <a:t>PREFISSO STABILE</a:t>
            </a:r>
          </a:p>
        </p:txBody>
      </p:sp>
      <p:sp>
        <p:nvSpPr>
          <p:cNvPr id="8" name="CasellaDiTesto 7">
            <a:extLst>
              <a:ext uri="{FF2B5EF4-FFF2-40B4-BE49-F238E27FC236}">
                <a16:creationId xmlns:a16="http://schemas.microsoft.com/office/drawing/2014/main" id="{BD7833D7-DAA8-556A-C3A9-7FC3DD8C494E}"/>
              </a:ext>
            </a:extLst>
          </p:cNvPr>
          <p:cNvSpPr txBox="1"/>
          <p:nvPr/>
        </p:nvSpPr>
        <p:spPr>
          <a:xfrm>
            <a:off x="774700" y="2565400"/>
            <a:ext cx="6667500" cy="1219200"/>
          </a:xfrm>
          <a:prstGeom prst="rect">
            <a:avLst/>
          </a:prstGeom>
          <a:noFill/>
        </p:spPr>
        <p:txBody>
          <a:bodyPr vert="horz" lIns="0" tIns="0" rIns="0" bIns="0" rtlCol="0">
            <a:noAutofit/>
          </a:bodyPr>
          <a:lstStyle/>
          <a:p>
            <a:r>
              <a:rPr lang="it-IT" sz="2100">
                <a:solidFill>
                  <a:srgbClr val="303030"/>
                </a:solidFill>
                <a:latin typeface="Aptos" panose="020B0004020202020204" pitchFamily="34" charset="0"/>
              </a:rPr>
              <a:t>Regole versionate + schema tool stabile</a:t>
            </a:r>
          </a:p>
          <a:p>
            <a:r>
              <a:rPr lang="it-IT" sz="2100">
                <a:solidFill>
                  <a:srgbClr val="303030"/>
                </a:solidFill>
                <a:latin typeface="Aptos" panose="020B0004020202020204" pitchFamily="34" charset="0"/>
              </a:rPr>
              <a:t>Procedura / riferimenti comuni pertinenti</a:t>
            </a:r>
          </a:p>
          <a:p>
            <a:r>
              <a:rPr lang="it-IT" sz="2100">
                <a:solidFill>
                  <a:srgbClr val="303030"/>
                </a:solidFill>
                <a:latin typeface="Aptos" panose="020B0004020202020204" pitchFamily="34" charset="0"/>
              </a:rPr>
              <a:t>Stesso contenuto, stesso ordinamento</a:t>
            </a:r>
          </a:p>
        </p:txBody>
      </p:sp>
      <p:sp>
        <p:nvSpPr>
          <p:cNvPr id="9" name="Rettangolo con angoli arrotondati 8">
            <a:extLst>
              <a:ext uri="{FF2B5EF4-FFF2-40B4-BE49-F238E27FC236}">
                <a16:creationId xmlns:a16="http://schemas.microsoft.com/office/drawing/2014/main" id="{5C3B06DE-DF3B-8FED-D79B-8114EBCCA5EA}"/>
              </a:ext>
            </a:extLst>
          </p:cNvPr>
          <p:cNvSpPr/>
          <p:nvPr/>
        </p:nvSpPr>
        <p:spPr>
          <a:xfrm>
            <a:off x="7874000" y="1651000"/>
            <a:ext cx="3898900" cy="2273300"/>
          </a:xfrm>
          <a:prstGeom prst="roundRect">
            <a:avLst/>
          </a:prstGeom>
          <a:solidFill>
            <a:srgbClr val="FFF7E7"/>
          </a:solidFill>
          <a:ln>
            <a:solidFill>
              <a:srgbClr val="C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814A25FC-4288-9339-A96E-5227D7966E16}"/>
              </a:ext>
            </a:extLst>
          </p:cNvPr>
          <p:cNvSpPr txBox="1"/>
          <p:nvPr/>
        </p:nvSpPr>
        <p:spPr>
          <a:xfrm>
            <a:off x="8077200" y="1866899"/>
            <a:ext cx="3492500" cy="457200"/>
          </a:xfrm>
          <a:prstGeom prst="rect">
            <a:avLst/>
          </a:prstGeom>
          <a:noFill/>
        </p:spPr>
        <p:txBody>
          <a:bodyPr vert="horz" lIns="0" tIns="0" rIns="0" bIns="0" rtlCol="0">
            <a:noAutofit/>
          </a:bodyPr>
          <a:lstStyle/>
          <a:p>
            <a:r>
              <a:rPr lang="it-IT" sz="2300" b="1">
                <a:solidFill>
                  <a:srgbClr val="C08000"/>
                </a:solidFill>
                <a:latin typeface="Aptos" panose="020B0004020202020204" pitchFamily="34" charset="0"/>
              </a:rPr>
              <a:t>CODA VARIABILE</a:t>
            </a:r>
          </a:p>
        </p:txBody>
      </p:sp>
      <p:sp>
        <p:nvSpPr>
          <p:cNvPr id="11" name="CasellaDiTesto 10">
            <a:extLst>
              <a:ext uri="{FF2B5EF4-FFF2-40B4-BE49-F238E27FC236}">
                <a16:creationId xmlns:a16="http://schemas.microsoft.com/office/drawing/2014/main" id="{8CC53529-AEB4-8233-0D52-507F4758B23B}"/>
              </a:ext>
            </a:extLst>
          </p:cNvPr>
          <p:cNvSpPr txBox="1"/>
          <p:nvPr/>
        </p:nvSpPr>
        <p:spPr>
          <a:xfrm>
            <a:off x="8077200" y="2565400"/>
            <a:ext cx="3492500" cy="1168400"/>
          </a:xfrm>
          <a:prstGeom prst="rect">
            <a:avLst/>
          </a:prstGeom>
          <a:noFill/>
        </p:spPr>
        <p:txBody>
          <a:bodyPr vert="horz" lIns="0" tIns="0" rIns="0" bIns="0" rtlCol="0">
            <a:noAutofit/>
          </a:bodyPr>
          <a:lstStyle/>
          <a:p>
            <a:r>
              <a:rPr lang="it-IT" sz="2100">
                <a:solidFill>
                  <a:srgbClr val="303030"/>
                </a:solidFill>
                <a:latin typeface="Aptos" panose="020B0004020202020204" pitchFamily="34" charset="0"/>
              </a:rPr>
              <a:t>Richiesta utente</a:t>
            </a:r>
          </a:p>
          <a:p>
            <a:r>
              <a:rPr lang="it-IT" sz="2100">
                <a:solidFill>
                  <a:srgbClr val="303030"/>
                </a:solidFill>
                <a:latin typeface="Aptos" panose="020B0004020202020204" pitchFamily="34" charset="0"/>
              </a:rPr>
              <a:t>Dati recuperati / tool</a:t>
            </a:r>
          </a:p>
          <a:p>
            <a:r>
              <a:rPr lang="it-IT" sz="2100">
                <a:solidFill>
                  <a:srgbClr val="303030"/>
                </a:solidFill>
                <a:latin typeface="Aptos" panose="020B0004020202020204" pitchFamily="34" charset="0"/>
              </a:rPr>
              <a:t>Timestamp e ID</a:t>
            </a:r>
          </a:p>
        </p:txBody>
      </p:sp>
      <p:sp>
        <p:nvSpPr>
          <p:cNvPr id="12" name="CasellaDiTesto 11">
            <a:extLst>
              <a:ext uri="{FF2B5EF4-FFF2-40B4-BE49-F238E27FC236}">
                <a16:creationId xmlns:a16="http://schemas.microsoft.com/office/drawing/2014/main" id="{9613E8F2-331F-DA23-F481-73308FBAD42E}"/>
              </a:ext>
            </a:extLst>
          </p:cNvPr>
          <p:cNvSpPr txBox="1"/>
          <p:nvPr/>
        </p:nvSpPr>
        <p:spPr>
          <a:xfrm>
            <a:off x="571500" y="4432300"/>
            <a:ext cx="11201400" cy="787400"/>
          </a:xfrm>
          <a:prstGeom prst="rect">
            <a:avLst/>
          </a:prstGeom>
          <a:noFill/>
        </p:spPr>
        <p:txBody>
          <a:bodyPr vert="horz" lIns="0" tIns="0" rIns="0" bIns="0" rtlCol="0">
            <a:noAutofit/>
          </a:bodyPr>
          <a:lstStyle/>
          <a:p>
            <a:r>
              <a:rPr lang="it-IT" sz="2400">
                <a:solidFill>
                  <a:srgbClr val="303030"/>
                </a:solidFill>
                <a:latin typeface="Aptos" panose="020B0004020202020204" pitchFamily="34" charset="0"/>
              </a:rPr>
              <a:t>Da evitare: request ID o data corrente prima di tutte le regole comuni.</a:t>
            </a:r>
          </a:p>
        </p:txBody>
      </p:sp>
      <p:sp>
        <p:nvSpPr>
          <p:cNvPr id="13" name="CasellaDiTesto 12">
            <a:extLst>
              <a:ext uri="{FF2B5EF4-FFF2-40B4-BE49-F238E27FC236}">
                <a16:creationId xmlns:a16="http://schemas.microsoft.com/office/drawing/2014/main" id="{347F3539-AF5F-6077-5EEF-C6BBA69B77A6}"/>
              </a:ext>
            </a:extLst>
          </p:cNvPr>
          <p:cNvSpPr txBox="1"/>
          <p:nvPr/>
        </p:nvSpPr>
        <p:spPr>
          <a:xfrm>
            <a:off x="571500" y="5626100"/>
            <a:ext cx="11201400" cy="660400"/>
          </a:xfrm>
          <a:prstGeom prst="rect">
            <a:avLst/>
          </a:prstGeom>
          <a:noFill/>
        </p:spPr>
        <p:txBody>
          <a:bodyPr vert="horz" lIns="0" tIns="0" rIns="0" bIns="0" rtlCol="0">
            <a:noAutofit/>
          </a:bodyPr>
          <a:lstStyle/>
          <a:p>
            <a:r>
              <a:rPr lang="it-IT" sz="2200" b="1">
                <a:solidFill>
                  <a:srgbClr val="303030"/>
                </a:solidFill>
                <a:latin typeface="Aptos" panose="020B0004020202020204" pitchFamily="34" charset="0"/>
              </a:rPr>
              <a:t>Stabilità non significa contesto inutile: prima seleziona, poi rendi riusabile.</a:t>
            </a:r>
          </a:p>
        </p:txBody>
      </p:sp>
    </p:spTree>
    <p:custDataLst>
      <p:tags r:id="rId1"/>
    </p:custDataLst>
    <p:extLst>
      <p:ext uri="{BB962C8B-B14F-4D97-AF65-F5344CB8AC3E}">
        <p14:creationId xmlns:p14="http://schemas.microsoft.com/office/powerpoint/2010/main" val="1414818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16210CE8-33E1-73DF-AE05-03B1EBCC1514}"/>
              </a:ext>
            </a:extLst>
          </p:cNvPr>
          <p:cNvSpPr txBox="1"/>
          <p:nvPr/>
        </p:nvSpPr>
        <p:spPr>
          <a:xfrm>
            <a:off x="1625600" y="317499"/>
            <a:ext cx="10160000" cy="685800"/>
          </a:xfrm>
          <a:prstGeom prst="rect">
            <a:avLst/>
          </a:prstGeom>
          <a:noFill/>
        </p:spPr>
        <p:txBody>
          <a:bodyPr vert="horz" lIns="0" tIns="0" rIns="0" bIns="0" rtlCol="0">
            <a:noAutofit/>
          </a:bodyPr>
          <a:lstStyle/>
          <a:p>
            <a:r>
              <a:rPr lang="it-IT" sz="2800" b="1">
                <a:solidFill>
                  <a:srgbClr val="303030"/>
                </a:solidFill>
                <a:latin typeface="Aptos" panose="020B0004020202020204" pitchFamily="34" charset="0"/>
              </a:rPr>
              <a:t>Quanto risparmi? Conta anche l'output.</a:t>
            </a:r>
          </a:p>
        </p:txBody>
      </p:sp>
      <p:sp>
        <p:nvSpPr>
          <p:cNvPr id="6" name="Rettangolo con angoli arrotondati 5">
            <a:extLst>
              <a:ext uri="{FF2B5EF4-FFF2-40B4-BE49-F238E27FC236}">
                <a16:creationId xmlns:a16="http://schemas.microsoft.com/office/drawing/2014/main" id="{892EA9BD-B617-0AEE-E1C9-EB1AE5B17A7C}"/>
              </a:ext>
            </a:extLst>
          </p:cNvPr>
          <p:cNvSpPr/>
          <p:nvPr/>
        </p:nvSpPr>
        <p:spPr>
          <a:xfrm>
            <a:off x="571500" y="1651000"/>
            <a:ext cx="3581400" cy="36195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90080DBA-4D08-0485-2458-2C57F3C6BBB8}"/>
              </a:ext>
            </a:extLst>
          </p:cNvPr>
          <p:cNvSpPr txBox="1"/>
          <p:nvPr/>
        </p:nvSpPr>
        <p:spPr>
          <a:xfrm>
            <a:off x="774700" y="1854199"/>
            <a:ext cx="3175000" cy="533400"/>
          </a:xfrm>
          <a:prstGeom prst="rect">
            <a:avLst/>
          </a:prstGeom>
          <a:noFill/>
        </p:spPr>
        <p:txBody>
          <a:bodyPr vert="horz" lIns="0" tIns="0" rIns="0" bIns="0" rtlCol="0">
            <a:noAutofit/>
          </a:bodyPr>
          <a:lstStyle/>
          <a:p>
            <a:r>
              <a:rPr lang="it-IT" sz="2000" b="1">
                <a:solidFill>
                  <a:srgbClr val="008278"/>
                </a:solidFill>
                <a:latin typeface="Aptos" panose="020B0004020202020204" pitchFamily="34" charset="0"/>
              </a:rPr>
              <a:t>TARIFFE IPOTETICHE</a:t>
            </a:r>
          </a:p>
        </p:txBody>
      </p:sp>
      <p:sp>
        <p:nvSpPr>
          <p:cNvPr id="8" name="CasellaDiTesto 7">
            <a:extLst>
              <a:ext uri="{FF2B5EF4-FFF2-40B4-BE49-F238E27FC236}">
                <a16:creationId xmlns:a16="http://schemas.microsoft.com/office/drawing/2014/main" id="{53A746F5-6CB9-B336-9C62-2366FDCF0B7A}"/>
              </a:ext>
            </a:extLst>
          </p:cNvPr>
          <p:cNvSpPr txBox="1"/>
          <p:nvPr/>
        </p:nvSpPr>
        <p:spPr>
          <a:xfrm>
            <a:off x="774700" y="2552699"/>
            <a:ext cx="3175000" cy="2527300"/>
          </a:xfrm>
          <a:prstGeom prst="rect">
            <a:avLst/>
          </a:prstGeom>
          <a:noFill/>
        </p:spPr>
        <p:txBody>
          <a:bodyPr vert="horz" lIns="0" tIns="0" rIns="0" bIns="0" rtlCol="0">
            <a:noAutofit/>
          </a:bodyPr>
          <a:lstStyle/>
          <a:p>
            <a:r>
              <a:rPr lang="en-US" sz="2000">
                <a:solidFill>
                  <a:srgbClr val="303030"/>
                </a:solidFill>
                <a:latin typeface="Aptos" panose="020B0004020202020204" pitchFamily="34" charset="0"/>
              </a:rPr>
              <a:t>Per 1 milione di token:</a:t>
            </a:r>
          </a:p>
          <a:p>
            <a:r>
              <a:rPr lang="en-US" sz="2000">
                <a:solidFill>
                  <a:srgbClr val="303030"/>
                </a:solidFill>
                <a:latin typeface="Aptos" panose="020B0004020202020204" pitchFamily="34" charset="0"/>
              </a:rPr>
              <a:t>Input: $2</a:t>
            </a:r>
          </a:p>
          <a:p>
            <a:r>
              <a:rPr lang="en-US" sz="2000">
                <a:solidFill>
                  <a:srgbClr val="303030"/>
                </a:solidFill>
                <a:latin typeface="Aptos" panose="020B0004020202020204" pitchFamily="34" charset="0"/>
              </a:rPr>
              <a:t>Cache read: $0,20</a:t>
            </a:r>
          </a:p>
          <a:p>
            <a:r>
              <a:rPr lang="en-US" sz="2000">
                <a:solidFill>
                  <a:srgbClr val="303030"/>
                </a:solidFill>
                <a:latin typeface="Aptos" panose="020B0004020202020204" pitchFamily="34" charset="0"/>
              </a:rPr>
              <a:t>Output: $8</a:t>
            </a:r>
          </a:p>
          <a:p>
            <a:endParaRPr lang="en-US" sz="2000">
              <a:solidFill>
                <a:srgbClr val="303030"/>
              </a:solidFill>
              <a:latin typeface="Aptos" panose="020B0004020202020204" pitchFamily="34" charset="0"/>
            </a:endParaRPr>
          </a:p>
          <a:p>
            <a:r>
              <a:rPr lang="en-US" sz="2000">
                <a:solidFill>
                  <a:srgbClr val="303030"/>
                </a:solidFill>
                <a:latin typeface="Aptos" panose="020B0004020202020204" pitchFamily="34" charset="0"/>
              </a:rPr>
              <a:t>Cache write = 0.</a:t>
            </a:r>
            <a:endParaRPr lang="it-IT" sz="2000">
              <a:solidFill>
                <a:srgbClr val="303030"/>
              </a:solidFill>
              <a:latin typeface="Aptos" panose="020B0004020202020204" pitchFamily="34" charset="0"/>
            </a:endParaRPr>
          </a:p>
        </p:txBody>
      </p:sp>
      <p:sp>
        <p:nvSpPr>
          <p:cNvPr id="9" name="Rettangolo con angoli arrotondati 8">
            <a:extLst>
              <a:ext uri="{FF2B5EF4-FFF2-40B4-BE49-F238E27FC236}">
                <a16:creationId xmlns:a16="http://schemas.microsoft.com/office/drawing/2014/main" id="{39AF5706-B0EC-6C79-0E8A-75212EB46F8E}"/>
              </a:ext>
            </a:extLst>
          </p:cNvPr>
          <p:cNvSpPr/>
          <p:nvPr/>
        </p:nvSpPr>
        <p:spPr>
          <a:xfrm>
            <a:off x="4381500" y="1651000"/>
            <a:ext cx="3581400" cy="3619500"/>
          </a:xfrm>
          <a:prstGeom prst="roundRect">
            <a:avLst/>
          </a:prstGeom>
          <a:solidFill>
            <a:srgbClr val="F2F2F2"/>
          </a:solidFill>
          <a:ln>
            <a:solidFill>
              <a:srgbClr val="C06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2414E7F4-6021-2712-8A6B-E5FA093C23B5}"/>
              </a:ext>
            </a:extLst>
          </p:cNvPr>
          <p:cNvSpPr txBox="1"/>
          <p:nvPr/>
        </p:nvSpPr>
        <p:spPr>
          <a:xfrm>
            <a:off x="4584700" y="1854199"/>
            <a:ext cx="3175000" cy="533400"/>
          </a:xfrm>
          <a:prstGeom prst="rect">
            <a:avLst/>
          </a:prstGeom>
          <a:noFill/>
        </p:spPr>
        <p:txBody>
          <a:bodyPr vert="horz" lIns="0" tIns="0" rIns="0" bIns="0" rtlCol="0">
            <a:noAutofit/>
          </a:bodyPr>
          <a:lstStyle/>
          <a:p>
            <a:r>
              <a:rPr lang="it-IT" sz="2000" b="1">
                <a:solidFill>
                  <a:srgbClr val="C064AA"/>
                </a:solidFill>
                <a:latin typeface="Aptos" panose="020B0004020202020204" pitchFamily="34" charset="0"/>
              </a:rPr>
              <a:t>SENZA CACHE</a:t>
            </a:r>
          </a:p>
        </p:txBody>
      </p:sp>
      <p:sp>
        <p:nvSpPr>
          <p:cNvPr id="11" name="CasellaDiTesto 10">
            <a:extLst>
              <a:ext uri="{FF2B5EF4-FFF2-40B4-BE49-F238E27FC236}">
                <a16:creationId xmlns:a16="http://schemas.microsoft.com/office/drawing/2014/main" id="{09394A14-C666-B97D-677E-5E0CE320BD14}"/>
              </a:ext>
            </a:extLst>
          </p:cNvPr>
          <p:cNvSpPr txBox="1"/>
          <p:nvPr/>
        </p:nvSpPr>
        <p:spPr>
          <a:xfrm>
            <a:off x="4584700" y="2552700"/>
            <a:ext cx="3175000" cy="2527300"/>
          </a:xfrm>
          <a:prstGeom prst="rect">
            <a:avLst/>
          </a:prstGeom>
          <a:noFill/>
        </p:spPr>
        <p:txBody>
          <a:bodyPr vert="horz" lIns="0" tIns="0" rIns="0" bIns="0" rtlCol="0">
            <a:noAutofit/>
          </a:bodyPr>
          <a:lstStyle/>
          <a:p>
            <a:r>
              <a:rPr lang="en-US" sz="2000">
                <a:solidFill>
                  <a:srgbClr val="303030"/>
                </a:solidFill>
                <a:latin typeface="Aptos" panose="020B0004020202020204" pitchFamily="34" charset="0"/>
              </a:rPr>
              <a:t>10.000 input -&gt; $0,020</a:t>
            </a:r>
          </a:p>
          <a:p>
            <a:r>
              <a:rPr lang="en-US" sz="2000">
                <a:solidFill>
                  <a:srgbClr val="303030"/>
                </a:solidFill>
                <a:latin typeface="Aptos" panose="020B0004020202020204" pitchFamily="34" charset="0"/>
              </a:rPr>
              <a:t>1.000 output -&gt; $0,008</a:t>
            </a:r>
          </a:p>
          <a:p>
            <a:endParaRPr lang="en-US" sz="2000">
              <a:solidFill>
                <a:srgbClr val="303030"/>
              </a:solidFill>
              <a:latin typeface="Aptos" panose="020B0004020202020204" pitchFamily="34" charset="0"/>
            </a:endParaRPr>
          </a:p>
          <a:p>
            <a:r>
              <a:rPr lang="en-US" sz="2000">
                <a:solidFill>
                  <a:srgbClr val="303030"/>
                </a:solidFill>
                <a:latin typeface="Aptos" panose="020B0004020202020204" pitchFamily="34" charset="0"/>
              </a:rPr>
              <a:t>Totale: $0,028</a:t>
            </a:r>
            <a:endParaRPr lang="it-IT" sz="2000">
              <a:solidFill>
                <a:srgbClr val="303030"/>
              </a:solidFill>
              <a:latin typeface="Aptos" panose="020B0004020202020204" pitchFamily="34" charset="0"/>
            </a:endParaRPr>
          </a:p>
        </p:txBody>
      </p:sp>
      <p:sp>
        <p:nvSpPr>
          <p:cNvPr id="12" name="Rettangolo con angoli arrotondati 11">
            <a:extLst>
              <a:ext uri="{FF2B5EF4-FFF2-40B4-BE49-F238E27FC236}">
                <a16:creationId xmlns:a16="http://schemas.microsoft.com/office/drawing/2014/main" id="{399A9B87-EE70-4BEB-856B-B28E811CD770}"/>
              </a:ext>
            </a:extLst>
          </p:cNvPr>
          <p:cNvSpPr/>
          <p:nvPr/>
        </p:nvSpPr>
        <p:spPr>
          <a:xfrm>
            <a:off x="8191500" y="1651000"/>
            <a:ext cx="3581400" cy="3619500"/>
          </a:xfrm>
          <a:prstGeom prst="roundRect">
            <a:avLst/>
          </a:prstGeom>
          <a:solidFill>
            <a:srgbClr val="F2F2F2"/>
          </a:solidFill>
          <a:ln>
            <a:solidFill>
              <a:srgbClr val="C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913F36DF-43AF-857F-7ECF-4CD01A82F292}"/>
              </a:ext>
            </a:extLst>
          </p:cNvPr>
          <p:cNvSpPr txBox="1"/>
          <p:nvPr/>
        </p:nvSpPr>
        <p:spPr>
          <a:xfrm>
            <a:off x="8394700" y="1854199"/>
            <a:ext cx="3175000" cy="533400"/>
          </a:xfrm>
          <a:prstGeom prst="rect">
            <a:avLst/>
          </a:prstGeom>
          <a:noFill/>
        </p:spPr>
        <p:txBody>
          <a:bodyPr vert="horz" lIns="0" tIns="0" rIns="0" bIns="0" rtlCol="0">
            <a:noAutofit/>
          </a:bodyPr>
          <a:lstStyle/>
          <a:p>
            <a:r>
              <a:rPr lang="it-IT" sz="2000" b="1">
                <a:solidFill>
                  <a:srgbClr val="C08000"/>
                </a:solidFill>
                <a:latin typeface="Aptos" panose="020B0004020202020204" pitchFamily="34" charset="0"/>
              </a:rPr>
              <a:t>CON 80% INPUT CACHED</a:t>
            </a:r>
          </a:p>
        </p:txBody>
      </p:sp>
      <p:sp>
        <p:nvSpPr>
          <p:cNvPr id="14" name="CasellaDiTesto 13">
            <a:extLst>
              <a:ext uri="{FF2B5EF4-FFF2-40B4-BE49-F238E27FC236}">
                <a16:creationId xmlns:a16="http://schemas.microsoft.com/office/drawing/2014/main" id="{7D158F6D-C9E9-B008-E513-3CD9C8BD6601}"/>
              </a:ext>
            </a:extLst>
          </p:cNvPr>
          <p:cNvSpPr txBox="1"/>
          <p:nvPr/>
        </p:nvSpPr>
        <p:spPr>
          <a:xfrm>
            <a:off x="8394700" y="2552699"/>
            <a:ext cx="3175000" cy="2527300"/>
          </a:xfrm>
          <a:prstGeom prst="rect">
            <a:avLst/>
          </a:prstGeom>
          <a:noFill/>
        </p:spPr>
        <p:txBody>
          <a:bodyPr vert="horz" lIns="0" tIns="0" rIns="0" bIns="0" rtlCol="0">
            <a:noAutofit/>
          </a:bodyPr>
          <a:lstStyle/>
          <a:p>
            <a:r>
              <a:rPr lang="en-US" sz="2000">
                <a:solidFill>
                  <a:srgbClr val="303030"/>
                </a:solidFill>
                <a:latin typeface="Aptos" panose="020B0004020202020204" pitchFamily="34" charset="0"/>
              </a:rPr>
              <a:t>2.000 nuovi -&gt; $0,004</a:t>
            </a:r>
          </a:p>
          <a:p>
            <a:r>
              <a:rPr lang="en-US" sz="2000">
                <a:solidFill>
                  <a:srgbClr val="303030"/>
                </a:solidFill>
                <a:latin typeface="Aptos" panose="020B0004020202020204" pitchFamily="34" charset="0"/>
              </a:rPr>
              <a:t>8.000 read -&gt; $0,0016</a:t>
            </a:r>
          </a:p>
          <a:p>
            <a:r>
              <a:rPr lang="en-US" sz="2000">
                <a:solidFill>
                  <a:srgbClr val="303030"/>
                </a:solidFill>
                <a:latin typeface="Aptos" panose="020B0004020202020204" pitchFamily="34" charset="0"/>
              </a:rPr>
              <a:t>1.000 output -&gt; $0,008</a:t>
            </a:r>
          </a:p>
          <a:p>
            <a:endParaRPr lang="en-US" sz="2000">
              <a:solidFill>
                <a:srgbClr val="303030"/>
              </a:solidFill>
              <a:latin typeface="Aptos" panose="020B0004020202020204" pitchFamily="34" charset="0"/>
            </a:endParaRPr>
          </a:p>
          <a:p>
            <a:r>
              <a:rPr lang="en-US" sz="2000">
                <a:solidFill>
                  <a:srgbClr val="303030"/>
                </a:solidFill>
                <a:latin typeface="Aptos" panose="020B0004020202020204" pitchFamily="34" charset="0"/>
              </a:rPr>
              <a:t>Totale: $0,0136</a:t>
            </a:r>
            <a:endParaRPr lang="it-IT" sz="2000">
              <a:solidFill>
                <a:srgbClr val="303030"/>
              </a:solidFill>
              <a:latin typeface="Aptos" panose="020B0004020202020204" pitchFamily="34" charset="0"/>
            </a:endParaRPr>
          </a:p>
        </p:txBody>
      </p:sp>
      <p:sp>
        <p:nvSpPr>
          <p:cNvPr id="15" name="CasellaDiTesto 14">
            <a:extLst>
              <a:ext uri="{FF2B5EF4-FFF2-40B4-BE49-F238E27FC236}">
                <a16:creationId xmlns:a16="http://schemas.microsoft.com/office/drawing/2014/main" id="{E3A173CC-4358-0F08-838F-A41D8D35AC9C}"/>
              </a:ext>
            </a:extLst>
          </p:cNvPr>
          <p:cNvSpPr txBox="1"/>
          <p:nvPr/>
        </p:nvSpPr>
        <p:spPr>
          <a:xfrm>
            <a:off x="571500" y="5626100"/>
            <a:ext cx="11201400" cy="660400"/>
          </a:xfrm>
          <a:prstGeom prst="rect">
            <a:avLst/>
          </a:prstGeom>
          <a:noFill/>
        </p:spPr>
        <p:txBody>
          <a:bodyPr vert="horz" lIns="0" tIns="0" rIns="0" bIns="0" rtlCol="0">
            <a:noAutofit/>
          </a:bodyPr>
          <a:lstStyle/>
          <a:p>
            <a:r>
              <a:rPr lang="it-IT" sz="2200" b="1">
                <a:solidFill>
                  <a:srgbClr val="303030"/>
                </a:solidFill>
                <a:latin typeface="Aptos" panose="020B0004020202020204" pitchFamily="34" charset="0"/>
              </a:rPr>
              <a:t>Risparmio totale: 51,4%. Aggiungi eventuali costi di cache write.</a:t>
            </a:r>
          </a:p>
        </p:txBody>
      </p:sp>
    </p:spTree>
    <p:custDataLst>
      <p:tags r:id="rId1"/>
    </p:custDataLst>
    <p:extLst>
      <p:ext uri="{BB962C8B-B14F-4D97-AF65-F5344CB8AC3E}">
        <p14:creationId xmlns:p14="http://schemas.microsoft.com/office/powerpoint/2010/main" val="2379795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63837D6C-184A-5E3D-5B88-64950AA2D572}"/>
              </a:ext>
            </a:extLst>
          </p:cNvPr>
          <p:cNvSpPr txBox="1"/>
          <p:nvPr/>
        </p:nvSpPr>
        <p:spPr>
          <a:xfrm>
            <a:off x="1625600" y="317499"/>
            <a:ext cx="10160000" cy="685800"/>
          </a:xfrm>
          <a:prstGeom prst="rect">
            <a:avLst/>
          </a:prstGeom>
          <a:noFill/>
        </p:spPr>
        <p:txBody>
          <a:bodyPr vert="horz" lIns="0" tIns="0" rIns="0" bIns="0" rtlCol="0">
            <a:noAutofit/>
          </a:bodyPr>
          <a:lstStyle/>
          <a:p>
            <a:r>
              <a:rPr lang="it-IT" sz="2800" b="1">
                <a:solidFill>
                  <a:srgbClr val="303030"/>
                </a:solidFill>
                <a:latin typeface="Aptos" panose="020B0004020202020204" pitchFamily="34" charset="0"/>
              </a:rPr>
              <a:t>MAF non garantisce la cache: governa la richiesta</a:t>
            </a:r>
          </a:p>
        </p:txBody>
      </p:sp>
      <p:sp>
        <p:nvSpPr>
          <p:cNvPr id="6" name="Rettangolo con angoli arrotondati 5">
            <a:extLst>
              <a:ext uri="{FF2B5EF4-FFF2-40B4-BE49-F238E27FC236}">
                <a16:creationId xmlns:a16="http://schemas.microsoft.com/office/drawing/2014/main" id="{99B031FD-2806-87AB-058A-FBC39B2EA33F}"/>
              </a:ext>
            </a:extLst>
          </p:cNvPr>
          <p:cNvSpPr/>
          <p:nvPr/>
        </p:nvSpPr>
        <p:spPr>
          <a:xfrm>
            <a:off x="571500" y="1651000"/>
            <a:ext cx="3581400" cy="36195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87BF6005-0F3F-426C-D6F9-332A8A58D506}"/>
              </a:ext>
            </a:extLst>
          </p:cNvPr>
          <p:cNvSpPr txBox="1"/>
          <p:nvPr/>
        </p:nvSpPr>
        <p:spPr>
          <a:xfrm>
            <a:off x="774700" y="1854199"/>
            <a:ext cx="3175000" cy="533400"/>
          </a:xfrm>
          <a:prstGeom prst="rect">
            <a:avLst/>
          </a:prstGeom>
          <a:noFill/>
        </p:spPr>
        <p:txBody>
          <a:bodyPr vert="horz" lIns="0" tIns="0" rIns="0" bIns="0" rtlCol="0">
            <a:noAutofit/>
          </a:bodyPr>
          <a:lstStyle/>
          <a:p>
            <a:r>
              <a:rPr lang="it-IT" sz="2000" b="1">
                <a:solidFill>
                  <a:srgbClr val="008278"/>
                </a:solidFill>
                <a:latin typeface="Aptos" panose="020B0004020202020204" pitchFamily="34" charset="0"/>
              </a:rPr>
              <a:t>NEL FRAMEWORK</a:t>
            </a:r>
          </a:p>
        </p:txBody>
      </p:sp>
      <p:sp>
        <p:nvSpPr>
          <p:cNvPr id="8" name="CasellaDiTesto 7">
            <a:extLst>
              <a:ext uri="{FF2B5EF4-FFF2-40B4-BE49-F238E27FC236}">
                <a16:creationId xmlns:a16="http://schemas.microsoft.com/office/drawing/2014/main" id="{FE002D16-7E3C-836B-7B69-C6070A9FB251}"/>
              </a:ext>
            </a:extLst>
          </p:cNvPr>
          <p:cNvSpPr txBox="1"/>
          <p:nvPr/>
        </p:nvSpPr>
        <p:spPr>
          <a:xfrm>
            <a:off x="774700" y="2552700"/>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Istruzioni versionate.</a:t>
            </a:r>
          </a:p>
          <a:p>
            <a:r>
              <a:rPr lang="it-IT" sz="2000">
                <a:solidFill>
                  <a:srgbClr val="303030"/>
                </a:solidFill>
                <a:latin typeface="Aptos" panose="020B0004020202020204" pitchFamily="34" charset="0"/>
              </a:rPr>
              <a:t>Context provider mirati.</a:t>
            </a:r>
          </a:p>
          <a:p>
            <a:r>
              <a:rPr lang="it-IT" sz="2000">
                <a:solidFill>
                  <a:srgbClr val="303030"/>
                </a:solidFill>
                <a:latin typeface="Aptos" panose="020B0004020202020204" pitchFamily="34" charset="0"/>
              </a:rPr>
              <a:t>Tool schema stabili.</a:t>
            </a:r>
          </a:p>
          <a:p>
            <a:r>
              <a:rPr lang="it-IT" sz="2000">
                <a:solidFill>
                  <a:srgbClr val="303030"/>
                </a:solidFill>
                <a:latin typeface="Aptos" panose="020B0004020202020204" pitchFamily="34" charset="0"/>
              </a:rPr>
              <a:t>History selezionata.</a:t>
            </a:r>
          </a:p>
        </p:txBody>
      </p:sp>
      <p:sp>
        <p:nvSpPr>
          <p:cNvPr id="9" name="Rettangolo con angoli arrotondati 8">
            <a:extLst>
              <a:ext uri="{FF2B5EF4-FFF2-40B4-BE49-F238E27FC236}">
                <a16:creationId xmlns:a16="http://schemas.microsoft.com/office/drawing/2014/main" id="{C420D4C8-2249-44EB-8776-F4E2CB9433E0}"/>
              </a:ext>
            </a:extLst>
          </p:cNvPr>
          <p:cNvSpPr/>
          <p:nvPr/>
        </p:nvSpPr>
        <p:spPr>
          <a:xfrm>
            <a:off x="4381500" y="1651000"/>
            <a:ext cx="3581400" cy="3619500"/>
          </a:xfrm>
          <a:prstGeom prst="roundRect">
            <a:avLst/>
          </a:prstGeom>
          <a:solidFill>
            <a:srgbClr val="F2F2F2"/>
          </a:solidFill>
          <a:ln>
            <a:solidFill>
              <a:srgbClr val="C06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C29A671F-A949-10B4-ABFB-256E4655305E}"/>
              </a:ext>
            </a:extLst>
          </p:cNvPr>
          <p:cNvSpPr txBox="1"/>
          <p:nvPr/>
        </p:nvSpPr>
        <p:spPr>
          <a:xfrm>
            <a:off x="4584700" y="1854199"/>
            <a:ext cx="3175000" cy="533400"/>
          </a:xfrm>
          <a:prstGeom prst="rect">
            <a:avLst/>
          </a:prstGeom>
          <a:noFill/>
        </p:spPr>
        <p:txBody>
          <a:bodyPr vert="horz" lIns="0" tIns="0" rIns="0" bIns="0" rtlCol="0">
            <a:noAutofit/>
          </a:bodyPr>
          <a:lstStyle/>
          <a:p>
            <a:r>
              <a:rPr lang="it-IT" sz="2000" b="1">
                <a:solidFill>
                  <a:srgbClr val="C064AA"/>
                </a:solidFill>
                <a:latin typeface="Aptos" panose="020B0004020202020204" pitchFamily="34" charset="0"/>
              </a:rPr>
              <a:t>NEL PROVIDER</a:t>
            </a:r>
          </a:p>
        </p:txBody>
      </p:sp>
      <p:sp>
        <p:nvSpPr>
          <p:cNvPr id="11" name="CasellaDiTesto 10">
            <a:extLst>
              <a:ext uri="{FF2B5EF4-FFF2-40B4-BE49-F238E27FC236}">
                <a16:creationId xmlns:a16="http://schemas.microsoft.com/office/drawing/2014/main" id="{88F288C0-5C48-12DB-1CAB-353F969606D5}"/>
              </a:ext>
            </a:extLst>
          </p:cNvPr>
          <p:cNvSpPr txBox="1"/>
          <p:nvPr/>
        </p:nvSpPr>
        <p:spPr>
          <a:xfrm>
            <a:off x="458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Modello / deployment.</a:t>
            </a:r>
          </a:p>
          <a:p>
            <a:r>
              <a:rPr lang="it-IT" sz="2000">
                <a:solidFill>
                  <a:srgbClr val="303030"/>
                </a:solidFill>
                <a:latin typeface="Aptos" panose="020B0004020202020204" pitchFamily="34" charset="0"/>
              </a:rPr>
              <a:t>Cache key e breakpoint se supportati.</a:t>
            </a:r>
          </a:p>
          <a:p>
            <a:r>
              <a:rPr lang="it-IT" sz="2000">
                <a:solidFill>
                  <a:srgbClr val="303030"/>
                </a:solidFill>
                <a:latin typeface="Aptos" panose="020B0004020202020204" pitchFamily="34" charset="0"/>
              </a:rPr>
              <a:t>Retention e policy.</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Non sono opzioni universali.</a:t>
            </a:r>
          </a:p>
        </p:txBody>
      </p:sp>
      <p:sp>
        <p:nvSpPr>
          <p:cNvPr id="12" name="Rettangolo con angoli arrotondati 11">
            <a:extLst>
              <a:ext uri="{FF2B5EF4-FFF2-40B4-BE49-F238E27FC236}">
                <a16:creationId xmlns:a16="http://schemas.microsoft.com/office/drawing/2014/main" id="{9213A912-BE82-7A34-5D7F-01F656E5019D}"/>
              </a:ext>
            </a:extLst>
          </p:cNvPr>
          <p:cNvSpPr/>
          <p:nvPr/>
        </p:nvSpPr>
        <p:spPr>
          <a:xfrm>
            <a:off x="8191500" y="1651000"/>
            <a:ext cx="3581400" cy="3619500"/>
          </a:xfrm>
          <a:prstGeom prst="roundRect">
            <a:avLst/>
          </a:prstGeom>
          <a:solidFill>
            <a:srgbClr val="F2F2F2"/>
          </a:solidFill>
          <a:ln>
            <a:solidFill>
              <a:srgbClr val="C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8E18DADA-A590-BF2B-D0CB-9BBD6927B037}"/>
              </a:ext>
            </a:extLst>
          </p:cNvPr>
          <p:cNvSpPr txBox="1"/>
          <p:nvPr/>
        </p:nvSpPr>
        <p:spPr>
          <a:xfrm>
            <a:off x="8394700" y="1854199"/>
            <a:ext cx="3175000" cy="533400"/>
          </a:xfrm>
          <a:prstGeom prst="rect">
            <a:avLst/>
          </a:prstGeom>
          <a:noFill/>
        </p:spPr>
        <p:txBody>
          <a:bodyPr vert="horz" lIns="0" tIns="0" rIns="0" bIns="0" rtlCol="0">
            <a:noAutofit/>
          </a:bodyPr>
          <a:lstStyle/>
          <a:p>
            <a:r>
              <a:rPr lang="it-IT" sz="2000" b="1">
                <a:solidFill>
                  <a:srgbClr val="C08000"/>
                </a:solidFill>
                <a:latin typeface="Aptos" panose="020B0004020202020204" pitchFamily="34" charset="0"/>
              </a:rPr>
              <a:t>NELLA TELEMETRIA</a:t>
            </a:r>
          </a:p>
        </p:txBody>
      </p:sp>
      <p:sp>
        <p:nvSpPr>
          <p:cNvPr id="14" name="CasellaDiTesto 13">
            <a:extLst>
              <a:ext uri="{FF2B5EF4-FFF2-40B4-BE49-F238E27FC236}">
                <a16:creationId xmlns:a16="http://schemas.microsoft.com/office/drawing/2014/main" id="{E0E7668E-40DA-60D3-1EDB-5819959D5EF1}"/>
              </a:ext>
            </a:extLst>
          </p:cNvPr>
          <p:cNvSpPr txBox="1"/>
          <p:nvPr/>
        </p:nvSpPr>
        <p:spPr>
          <a:xfrm>
            <a:off x="839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Input / output.</a:t>
            </a:r>
          </a:p>
          <a:p>
            <a:r>
              <a:rPr lang="it-IT" sz="2000">
                <a:solidFill>
                  <a:srgbClr val="303030"/>
                </a:solidFill>
                <a:latin typeface="Aptos" panose="020B0004020202020204" pitchFamily="34" charset="0"/>
              </a:rPr>
              <a:t>Cache read / write.</a:t>
            </a:r>
          </a:p>
          <a:p>
            <a:r>
              <a:rPr lang="it-IT" sz="2000">
                <a:solidFill>
                  <a:srgbClr val="303030"/>
                </a:solidFill>
                <a:latin typeface="Aptos" panose="020B0004020202020204" pitchFamily="34" charset="0"/>
              </a:rPr>
              <a:t>Chat e tool call.</a:t>
            </a:r>
          </a:p>
          <a:p>
            <a:r>
              <a:rPr lang="it-IT" sz="2000">
                <a:solidFill>
                  <a:srgbClr val="303030"/>
                </a:solidFill>
                <a:latin typeface="Aptos" panose="020B0004020202020204" pitchFamily="34" charset="0"/>
              </a:rPr>
              <a:t>Costi, latenza ed esito.</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Misura il payload effettivo.</a:t>
            </a:r>
          </a:p>
        </p:txBody>
      </p:sp>
      <p:sp>
        <p:nvSpPr>
          <p:cNvPr id="15" name="CasellaDiTesto 14">
            <a:extLst>
              <a:ext uri="{FF2B5EF4-FFF2-40B4-BE49-F238E27FC236}">
                <a16:creationId xmlns:a16="http://schemas.microsoft.com/office/drawing/2014/main" id="{23F49B3F-AD2B-03DE-E55B-4FBAE14D04E0}"/>
              </a:ext>
            </a:extLst>
          </p:cNvPr>
          <p:cNvSpPr txBox="1"/>
          <p:nvPr/>
        </p:nvSpPr>
        <p:spPr>
          <a:xfrm>
            <a:off x="571500" y="5626100"/>
            <a:ext cx="11201400" cy="660400"/>
          </a:xfrm>
          <a:prstGeom prst="rect">
            <a:avLst/>
          </a:prstGeom>
          <a:noFill/>
        </p:spPr>
        <p:txBody>
          <a:bodyPr vert="horz" lIns="0" tIns="0" rIns="0" bIns="0" rtlCol="0">
            <a:noAutofit/>
          </a:bodyPr>
          <a:lstStyle/>
          <a:p>
            <a:r>
              <a:rPr lang="it-IT" sz="2200" b="1">
                <a:solidFill>
                  <a:srgbClr val="303030"/>
                </a:solidFill>
                <a:latin typeface="Aptos" panose="020B0004020202020204" pitchFamily="34" charset="0"/>
              </a:rPr>
              <a:t>BASIC non dimostra un cache hit: verifica soglia, provider e contatori.</a:t>
            </a:r>
          </a:p>
        </p:txBody>
      </p:sp>
    </p:spTree>
    <p:custDataLst>
      <p:tags r:id="rId1"/>
    </p:custDataLst>
    <p:extLst>
      <p:ext uri="{BB962C8B-B14F-4D97-AF65-F5344CB8AC3E}">
        <p14:creationId xmlns:p14="http://schemas.microsoft.com/office/powerpoint/2010/main" val="19990487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1500" y="1308100"/>
            <a:ext cx="11049000" cy="279400"/>
          </a:xfrm>
          <a:prstGeom prst="rect">
            <a:avLst/>
          </a:prstGeom>
          <a:noFill/>
          <a:ln/>
        </p:spPr>
        <p:txBody>
          <a:bodyPr wrap="square" lIns="0" tIns="0" rIns="0" bIns="0" rtlCol="0" anchor="ctr"/>
          <a:lstStyle/>
          <a:p>
            <a:pPr marL="0" indent="0">
              <a:buNone/>
            </a:pPr>
            <a:r>
              <a:rPr lang="en-US" sz="1000" b="1" kern="0" spc="220" dirty="0">
                <a:solidFill>
                  <a:srgbClr val="076B62"/>
                </a:solidFill>
              </a:rPr>
              <a:t>PROMPT DESIGN</a:t>
            </a:r>
            <a:endParaRPr lang="en-US" sz="1000" dirty="0">
              <a:solidFill>
                <a:srgbClr val="076B62"/>
              </a:solidFill>
            </a:endParaRPr>
          </a:p>
        </p:txBody>
      </p:sp>
      <p:sp>
        <p:nvSpPr>
          <p:cNvPr id="4" name="Text 2"/>
          <p:cNvSpPr/>
          <p:nvPr/>
        </p:nvSpPr>
        <p:spPr>
          <a:xfrm>
            <a:off x="571500" y="1625600"/>
            <a:ext cx="11201400" cy="431800"/>
          </a:xfrm>
          <a:prstGeom prst="rect">
            <a:avLst/>
          </a:prstGeom>
          <a:noFill/>
          <a:ln/>
        </p:spPr>
        <p:txBody>
          <a:bodyPr wrap="square" lIns="0" tIns="0" rIns="0" bIns="0" rtlCol="0" anchor="ctr">
            <a:normAutofit/>
          </a:bodyPr>
          <a:lstStyle/>
          <a:p>
            <a:pPr marL="0" indent="0">
              <a:buNone/>
            </a:pPr>
            <a:r>
              <a:rPr lang="en-US" sz="1300" dirty="0">
                <a:solidFill>
                  <a:srgbClr val="526A76"/>
                </a:solidFill>
              </a:rPr>
              <a:t>Riduci ambiguità prima di ridurre token.</a:t>
            </a:r>
          </a:p>
        </p:txBody>
      </p:sp>
      <p:grpSp>
        <p:nvGrpSpPr>
          <p:cNvPr id="39" name="OriginalContent_16">
            <a:extLst>
              <a:ext uri="{FF2B5EF4-FFF2-40B4-BE49-F238E27FC236}">
                <a16:creationId xmlns:a16="http://schemas.microsoft.com/office/drawing/2014/main" id="{04B313E4-0422-3669-6B55-33A44F0EFFAD}"/>
              </a:ext>
            </a:extLst>
          </p:cNvPr>
          <p:cNvGrpSpPr>
            <a:grpSpLocks noChangeAspect="1"/>
          </p:cNvGrpSpPr>
          <p:nvPr/>
        </p:nvGrpSpPr>
        <p:grpSpPr>
          <a:xfrm>
            <a:off x="594360" y="2120900"/>
            <a:ext cx="11155680" cy="3977640"/>
            <a:chOff x="594360" y="1755648"/>
            <a:chExt cx="11155680" cy="3977640"/>
          </a:xfrm>
        </p:grpSpPr>
        <p:sp>
          <p:nvSpPr>
            <p:cNvPr id="5" name="Shape 3"/>
            <p:cNvSpPr/>
            <p:nvPr/>
          </p:nvSpPr>
          <p:spPr>
            <a:xfrm>
              <a:off x="594360" y="1755648"/>
              <a:ext cx="10972800" cy="0"/>
            </a:xfrm>
            <a:prstGeom prst="line">
              <a:avLst/>
            </a:prstGeom>
            <a:noFill/>
            <a:ln w="12700">
              <a:solidFill>
                <a:srgbClr val="D6E0E4"/>
              </a:solidFill>
              <a:prstDash val="solid"/>
            </a:ln>
          </p:spPr>
          <p:txBody>
            <a:bodyPr/>
            <a:lstStyle/>
            <a:p>
              <a:endParaRPr lang="it-IT"/>
            </a:p>
          </p:txBody>
        </p:sp>
        <p:sp>
          <p:nvSpPr>
            <p:cNvPr id="6" name="Shape 4"/>
            <p:cNvSpPr/>
            <p:nvPr/>
          </p:nvSpPr>
          <p:spPr>
            <a:xfrm>
              <a:off x="640080" y="1993392"/>
              <a:ext cx="3429000" cy="1170432"/>
            </a:xfrm>
            <a:prstGeom prst="roundRect">
              <a:avLst>
                <a:gd name="adj" fmla="val 3906"/>
              </a:avLst>
            </a:prstGeom>
            <a:solidFill>
              <a:srgbClr val="FFFFFF"/>
            </a:solidFill>
            <a:ln w="12700">
              <a:solidFill>
                <a:srgbClr val="D6E0E4"/>
              </a:solidFill>
              <a:prstDash val="solid"/>
            </a:ln>
          </p:spPr>
          <p:txBody>
            <a:bodyPr/>
            <a:lstStyle/>
            <a:p>
              <a:endParaRPr lang="it-IT"/>
            </a:p>
          </p:txBody>
        </p:sp>
        <p:sp>
          <p:nvSpPr>
            <p:cNvPr id="7" name="Shape 5"/>
            <p:cNvSpPr/>
            <p:nvPr/>
          </p:nvSpPr>
          <p:spPr>
            <a:xfrm>
              <a:off x="841248" y="2249424"/>
              <a:ext cx="566928" cy="566928"/>
            </a:xfrm>
            <a:prstGeom prst="ellipse">
              <a:avLst/>
            </a:prstGeom>
            <a:solidFill>
              <a:srgbClr val="102936"/>
            </a:solidFill>
            <a:ln w="12700">
              <a:solidFill>
                <a:srgbClr val="102936"/>
              </a:solidFill>
              <a:prstDash val="solid"/>
            </a:ln>
          </p:spPr>
          <p:txBody>
            <a:bodyPr/>
            <a:lstStyle/>
            <a:p>
              <a:endParaRPr lang="it-IT"/>
            </a:p>
          </p:txBody>
        </p:sp>
        <p:sp>
          <p:nvSpPr>
            <p:cNvPr id="8" name="Text 6"/>
            <p:cNvSpPr/>
            <p:nvPr/>
          </p:nvSpPr>
          <p:spPr>
            <a:xfrm>
              <a:off x="1005840" y="2423160"/>
              <a:ext cx="237744" cy="146304"/>
            </a:xfrm>
            <a:prstGeom prst="rect">
              <a:avLst/>
            </a:prstGeom>
            <a:noFill/>
            <a:ln/>
          </p:spPr>
          <p:txBody>
            <a:bodyPr wrap="square" lIns="0" tIns="0" rIns="0" bIns="0" rtlCol="0" anchor="ctr"/>
            <a:lstStyle/>
            <a:p>
              <a:pPr marL="0" indent="0" algn="ctr">
                <a:buNone/>
              </a:pPr>
              <a:r>
                <a:rPr lang="en-US" sz="1100" b="1" dirty="0">
                  <a:solidFill>
                    <a:srgbClr val="7EE0CE"/>
                  </a:solidFill>
                </a:rPr>
                <a:t>1</a:t>
              </a:r>
              <a:endParaRPr lang="en-US" sz="1100" dirty="0">
                <a:solidFill>
                  <a:srgbClr val="7EE0CE"/>
                </a:solidFill>
              </a:endParaRPr>
            </a:p>
          </p:txBody>
        </p:sp>
        <p:sp>
          <p:nvSpPr>
            <p:cNvPr id="9" name="Text 7"/>
            <p:cNvSpPr/>
            <p:nvPr/>
          </p:nvSpPr>
          <p:spPr>
            <a:xfrm>
              <a:off x="1572768" y="2194560"/>
              <a:ext cx="2240280" cy="219456"/>
            </a:xfrm>
            <a:prstGeom prst="rect">
              <a:avLst/>
            </a:prstGeom>
            <a:noFill/>
            <a:ln/>
          </p:spPr>
          <p:txBody>
            <a:bodyPr wrap="square" lIns="0" tIns="0" rIns="0" bIns="0" rtlCol="0" anchor="ctr"/>
            <a:lstStyle/>
            <a:p>
              <a:pPr marL="0" indent="0">
                <a:buNone/>
              </a:pPr>
              <a:r>
                <a:rPr lang="en-US" sz="1200" b="1" kern="0" spc="80" dirty="0">
                  <a:solidFill>
                    <a:srgbClr val="076B62"/>
                  </a:solidFill>
                </a:rPr>
                <a:t>RISULTATO</a:t>
              </a:r>
              <a:endParaRPr lang="en-US" sz="1200" dirty="0">
                <a:solidFill>
                  <a:srgbClr val="076B62"/>
                </a:solidFill>
              </a:endParaRPr>
            </a:p>
          </p:txBody>
        </p:sp>
        <p:sp>
          <p:nvSpPr>
            <p:cNvPr id="10" name="Text 8"/>
            <p:cNvSpPr/>
            <p:nvPr/>
          </p:nvSpPr>
          <p:spPr>
            <a:xfrm>
              <a:off x="1572768" y="2551176"/>
              <a:ext cx="2240280" cy="384048"/>
            </a:xfrm>
            <a:prstGeom prst="rect">
              <a:avLst/>
            </a:prstGeom>
            <a:noFill/>
            <a:ln/>
          </p:spPr>
          <p:txBody>
            <a:bodyPr wrap="square" lIns="0" tIns="0" rIns="0" bIns="0" rtlCol="0" anchor="ctr">
              <a:normAutofit/>
            </a:bodyPr>
            <a:lstStyle/>
            <a:p>
              <a:pPr marL="0" indent="0">
                <a:buNone/>
              </a:pPr>
              <a:r>
                <a:rPr lang="en-US" sz="1150" dirty="0">
                  <a:solidFill>
                    <a:srgbClr val="173342"/>
                  </a:solidFill>
                </a:rPr>
                <a:t>Cosa deve essere vero alla fine?</a:t>
              </a:r>
            </a:p>
          </p:txBody>
        </p:sp>
        <p:sp>
          <p:nvSpPr>
            <p:cNvPr id="11" name="Shape 9"/>
            <p:cNvSpPr/>
            <p:nvPr/>
          </p:nvSpPr>
          <p:spPr>
            <a:xfrm>
              <a:off x="4480560" y="1993392"/>
              <a:ext cx="3429000" cy="1170432"/>
            </a:xfrm>
            <a:prstGeom prst="roundRect">
              <a:avLst>
                <a:gd name="adj" fmla="val 3906"/>
              </a:avLst>
            </a:prstGeom>
            <a:solidFill>
              <a:srgbClr val="FFFFFF"/>
            </a:solidFill>
            <a:ln w="12700">
              <a:solidFill>
                <a:srgbClr val="D6E0E4"/>
              </a:solidFill>
              <a:prstDash val="solid"/>
            </a:ln>
          </p:spPr>
          <p:txBody>
            <a:bodyPr/>
            <a:lstStyle/>
            <a:p>
              <a:endParaRPr lang="it-IT"/>
            </a:p>
          </p:txBody>
        </p:sp>
        <p:sp>
          <p:nvSpPr>
            <p:cNvPr id="12" name="Shape 10"/>
            <p:cNvSpPr/>
            <p:nvPr/>
          </p:nvSpPr>
          <p:spPr>
            <a:xfrm>
              <a:off x="4681728" y="2249424"/>
              <a:ext cx="566928" cy="566928"/>
            </a:xfrm>
            <a:prstGeom prst="ellipse">
              <a:avLst/>
            </a:prstGeom>
            <a:solidFill>
              <a:srgbClr val="102936"/>
            </a:solidFill>
            <a:ln w="12700">
              <a:solidFill>
                <a:srgbClr val="102936"/>
              </a:solidFill>
              <a:prstDash val="solid"/>
            </a:ln>
          </p:spPr>
          <p:txBody>
            <a:bodyPr/>
            <a:lstStyle/>
            <a:p>
              <a:endParaRPr lang="it-IT"/>
            </a:p>
          </p:txBody>
        </p:sp>
        <p:sp>
          <p:nvSpPr>
            <p:cNvPr id="13" name="Text 11"/>
            <p:cNvSpPr/>
            <p:nvPr/>
          </p:nvSpPr>
          <p:spPr>
            <a:xfrm>
              <a:off x="4846320" y="2423160"/>
              <a:ext cx="237744" cy="146304"/>
            </a:xfrm>
            <a:prstGeom prst="rect">
              <a:avLst/>
            </a:prstGeom>
            <a:noFill/>
            <a:ln/>
          </p:spPr>
          <p:txBody>
            <a:bodyPr wrap="square" lIns="0" tIns="0" rIns="0" bIns="0" rtlCol="0" anchor="ctr"/>
            <a:lstStyle/>
            <a:p>
              <a:pPr marL="0" indent="0" algn="ctr">
                <a:buNone/>
              </a:pPr>
              <a:r>
                <a:rPr lang="en-US" sz="1100" b="1" dirty="0">
                  <a:solidFill>
                    <a:srgbClr val="7EE0CE"/>
                  </a:solidFill>
                </a:rPr>
                <a:t>2</a:t>
              </a:r>
              <a:endParaRPr lang="en-US" sz="1100" dirty="0">
                <a:solidFill>
                  <a:srgbClr val="7EE0CE"/>
                </a:solidFill>
              </a:endParaRPr>
            </a:p>
          </p:txBody>
        </p:sp>
        <p:sp>
          <p:nvSpPr>
            <p:cNvPr id="14" name="Text 12"/>
            <p:cNvSpPr/>
            <p:nvPr/>
          </p:nvSpPr>
          <p:spPr>
            <a:xfrm>
              <a:off x="5413248" y="2194560"/>
              <a:ext cx="2240280" cy="219456"/>
            </a:xfrm>
            <a:prstGeom prst="rect">
              <a:avLst/>
            </a:prstGeom>
            <a:noFill/>
            <a:ln/>
          </p:spPr>
          <p:txBody>
            <a:bodyPr wrap="square" lIns="0" tIns="0" rIns="0" bIns="0" rtlCol="0" anchor="ctr"/>
            <a:lstStyle/>
            <a:p>
              <a:pPr marL="0" indent="0">
                <a:buNone/>
              </a:pPr>
              <a:r>
                <a:rPr lang="en-US" sz="1200" b="1" kern="0" spc="80" dirty="0">
                  <a:solidFill>
                    <a:srgbClr val="076B62"/>
                  </a:solidFill>
                </a:rPr>
                <a:t>CONTESTO</a:t>
              </a:r>
              <a:endParaRPr lang="en-US" sz="1200" dirty="0">
                <a:solidFill>
                  <a:srgbClr val="076B62"/>
                </a:solidFill>
              </a:endParaRPr>
            </a:p>
          </p:txBody>
        </p:sp>
        <p:sp>
          <p:nvSpPr>
            <p:cNvPr id="15" name="Text 13"/>
            <p:cNvSpPr/>
            <p:nvPr/>
          </p:nvSpPr>
          <p:spPr>
            <a:xfrm>
              <a:off x="5413248" y="2551176"/>
              <a:ext cx="2240280" cy="384048"/>
            </a:xfrm>
            <a:prstGeom prst="rect">
              <a:avLst/>
            </a:prstGeom>
            <a:noFill/>
            <a:ln/>
          </p:spPr>
          <p:txBody>
            <a:bodyPr wrap="square" lIns="0" tIns="0" rIns="0" bIns="0" rtlCol="0" anchor="ctr">
              <a:normAutofit/>
            </a:bodyPr>
            <a:lstStyle/>
            <a:p>
              <a:pPr marL="0" indent="0">
                <a:buNone/>
              </a:pPr>
              <a:r>
                <a:rPr lang="en-US" sz="1150" dirty="0">
                  <a:solidFill>
                    <a:srgbClr val="173342"/>
                  </a:solidFill>
                </a:rPr>
                <a:t>Quali fatti servono davvero?</a:t>
              </a:r>
            </a:p>
          </p:txBody>
        </p:sp>
        <p:sp>
          <p:nvSpPr>
            <p:cNvPr id="16" name="Shape 14"/>
            <p:cNvSpPr/>
            <p:nvPr/>
          </p:nvSpPr>
          <p:spPr>
            <a:xfrm>
              <a:off x="8321040" y="1993392"/>
              <a:ext cx="3429000" cy="1170432"/>
            </a:xfrm>
            <a:prstGeom prst="roundRect">
              <a:avLst>
                <a:gd name="adj" fmla="val 3906"/>
              </a:avLst>
            </a:prstGeom>
            <a:solidFill>
              <a:srgbClr val="FFFFFF"/>
            </a:solidFill>
            <a:ln w="12700">
              <a:solidFill>
                <a:srgbClr val="D6E0E4"/>
              </a:solidFill>
              <a:prstDash val="solid"/>
            </a:ln>
          </p:spPr>
          <p:txBody>
            <a:bodyPr/>
            <a:lstStyle/>
            <a:p>
              <a:endParaRPr lang="it-IT"/>
            </a:p>
          </p:txBody>
        </p:sp>
        <p:sp>
          <p:nvSpPr>
            <p:cNvPr id="17" name="Shape 15"/>
            <p:cNvSpPr/>
            <p:nvPr/>
          </p:nvSpPr>
          <p:spPr>
            <a:xfrm>
              <a:off x="8522208" y="2249424"/>
              <a:ext cx="566928" cy="566928"/>
            </a:xfrm>
            <a:prstGeom prst="ellipse">
              <a:avLst/>
            </a:prstGeom>
            <a:solidFill>
              <a:srgbClr val="102936"/>
            </a:solidFill>
            <a:ln w="12700">
              <a:solidFill>
                <a:srgbClr val="102936"/>
              </a:solidFill>
              <a:prstDash val="solid"/>
            </a:ln>
          </p:spPr>
          <p:txBody>
            <a:bodyPr/>
            <a:lstStyle/>
            <a:p>
              <a:endParaRPr lang="it-IT"/>
            </a:p>
          </p:txBody>
        </p:sp>
        <p:sp>
          <p:nvSpPr>
            <p:cNvPr id="18" name="Text 16"/>
            <p:cNvSpPr/>
            <p:nvPr/>
          </p:nvSpPr>
          <p:spPr>
            <a:xfrm>
              <a:off x="8686800" y="2423160"/>
              <a:ext cx="237744" cy="146304"/>
            </a:xfrm>
            <a:prstGeom prst="rect">
              <a:avLst/>
            </a:prstGeom>
            <a:noFill/>
            <a:ln/>
          </p:spPr>
          <p:txBody>
            <a:bodyPr wrap="square" lIns="0" tIns="0" rIns="0" bIns="0" rtlCol="0" anchor="ctr"/>
            <a:lstStyle/>
            <a:p>
              <a:pPr marL="0" indent="0" algn="ctr">
                <a:buNone/>
              </a:pPr>
              <a:r>
                <a:rPr lang="en-US" sz="1100" b="1" dirty="0">
                  <a:solidFill>
                    <a:srgbClr val="7EE0CE"/>
                  </a:solidFill>
                </a:rPr>
                <a:t>3</a:t>
              </a:r>
              <a:endParaRPr lang="en-US" sz="1100" dirty="0">
                <a:solidFill>
                  <a:srgbClr val="7EE0CE"/>
                </a:solidFill>
              </a:endParaRPr>
            </a:p>
          </p:txBody>
        </p:sp>
        <p:sp>
          <p:nvSpPr>
            <p:cNvPr id="19" name="Text 17"/>
            <p:cNvSpPr/>
            <p:nvPr/>
          </p:nvSpPr>
          <p:spPr>
            <a:xfrm>
              <a:off x="9253728" y="2194560"/>
              <a:ext cx="2240280" cy="219456"/>
            </a:xfrm>
            <a:prstGeom prst="rect">
              <a:avLst/>
            </a:prstGeom>
            <a:noFill/>
            <a:ln/>
          </p:spPr>
          <p:txBody>
            <a:bodyPr wrap="square" lIns="0" tIns="0" rIns="0" bIns="0" rtlCol="0" anchor="ctr"/>
            <a:lstStyle/>
            <a:p>
              <a:pPr marL="0" indent="0">
                <a:buNone/>
              </a:pPr>
              <a:r>
                <a:rPr lang="en-US" sz="1200" b="1" kern="0" spc="80" dirty="0">
                  <a:solidFill>
                    <a:srgbClr val="076B62"/>
                  </a:solidFill>
                </a:rPr>
                <a:t>VINCOLI</a:t>
              </a:r>
              <a:endParaRPr lang="en-US" sz="1200" dirty="0">
                <a:solidFill>
                  <a:srgbClr val="076B62"/>
                </a:solidFill>
              </a:endParaRPr>
            </a:p>
          </p:txBody>
        </p:sp>
        <p:sp>
          <p:nvSpPr>
            <p:cNvPr id="20" name="Text 18"/>
            <p:cNvSpPr/>
            <p:nvPr/>
          </p:nvSpPr>
          <p:spPr>
            <a:xfrm>
              <a:off x="9253728" y="2551176"/>
              <a:ext cx="2240280" cy="384048"/>
            </a:xfrm>
            <a:prstGeom prst="rect">
              <a:avLst/>
            </a:prstGeom>
            <a:noFill/>
            <a:ln/>
          </p:spPr>
          <p:txBody>
            <a:bodyPr wrap="square" lIns="0" tIns="0" rIns="0" bIns="0" rtlCol="0" anchor="ctr">
              <a:normAutofit/>
            </a:bodyPr>
            <a:lstStyle/>
            <a:p>
              <a:pPr marL="0" indent="0">
                <a:buNone/>
              </a:pPr>
              <a:r>
                <a:rPr lang="en-US" sz="1150" dirty="0">
                  <a:solidFill>
                    <a:srgbClr val="173342"/>
                  </a:solidFill>
                </a:rPr>
                <a:t>Policy, sicurezza, consenso, budget</a:t>
              </a:r>
            </a:p>
          </p:txBody>
        </p:sp>
        <p:sp>
          <p:nvSpPr>
            <p:cNvPr id="21" name="Shape 19"/>
            <p:cNvSpPr/>
            <p:nvPr/>
          </p:nvSpPr>
          <p:spPr>
            <a:xfrm>
              <a:off x="640080" y="3502152"/>
              <a:ext cx="3429000" cy="1170432"/>
            </a:xfrm>
            <a:prstGeom prst="roundRect">
              <a:avLst>
                <a:gd name="adj" fmla="val 3906"/>
              </a:avLst>
            </a:prstGeom>
            <a:solidFill>
              <a:srgbClr val="FFFFFF"/>
            </a:solidFill>
            <a:ln w="12700">
              <a:solidFill>
                <a:srgbClr val="D6E0E4"/>
              </a:solidFill>
              <a:prstDash val="solid"/>
            </a:ln>
          </p:spPr>
          <p:txBody>
            <a:bodyPr/>
            <a:lstStyle/>
            <a:p>
              <a:endParaRPr lang="it-IT"/>
            </a:p>
          </p:txBody>
        </p:sp>
        <p:sp>
          <p:nvSpPr>
            <p:cNvPr id="22" name="Shape 20"/>
            <p:cNvSpPr/>
            <p:nvPr/>
          </p:nvSpPr>
          <p:spPr>
            <a:xfrm>
              <a:off x="841248" y="3758184"/>
              <a:ext cx="566928" cy="566928"/>
            </a:xfrm>
            <a:prstGeom prst="ellipse">
              <a:avLst/>
            </a:prstGeom>
            <a:solidFill>
              <a:srgbClr val="102936"/>
            </a:solidFill>
            <a:ln w="12700">
              <a:solidFill>
                <a:srgbClr val="102936"/>
              </a:solidFill>
              <a:prstDash val="solid"/>
            </a:ln>
          </p:spPr>
          <p:txBody>
            <a:bodyPr/>
            <a:lstStyle/>
            <a:p>
              <a:endParaRPr lang="it-IT"/>
            </a:p>
          </p:txBody>
        </p:sp>
        <p:sp>
          <p:nvSpPr>
            <p:cNvPr id="23" name="Text 21"/>
            <p:cNvSpPr/>
            <p:nvPr/>
          </p:nvSpPr>
          <p:spPr>
            <a:xfrm>
              <a:off x="1005840" y="3931920"/>
              <a:ext cx="237744" cy="146304"/>
            </a:xfrm>
            <a:prstGeom prst="rect">
              <a:avLst/>
            </a:prstGeom>
            <a:noFill/>
            <a:ln/>
          </p:spPr>
          <p:txBody>
            <a:bodyPr wrap="square" lIns="0" tIns="0" rIns="0" bIns="0" rtlCol="0" anchor="ctr"/>
            <a:lstStyle/>
            <a:p>
              <a:pPr marL="0" indent="0" algn="ctr">
                <a:buNone/>
              </a:pPr>
              <a:r>
                <a:rPr lang="en-US" sz="1100" b="1" dirty="0">
                  <a:solidFill>
                    <a:srgbClr val="7EE0CE"/>
                  </a:solidFill>
                </a:rPr>
                <a:t>4</a:t>
              </a:r>
              <a:endParaRPr lang="en-US" sz="1100" dirty="0">
                <a:solidFill>
                  <a:srgbClr val="7EE0CE"/>
                </a:solidFill>
              </a:endParaRPr>
            </a:p>
          </p:txBody>
        </p:sp>
        <p:sp>
          <p:nvSpPr>
            <p:cNvPr id="24" name="Text 22"/>
            <p:cNvSpPr/>
            <p:nvPr/>
          </p:nvSpPr>
          <p:spPr>
            <a:xfrm>
              <a:off x="1572768" y="3703320"/>
              <a:ext cx="2240280" cy="219456"/>
            </a:xfrm>
            <a:prstGeom prst="rect">
              <a:avLst/>
            </a:prstGeom>
            <a:noFill/>
            <a:ln/>
          </p:spPr>
          <p:txBody>
            <a:bodyPr wrap="square" lIns="0" tIns="0" rIns="0" bIns="0" rtlCol="0" anchor="ctr"/>
            <a:lstStyle/>
            <a:p>
              <a:pPr marL="0" indent="0">
                <a:buNone/>
              </a:pPr>
              <a:r>
                <a:rPr lang="en-US" sz="1200" b="1" kern="0" spc="80" dirty="0">
                  <a:solidFill>
                    <a:srgbClr val="076B62"/>
                  </a:solidFill>
                </a:rPr>
                <a:t>PROVE</a:t>
              </a:r>
              <a:endParaRPr lang="en-US" sz="1200" dirty="0">
                <a:solidFill>
                  <a:srgbClr val="076B62"/>
                </a:solidFill>
              </a:endParaRPr>
            </a:p>
          </p:txBody>
        </p:sp>
        <p:sp>
          <p:nvSpPr>
            <p:cNvPr id="25" name="Text 23"/>
            <p:cNvSpPr/>
            <p:nvPr/>
          </p:nvSpPr>
          <p:spPr>
            <a:xfrm>
              <a:off x="1572768" y="4059936"/>
              <a:ext cx="2240280" cy="384048"/>
            </a:xfrm>
            <a:prstGeom prst="rect">
              <a:avLst/>
            </a:prstGeom>
            <a:noFill/>
            <a:ln/>
          </p:spPr>
          <p:txBody>
            <a:bodyPr wrap="square" lIns="0" tIns="0" rIns="0" bIns="0" rtlCol="0" anchor="ctr">
              <a:normAutofit/>
            </a:bodyPr>
            <a:lstStyle/>
            <a:p>
              <a:pPr marL="0" indent="0">
                <a:buNone/>
              </a:pPr>
              <a:r>
                <a:rPr lang="en-US" sz="1150" dirty="0">
                  <a:solidFill>
                    <a:srgbClr val="173342"/>
                  </a:solidFill>
                </a:rPr>
                <a:t>Fonti, tool, dati da citare</a:t>
              </a:r>
            </a:p>
          </p:txBody>
        </p:sp>
        <p:sp>
          <p:nvSpPr>
            <p:cNvPr id="26" name="Shape 24"/>
            <p:cNvSpPr/>
            <p:nvPr/>
          </p:nvSpPr>
          <p:spPr>
            <a:xfrm>
              <a:off x="4480560" y="3502152"/>
              <a:ext cx="3429000" cy="1170432"/>
            </a:xfrm>
            <a:prstGeom prst="roundRect">
              <a:avLst>
                <a:gd name="adj" fmla="val 3906"/>
              </a:avLst>
            </a:prstGeom>
            <a:solidFill>
              <a:srgbClr val="FFFFFF"/>
            </a:solidFill>
            <a:ln w="12700">
              <a:solidFill>
                <a:srgbClr val="D6E0E4"/>
              </a:solidFill>
              <a:prstDash val="solid"/>
            </a:ln>
          </p:spPr>
          <p:txBody>
            <a:bodyPr/>
            <a:lstStyle/>
            <a:p>
              <a:endParaRPr lang="it-IT"/>
            </a:p>
          </p:txBody>
        </p:sp>
        <p:sp>
          <p:nvSpPr>
            <p:cNvPr id="27" name="Shape 25"/>
            <p:cNvSpPr/>
            <p:nvPr/>
          </p:nvSpPr>
          <p:spPr>
            <a:xfrm>
              <a:off x="4681728" y="3758184"/>
              <a:ext cx="566928" cy="566928"/>
            </a:xfrm>
            <a:prstGeom prst="ellipse">
              <a:avLst/>
            </a:prstGeom>
            <a:solidFill>
              <a:srgbClr val="102936"/>
            </a:solidFill>
            <a:ln w="12700">
              <a:solidFill>
                <a:srgbClr val="102936"/>
              </a:solidFill>
              <a:prstDash val="solid"/>
            </a:ln>
          </p:spPr>
          <p:txBody>
            <a:bodyPr/>
            <a:lstStyle/>
            <a:p>
              <a:endParaRPr lang="it-IT"/>
            </a:p>
          </p:txBody>
        </p:sp>
        <p:sp>
          <p:nvSpPr>
            <p:cNvPr id="28" name="Text 26"/>
            <p:cNvSpPr/>
            <p:nvPr/>
          </p:nvSpPr>
          <p:spPr>
            <a:xfrm>
              <a:off x="4846320" y="3931920"/>
              <a:ext cx="237744" cy="146304"/>
            </a:xfrm>
            <a:prstGeom prst="rect">
              <a:avLst/>
            </a:prstGeom>
            <a:noFill/>
            <a:ln/>
          </p:spPr>
          <p:txBody>
            <a:bodyPr wrap="square" lIns="0" tIns="0" rIns="0" bIns="0" rtlCol="0" anchor="ctr"/>
            <a:lstStyle/>
            <a:p>
              <a:pPr marL="0" indent="0" algn="ctr">
                <a:buNone/>
              </a:pPr>
              <a:r>
                <a:rPr lang="en-US" sz="1100" b="1" dirty="0">
                  <a:solidFill>
                    <a:srgbClr val="7EE0CE"/>
                  </a:solidFill>
                </a:rPr>
                <a:t>5</a:t>
              </a:r>
              <a:endParaRPr lang="en-US" sz="1100" dirty="0">
                <a:solidFill>
                  <a:srgbClr val="7EE0CE"/>
                </a:solidFill>
              </a:endParaRPr>
            </a:p>
          </p:txBody>
        </p:sp>
        <p:sp>
          <p:nvSpPr>
            <p:cNvPr id="29" name="Text 27"/>
            <p:cNvSpPr/>
            <p:nvPr/>
          </p:nvSpPr>
          <p:spPr>
            <a:xfrm>
              <a:off x="5413248" y="3703320"/>
              <a:ext cx="2240280" cy="219456"/>
            </a:xfrm>
            <a:prstGeom prst="rect">
              <a:avLst/>
            </a:prstGeom>
            <a:noFill/>
            <a:ln/>
          </p:spPr>
          <p:txBody>
            <a:bodyPr wrap="square" lIns="0" tIns="0" rIns="0" bIns="0" rtlCol="0" anchor="ctr"/>
            <a:lstStyle/>
            <a:p>
              <a:pPr marL="0" indent="0">
                <a:buNone/>
              </a:pPr>
              <a:r>
                <a:rPr lang="en-US" sz="1200" b="1" kern="0" spc="80" dirty="0">
                  <a:solidFill>
                    <a:srgbClr val="076B62"/>
                  </a:solidFill>
                </a:rPr>
                <a:t>STOP</a:t>
              </a:r>
              <a:endParaRPr lang="en-US" sz="1200" dirty="0">
                <a:solidFill>
                  <a:srgbClr val="076B62"/>
                </a:solidFill>
              </a:endParaRPr>
            </a:p>
          </p:txBody>
        </p:sp>
        <p:sp>
          <p:nvSpPr>
            <p:cNvPr id="30" name="Text 28"/>
            <p:cNvSpPr/>
            <p:nvPr/>
          </p:nvSpPr>
          <p:spPr>
            <a:xfrm>
              <a:off x="5413248" y="4059936"/>
              <a:ext cx="2240280" cy="384048"/>
            </a:xfrm>
            <a:prstGeom prst="rect">
              <a:avLst/>
            </a:prstGeom>
            <a:noFill/>
            <a:ln/>
          </p:spPr>
          <p:txBody>
            <a:bodyPr wrap="square" lIns="0" tIns="0" rIns="0" bIns="0" rtlCol="0" anchor="ctr">
              <a:normAutofit/>
            </a:bodyPr>
            <a:lstStyle/>
            <a:p>
              <a:pPr marL="0" indent="0">
                <a:buNone/>
              </a:pPr>
              <a:r>
                <a:rPr lang="en-US" sz="1150" dirty="0">
                  <a:solidFill>
                    <a:srgbClr val="173342"/>
                  </a:solidFill>
                </a:rPr>
                <a:t>Quando completare o chiedere chiarimenti</a:t>
              </a:r>
            </a:p>
          </p:txBody>
        </p:sp>
        <p:sp>
          <p:nvSpPr>
            <p:cNvPr id="31" name="Shape 29"/>
            <p:cNvSpPr/>
            <p:nvPr/>
          </p:nvSpPr>
          <p:spPr>
            <a:xfrm>
              <a:off x="8321040" y="3502152"/>
              <a:ext cx="3429000" cy="1170432"/>
            </a:xfrm>
            <a:prstGeom prst="roundRect">
              <a:avLst>
                <a:gd name="adj" fmla="val 3906"/>
              </a:avLst>
            </a:prstGeom>
            <a:solidFill>
              <a:srgbClr val="FFFFFF"/>
            </a:solidFill>
            <a:ln w="12700">
              <a:solidFill>
                <a:srgbClr val="D6E0E4"/>
              </a:solidFill>
              <a:prstDash val="solid"/>
            </a:ln>
          </p:spPr>
          <p:txBody>
            <a:bodyPr/>
            <a:lstStyle/>
            <a:p>
              <a:endParaRPr lang="it-IT"/>
            </a:p>
          </p:txBody>
        </p:sp>
        <p:sp>
          <p:nvSpPr>
            <p:cNvPr id="32" name="Shape 30"/>
            <p:cNvSpPr/>
            <p:nvPr/>
          </p:nvSpPr>
          <p:spPr>
            <a:xfrm>
              <a:off x="8522208" y="3758184"/>
              <a:ext cx="566928" cy="566928"/>
            </a:xfrm>
            <a:prstGeom prst="ellipse">
              <a:avLst/>
            </a:prstGeom>
            <a:solidFill>
              <a:srgbClr val="102936"/>
            </a:solidFill>
            <a:ln w="12700">
              <a:solidFill>
                <a:srgbClr val="102936"/>
              </a:solidFill>
              <a:prstDash val="solid"/>
            </a:ln>
          </p:spPr>
          <p:txBody>
            <a:bodyPr/>
            <a:lstStyle/>
            <a:p>
              <a:endParaRPr lang="it-IT"/>
            </a:p>
          </p:txBody>
        </p:sp>
        <p:sp>
          <p:nvSpPr>
            <p:cNvPr id="33" name="Text 31"/>
            <p:cNvSpPr/>
            <p:nvPr/>
          </p:nvSpPr>
          <p:spPr>
            <a:xfrm>
              <a:off x="8686800" y="3931920"/>
              <a:ext cx="237744" cy="146304"/>
            </a:xfrm>
            <a:prstGeom prst="rect">
              <a:avLst/>
            </a:prstGeom>
            <a:noFill/>
            <a:ln/>
          </p:spPr>
          <p:txBody>
            <a:bodyPr wrap="square" lIns="0" tIns="0" rIns="0" bIns="0" rtlCol="0" anchor="ctr"/>
            <a:lstStyle/>
            <a:p>
              <a:pPr marL="0" indent="0" algn="ctr">
                <a:buNone/>
              </a:pPr>
              <a:r>
                <a:rPr lang="en-US" sz="1100" b="1" dirty="0">
                  <a:solidFill>
                    <a:srgbClr val="7EE0CE"/>
                  </a:solidFill>
                </a:rPr>
                <a:t>6</a:t>
              </a:r>
              <a:endParaRPr lang="en-US" sz="1100" dirty="0">
                <a:solidFill>
                  <a:srgbClr val="7EE0CE"/>
                </a:solidFill>
              </a:endParaRPr>
            </a:p>
          </p:txBody>
        </p:sp>
        <p:sp>
          <p:nvSpPr>
            <p:cNvPr id="34" name="Text 32"/>
            <p:cNvSpPr/>
            <p:nvPr/>
          </p:nvSpPr>
          <p:spPr>
            <a:xfrm>
              <a:off x="9253728" y="3703320"/>
              <a:ext cx="2240280" cy="219456"/>
            </a:xfrm>
            <a:prstGeom prst="rect">
              <a:avLst/>
            </a:prstGeom>
            <a:noFill/>
            <a:ln/>
          </p:spPr>
          <p:txBody>
            <a:bodyPr wrap="square" lIns="0" tIns="0" rIns="0" bIns="0" rtlCol="0" anchor="ctr"/>
            <a:lstStyle/>
            <a:p>
              <a:pPr marL="0" indent="0">
                <a:buNone/>
              </a:pPr>
              <a:r>
                <a:rPr lang="en-US" sz="1200" b="1" kern="0" spc="80" dirty="0">
                  <a:solidFill>
                    <a:srgbClr val="076B62"/>
                  </a:solidFill>
                </a:rPr>
                <a:t>FORMATO</a:t>
              </a:r>
              <a:endParaRPr lang="en-US" sz="1200" dirty="0">
                <a:solidFill>
                  <a:srgbClr val="076B62"/>
                </a:solidFill>
              </a:endParaRPr>
            </a:p>
          </p:txBody>
        </p:sp>
        <p:sp>
          <p:nvSpPr>
            <p:cNvPr id="35" name="Text 33"/>
            <p:cNvSpPr/>
            <p:nvPr/>
          </p:nvSpPr>
          <p:spPr>
            <a:xfrm>
              <a:off x="9253728" y="4059936"/>
              <a:ext cx="2240280" cy="384048"/>
            </a:xfrm>
            <a:prstGeom prst="rect">
              <a:avLst/>
            </a:prstGeom>
            <a:noFill/>
            <a:ln/>
          </p:spPr>
          <p:txBody>
            <a:bodyPr wrap="square" lIns="0" tIns="0" rIns="0" bIns="0" rtlCol="0" anchor="ctr">
              <a:normAutofit/>
            </a:bodyPr>
            <a:lstStyle/>
            <a:p>
              <a:pPr marL="0" indent="0">
                <a:buNone/>
              </a:pPr>
              <a:r>
                <a:rPr lang="en-US" sz="1150" dirty="0">
                  <a:solidFill>
                    <a:srgbClr val="173342"/>
                  </a:solidFill>
                </a:rPr>
                <a:t>Struttura e livello di dettaglio</a:t>
              </a:r>
            </a:p>
          </p:txBody>
        </p:sp>
        <p:sp>
          <p:nvSpPr>
            <p:cNvPr id="36" name="Text 34"/>
            <p:cNvSpPr/>
            <p:nvPr/>
          </p:nvSpPr>
          <p:spPr>
            <a:xfrm>
              <a:off x="1965960" y="5321808"/>
              <a:ext cx="8229600" cy="411480"/>
            </a:xfrm>
            <a:prstGeom prst="rect">
              <a:avLst/>
            </a:prstGeom>
            <a:noFill/>
            <a:ln/>
          </p:spPr>
          <p:txBody>
            <a:bodyPr wrap="square" lIns="0" tIns="0" rIns="0" bIns="0" rtlCol="0" anchor="ctr"/>
            <a:lstStyle/>
            <a:p>
              <a:pPr marL="0" indent="0" algn="ctr">
                <a:buNone/>
              </a:pPr>
              <a:r>
                <a:rPr lang="en-US" sz="2100" b="1" dirty="0">
                  <a:solidFill>
                    <a:srgbClr val="A12A28"/>
                  </a:solidFill>
                </a:rPr>
                <a:t>Tagliare prima di chiarire = risparmiare token per ottenere più retry.</a:t>
              </a:r>
              <a:endParaRPr lang="en-US" sz="2100" dirty="0">
                <a:solidFill>
                  <a:srgbClr val="A12A28"/>
                </a:solidFill>
              </a:endParaRPr>
            </a:p>
          </p:txBody>
        </p:sp>
      </p:grpSp>
      <p:sp>
        <p:nvSpPr>
          <p:cNvPr id="37" name="Titolo 36">
            <a:extLst>
              <a:ext uri="{FF2B5EF4-FFF2-40B4-BE49-F238E27FC236}">
                <a16:creationId xmlns:a16="http://schemas.microsoft.com/office/drawing/2014/main" id="{4BC8BD73-D02D-53A3-E0BD-7B39D6A69106}"/>
              </a:ext>
            </a:extLst>
          </p:cNvPr>
          <p:cNvSpPr>
            <a:spLocks noGrp="1"/>
          </p:cNvSpPr>
          <p:nvPr>
            <p:ph type="title"/>
          </p:nvPr>
        </p:nvSpPr>
        <p:spPr>
          <a:xfrm>
            <a:off x="1625600" y="317500"/>
            <a:ext cx="10160000" cy="660400"/>
          </a:xfrm>
        </p:spPr>
        <p:txBody>
          <a:bodyPr>
            <a:normAutofit/>
          </a:bodyPr>
          <a:lstStyle/>
          <a:p>
            <a:r>
              <a:rPr lang="it-IT" sz="2800">
                <a:solidFill>
                  <a:srgbClr val="303030"/>
                </a:solidFill>
                <a:latin typeface="Calibri" panose="020F0502020204030204" pitchFamily="34" charset="0"/>
              </a:rPr>
              <a:t>Un prompt utile è un contratto osservabile</a:t>
            </a:r>
          </a:p>
        </p:txBody>
      </p:sp>
    </p:spTree>
    <p:custDataLst>
      <p:tags r:id="rId1"/>
    </p:custDataLst>
    <p:extLst>
      <p:ext uri="{BB962C8B-B14F-4D97-AF65-F5344CB8AC3E}">
        <p14:creationId xmlns:p14="http://schemas.microsoft.com/office/powerpoint/2010/main" val="3621029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20BB0AF5-BF1C-E3F7-B915-83FBF73450DA}"/>
              </a:ext>
            </a:extLst>
          </p:cNvPr>
          <p:cNvSpPr txBox="1"/>
          <p:nvPr/>
        </p:nvSpPr>
        <p:spPr>
          <a:xfrm>
            <a:off x="1625600" y="317499"/>
            <a:ext cx="10160000" cy="685800"/>
          </a:xfrm>
          <a:prstGeom prst="rect">
            <a:avLst/>
          </a:prstGeom>
          <a:noFill/>
        </p:spPr>
        <p:txBody>
          <a:bodyPr vert="horz" lIns="0" tIns="0" rIns="0" bIns="0" rtlCol="0">
            <a:noAutofit/>
          </a:bodyPr>
          <a:lstStyle/>
          <a:p>
            <a:r>
              <a:rPr lang="it-IT" sz="2800" b="1">
                <a:solidFill>
                  <a:srgbClr val="303030"/>
                </a:solidFill>
                <a:latin typeface="Aptos" panose="020B0004020202020204" pitchFamily="34" charset="0"/>
              </a:rPr>
              <a:t>Ottimizzare il prompt: prima e dopo</a:t>
            </a:r>
          </a:p>
        </p:txBody>
      </p:sp>
      <p:sp>
        <p:nvSpPr>
          <p:cNvPr id="6" name="Rettangolo con angoli arrotondati 5">
            <a:extLst>
              <a:ext uri="{FF2B5EF4-FFF2-40B4-BE49-F238E27FC236}">
                <a16:creationId xmlns:a16="http://schemas.microsoft.com/office/drawing/2014/main" id="{DC762B09-CE39-9AEB-CFF1-2B84506AF350}"/>
              </a:ext>
            </a:extLst>
          </p:cNvPr>
          <p:cNvSpPr/>
          <p:nvPr/>
        </p:nvSpPr>
        <p:spPr>
          <a:xfrm>
            <a:off x="571500" y="1651000"/>
            <a:ext cx="5486400" cy="3619500"/>
          </a:xfrm>
          <a:prstGeom prst="roundRect">
            <a:avLst/>
          </a:prstGeom>
          <a:solidFill>
            <a:srgbClr val="F2F2F2"/>
          </a:solidFill>
          <a:ln>
            <a:solidFill>
              <a:srgbClr val="C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E7430047-52AD-6DAF-754C-06C89EBB3B03}"/>
              </a:ext>
            </a:extLst>
          </p:cNvPr>
          <p:cNvSpPr txBox="1"/>
          <p:nvPr/>
        </p:nvSpPr>
        <p:spPr>
          <a:xfrm>
            <a:off x="774700" y="1854199"/>
            <a:ext cx="5080000" cy="533400"/>
          </a:xfrm>
          <a:prstGeom prst="rect">
            <a:avLst/>
          </a:prstGeom>
          <a:noFill/>
        </p:spPr>
        <p:txBody>
          <a:bodyPr vert="horz" lIns="0" tIns="0" rIns="0" bIns="0" rtlCol="0">
            <a:noAutofit/>
          </a:bodyPr>
          <a:lstStyle/>
          <a:p>
            <a:r>
              <a:rPr lang="it-IT" sz="2000" b="1">
                <a:solidFill>
                  <a:srgbClr val="C08000"/>
                </a:solidFill>
                <a:latin typeface="Aptos" panose="020B0004020202020204" pitchFamily="34" charset="0"/>
              </a:rPr>
              <a:t>PRIMA: VAGO E RIDONDANTE</a:t>
            </a:r>
          </a:p>
        </p:txBody>
      </p:sp>
      <p:sp>
        <p:nvSpPr>
          <p:cNvPr id="8" name="CasellaDiTesto 7">
            <a:extLst>
              <a:ext uri="{FF2B5EF4-FFF2-40B4-BE49-F238E27FC236}">
                <a16:creationId xmlns:a16="http://schemas.microsoft.com/office/drawing/2014/main" id="{4CE2EBF3-E702-4C79-33E6-EBA4FD04C1D2}"/>
              </a:ext>
            </a:extLst>
          </p:cNvPr>
          <p:cNvSpPr txBox="1"/>
          <p:nvPr/>
        </p:nvSpPr>
        <p:spPr>
          <a:xfrm>
            <a:off x="774700" y="2552699"/>
            <a:ext cx="5080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Sei un assistente molto esperto.</a:t>
            </a:r>
          </a:p>
          <a:p>
            <a:r>
              <a:rPr lang="it-IT" sz="2000">
                <a:solidFill>
                  <a:srgbClr val="303030"/>
                </a:solidFill>
                <a:latin typeface="Aptos" panose="020B0004020202020204" pitchFamily="34" charset="0"/>
              </a:rPr>
              <a:t>Aiuta sempre al meglio.</a:t>
            </a:r>
          </a:p>
          <a:p>
            <a:r>
              <a:rPr lang="it-IT" sz="2000">
                <a:solidFill>
                  <a:srgbClr val="303030"/>
                </a:solidFill>
                <a:latin typeface="Aptos" panose="020B0004020202020204" pitchFamily="34" charset="0"/>
              </a:rPr>
              <a:t>Sii accurato e completo.</a:t>
            </a:r>
          </a:p>
          <a:p>
            <a:r>
              <a:rPr lang="it-IT" sz="2000">
                <a:solidFill>
                  <a:srgbClr val="303030"/>
                </a:solidFill>
                <a:latin typeface="Aptos" panose="020B0004020202020204" pitchFamily="34" charset="0"/>
              </a:rPr>
              <a:t>Ripeti tutte le informazioni.</a:t>
            </a:r>
          </a:p>
          <a:p>
            <a:r>
              <a:rPr lang="it-IT" sz="2000">
                <a:solidFill>
                  <a:srgbClr val="303030"/>
                </a:solidFill>
                <a:latin typeface="Aptos" panose="020B0004020202020204" pitchFamily="34" charset="0"/>
              </a:rPr>
              <a:t>Usa strumenti se utile.</a:t>
            </a:r>
          </a:p>
        </p:txBody>
      </p:sp>
      <p:sp>
        <p:nvSpPr>
          <p:cNvPr id="9" name="Rettangolo con angoli arrotondati 8">
            <a:extLst>
              <a:ext uri="{FF2B5EF4-FFF2-40B4-BE49-F238E27FC236}">
                <a16:creationId xmlns:a16="http://schemas.microsoft.com/office/drawing/2014/main" id="{3CF36EAD-6C03-3CF8-D803-A8B1B9B53BB6}"/>
              </a:ext>
            </a:extLst>
          </p:cNvPr>
          <p:cNvSpPr/>
          <p:nvPr/>
        </p:nvSpPr>
        <p:spPr>
          <a:xfrm>
            <a:off x="6286500" y="1651000"/>
            <a:ext cx="5486400" cy="36195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33FB287B-2DAF-E8F3-5F5C-EB8E4B45431E}"/>
              </a:ext>
            </a:extLst>
          </p:cNvPr>
          <p:cNvSpPr txBox="1"/>
          <p:nvPr/>
        </p:nvSpPr>
        <p:spPr>
          <a:xfrm>
            <a:off x="6489700" y="1854199"/>
            <a:ext cx="5080000" cy="533400"/>
          </a:xfrm>
          <a:prstGeom prst="rect">
            <a:avLst/>
          </a:prstGeom>
          <a:noFill/>
        </p:spPr>
        <p:txBody>
          <a:bodyPr vert="horz" lIns="0" tIns="0" rIns="0" bIns="0" rtlCol="0">
            <a:noAutofit/>
          </a:bodyPr>
          <a:lstStyle/>
          <a:p>
            <a:r>
              <a:rPr lang="it-IT" sz="2000" b="1">
                <a:solidFill>
                  <a:srgbClr val="008278"/>
                </a:solidFill>
                <a:latin typeface="Aptos" panose="020B0004020202020204" pitchFamily="34" charset="0"/>
              </a:rPr>
              <a:t>DOPO: CONTRATTO VERIFICABILE</a:t>
            </a:r>
          </a:p>
        </p:txBody>
      </p:sp>
      <p:sp>
        <p:nvSpPr>
          <p:cNvPr id="11" name="CasellaDiTesto 10">
            <a:extLst>
              <a:ext uri="{FF2B5EF4-FFF2-40B4-BE49-F238E27FC236}">
                <a16:creationId xmlns:a16="http://schemas.microsoft.com/office/drawing/2014/main" id="{1A833794-6FB4-E699-1E12-3456D5F561C9}"/>
              </a:ext>
            </a:extLst>
          </p:cNvPr>
          <p:cNvSpPr txBox="1"/>
          <p:nvPr/>
        </p:nvSpPr>
        <p:spPr>
          <a:xfrm>
            <a:off x="6489700" y="2552699"/>
            <a:ext cx="5080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Demo: solo Torino, dati sintetici.</a:t>
            </a:r>
          </a:p>
          <a:p>
            <a:r>
              <a:rPr lang="it-IT" sz="2000">
                <a:solidFill>
                  <a:srgbClr val="303030"/>
                </a:solidFill>
                <a:latin typeface="Aptos" panose="020B0004020202020204" pitchFamily="34" charset="0"/>
              </a:rPr>
              <a:t>Meteo: usa get_weather.</a:t>
            </a:r>
          </a:p>
          <a:p>
            <a:r>
              <a:rPr lang="it-IT" sz="2000">
                <a:solidFill>
                  <a:srgbClr val="303030"/>
                </a:solidFill>
                <a:latin typeface="Aptos" panose="020B0004020202020204" pitchFamily="34" charset="0"/>
              </a:rPr>
              <a:t>Se manca la città, chiedila.</a:t>
            </a:r>
          </a:p>
          <a:p>
            <a:r>
              <a:rPr lang="it-IT" sz="2000">
                <a:solidFill>
                  <a:srgbClr val="303030"/>
                </a:solidFill>
                <a:latin typeface="Aptos" panose="020B0004020202020204" pitchFamily="34" charset="0"/>
              </a:rPr>
              <a:t>Non inventare fatti o recuperi.</a:t>
            </a:r>
          </a:p>
          <a:p>
            <a:r>
              <a:rPr lang="it-IT" sz="2000">
                <a:solidFill>
                  <a:srgbClr val="303030"/>
                </a:solidFill>
                <a:latin typeface="Aptos" panose="020B0004020202020204" pitchFamily="34" charset="0"/>
              </a:rPr>
              <a:t>Risposta breve: condizioni e gradi.</a:t>
            </a:r>
          </a:p>
        </p:txBody>
      </p:sp>
      <p:sp>
        <p:nvSpPr>
          <p:cNvPr id="12" name="CasellaDiTesto 11">
            <a:extLst>
              <a:ext uri="{FF2B5EF4-FFF2-40B4-BE49-F238E27FC236}">
                <a16:creationId xmlns:a16="http://schemas.microsoft.com/office/drawing/2014/main" id="{C40C912C-BA38-B2FD-1D1A-8F087AE3B3A5}"/>
              </a:ext>
            </a:extLst>
          </p:cNvPr>
          <p:cNvSpPr txBox="1"/>
          <p:nvPr/>
        </p:nvSpPr>
        <p:spPr>
          <a:xfrm>
            <a:off x="571500" y="5626100"/>
            <a:ext cx="11201400" cy="660400"/>
          </a:xfrm>
          <a:prstGeom prst="rect">
            <a:avLst/>
          </a:prstGeom>
          <a:noFill/>
        </p:spPr>
        <p:txBody>
          <a:bodyPr vert="horz" lIns="0" tIns="0" rIns="0" bIns="0" rtlCol="0">
            <a:noAutofit/>
          </a:bodyPr>
          <a:lstStyle/>
          <a:p>
            <a:r>
              <a:rPr lang="it-IT" sz="2200" b="1">
                <a:solidFill>
                  <a:srgbClr val="303030"/>
                </a:solidFill>
                <a:latin typeface="Aptos" panose="020B0004020202020204" pitchFamily="34" charset="0"/>
              </a:rPr>
              <a:t>Ottimizzare = meno ambiguità e lavoro inutile, non meno vincoli necessari.</a:t>
            </a:r>
          </a:p>
        </p:txBody>
      </p:sp>
    </p:spTree>
    <p:custDataLst>
      <p:tags r:id="rId1"/>
    </p:custDataLst>
    <p:extLst>
      <p:ext uri="{BB962C8B-B14F-4D97-AF65-F5344CB8AC3E}">
        <p14:creationId xmlns:p14="http://schemas.microsoft.com/office/powerpoint/2010/main" val="1425774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164607C6-DE89-5080-98A2-739C3D92CA09}"/>
              </a:ext>
            </a:extLst>
          </p:cNvPr>
          <p:cNvSpPr txBox="1"/>
          <p:nvPr/>
        </p:nvSpPr>
        <p:spPr>
          <a:xfrm>
            <a:off x="1625600" y="317499"/>
            <a:ext cx="10160000" cy="685800"/>
          </a:xfrm>
          <a:prstGeom prst="rect">
            <a:avLst/>
          </a:prstGeom>
          <a:noFill/>
        </p:spPr>
        <p:txBody>
          <a:bodyPr vert="horz" lIns="0" tIns="0" rIns="0" bIns="0" rtlCol="0">
            <a:noAutofit/>
          </a:bodyPr>
          <a:lstStyle/>
          <a:p>
            <a:r>
              <a:rPr lang="it-IT" sz="2800" b="1">
                <a:solidFill>
                  <a:srgbClr val="303030"/>
                </a:solidFill>
                <a:latin typeface="Aptos" panose="020B0004020202020204" pitchFamily="34" charset="0"/>
              </a:rPr>
              <a:t>History e risultati dei tool: il costo cresce a ogni giro</a:t>
            </a:r>
          </a:p>
        </p:txBody>
      </p:sp>
      <p:sp>
        <p:nvSpPr>
          <p:cNvPr id="6" name="Rettangolo con angoli arrotondati 5">
            <a:extLst>
              <a:ext uri="{FF2B5EF4-FFF2-40B4-BE49-F238E27FC236}">
                <a16:creationId xmlns:a16="http://schemas.microsoft.com/office/drawing/2014/main" id="{F6A6C308-7286-998B-7C36-6D9B679AE6BF}"/>
              </a:ext>
            </a:extLst>
          </p:cNvPr>
          <p:cNvSpPr/>
          <p:nvPr/>
        </p:nvSpPr>
        <p:spPr>
          <a:xfrm>
            <a:off x="571500" y="1651000"/>
            <a:ext cx="3581400" cy="36195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14661E9A-F060-38AD-11C4-8F18D104EB70}"/>
              </a:ext>
            </a:extLst>
          </p:cNvPr>
          <p:cNvSpPr txBox="1"/>
          <p:nvPr/>
        </p:nvSpPr>
        <p:spPr>
          <a:xfrm>
            <a:off x="774700" y="1854199"/>
            <a:ext cx="3175000" cy="533400"/>
          </a:xfrm>
          <a:prstGeom prst="rect">
            <a:avLst/>
          </a:prstGeom>
          <a:noFill/>
        </p:spPr>
        <p:txBody>
          <a:bodyPr vert="horz" lIns="0" tIns="0" rIns="0" bIns="0" rtlCol="0">
            <a:noAutofit/>
          </a:bodyPr>
          <a:lstStyle/>
          <a:p>
            <a:r>
              <a:rPr lang="it-IT" sz="2000" b="1">
                <a:solidFill>
                  <a:srgbClr val="008278"/>
                </a:solidFill>
                <a:latin typeface="Aptos" panose="020B0004020202020204" pitchFamily="34" charset="0"/>
              </a:rPr>
              <a:t>SELEZIONA</a:t>
            </a:r>
          </a:p>
        </p:txBody>
      </p:sp>
      <p:sp>
        <p:nvSpPr>
          <p:cNvPr id="8" name="CasellaDiTesto 7">
            <a:extLst>
              <a:ext uri="{FF2B5EF4-FFF2-40B4-BE49-F238E27FC236}">
                <a16:creationId xmlns:a16="http://schemas.microsoft.com/office/drawing/2014/main" id="{D80D3717-CBE3-4407-BE69-324AF56EE109}"/>
              </a:ext>
            </a:extLst>
          </p:cNvPr>
          <p:cNvSpPr txBox="1"/>
          <p:nvPr/>
        </p:nvSpPr>
        <p:spPr>
          <a:xfrm>
            <a:off x="77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Solo tool pertinenti.</a:t>
            </a:r>
          </a:p>
          <a:p>
            <a:r>
              <a:rPr lang="it-IT" sz="2000">
                <a:solidFill>
                  <a:srgbClr val="303030"/>
                </a:solidFill>
                <a:latin typeface="Aptos" panose="020B0004020202020204" pitchFamily="34" charset="0"/>
              </a:rPr>
              <a:t>RAG mirato.</a:t>
            </a:r>
          </a:p>
          <a:p>
            <a:r>
              <a:rPr lang="it-IT" sz="2000">
                <a:solidFill>
                  <a:srgbClr val="303030"/>
                </a:solidFill>
                <a:latin typeface="Aptos" panose="020B0004020202020204" pitchFamily="34" charset="0"/>
              </a:rPr>
              <a:t>Risultati con campi utili.</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Non incollare payload enormi.</a:t>
            </a:r>
          </a:p>
        </p:txBody>
      </p:sp>
      <p:sp>
        <p:nvSpPr>
          <p:cNvPr id="9" name="Rettangolo con angoli arrotondati 8">
            <a:extLst>
              <a:ext uri="{FF2B5EF4-FFF2-40B4-BE49-F238E27FC236}">
                <a16:creationId xmlns:a16="http://schemas.microsoft.com/office/drawing/2014/main" id="{F2C223D3-816B-1BA9-6783-EF7FA9E5429A}"/>
              </a:ext>
            </a:extLst>
          </p:cNvPr>
          <p:cNvSpPr/>
          <p:nvPr/>
        </p:nvSpPr>
        <p:spPr>
          <a:xfrm>
            <a:off x="4381500" y="1651000"/>
            <a:ext cx="3581400" cy="3619500"/>
          </a:xfrm>
          <a:prstGeom prst="roundRect">
            <a:avLst/>
          </a:prstGeom>
          <a:solidFill>
            <a:srgbClr val="F2F2F2"/>
          </a:solidFill>
          <a:ln>
            <a:solidFill>
              <a:srgbClr val="C06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5F5B372B-2058-7505-AA00-D8DEB0568077}"/>
              </a:ext>
            </a:extLst>
          </p:cNvPr>
          <p:cNvSpPr txBox="1"/>
          <p:nvPr/>
        </p:nvSpPr>
        <p:spPr>
          <a:xfrm>
            <a:off x="4584700" y="1854199"/>
            <a:ext cx="3175000" cy="533400"/>
          </a:xfrm>
          <a:prstGeom prst="rect">
            <a:avLst/>
          </a:prstGeom>
          <a:noFill/>
        </p:spPr>
        <p:txBody>
          <a:bodyPr vert="horz" lIns="0" tIns="0" rIns="0" bIns="0" rtlCol="0">
            <a:noAutofit/>
          </a:bodyPr>
          <a:lstStyle/>
          <a:p>
            <a:r>
              <a:rPr lang="it-IT" sz="2000" b="1">
                <a:solidFill>
                  <a:srgbClr val="C064AA"/>
                </a:solidFill>
                <a:latin typeface="Aptos" panose="020B0004020202020204" pitchFamily="34" charset="0"/>
              </a:rPr>
              <a:t>COMPRIMI CON CRITERIO</a:t>
            </a:r>
          </a:p>
        </p:txBody>
      </p:sp>
      <p:sp>
        <p:nvSpPr>
          <p:cNvPr id="11" name="CasellaDiTesto 10">
            <a:extLst>
              <a:ext uri="{FF2B5EF4-FFF2-40B4-BE49-F238E27FC236}">
                <a16:creationId xmlns:a16="http://schemas.microsoft.com/office/drawing/2014/main" id="{50B3F04F-AC2C-E760-D435-041EAA16183B}"/>
              </a:ext>
            </a:extLst>
          </p:cNvPr>
          <p:cNvSpPr txBox="1"/>
          <p:nvPr/>
        </p:nvSpPr>
        <p:spPr>
          <a:xfrm>
            <a:off x="458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Preserva fatti e vincoli.</a:t>
            </a:r>
          </a:p>
          <a:p>
            <a:r>
              <a:rPr lang="it-IT" sz="2000">
                <a:solidFill>
                  <a:srgbClr val="303030"/>
                </a:solidFill>
                <a:latin typeface="Aptos" panose="020B0004020202020204" pitchFamily="34" charset="0"/>
              </a:rPr>
              <a:t>Conserva call / result.</a:t>
            </a:r>
          </a:p>
          <a:p>
            <a:r>
              <a:rPr lang="it-IT" sz="2000">
                <a:solidFill>
                  <a:srgbClr val="303030"/>
                </a:solidFill>
                <a:latin typeface="Aptos" panose="020B0004020202020204" pitchFamily="34" charset="0"/>
              </a:rPr>
              <a:t>Valuta costo del riassunto.</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Non mescolare le sessioni.</a:t>
            </a:r>
          </a:p>
        </p:txBody>
      </p:sp>
      <p:sp>
        <p:nvSpPr>
          <p:cNvPr id="12" name="Rettangolo con angoli arrotondati 11">
            <a:extLst>
              <a:ext uri="{FF2B5EF4-FFF2-40B4-BE49-F238E27FC236}">
                <a16:creationId xmlns:a16="http://schemas.microsoft.com/office/drawing/2014/main" id="{A69447FA-D310-94BC-9905-30999ABF6A78}"/>
              </a:ext>
            </a:extLst>
          </p:cNvPr>
          <p:cNvSpPr/>
          <p:nvPr/>
        </p:nvSpPr>
        <p:spPr>
          <a:xfrm>
            <a:off x="8191500" y="1651000"/>
            <a:ext cx="3581400" cy="3619500"/>
          </a:xfrm>
          <a:prstGeom prst="roundRect">
            <a:avLst/>
          </a:prstGeom>
          <a:solidFill>
            <a:srgbClr val="F2F2F2"/>
          </a:solidFill>
          <a:ln>
            <a:solidFill>
              <a:srgbClr val="C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8DCF8001-E414-45F3-E0AE-F4423DE8580A}"/>
              </a:ext>
            </a:extLst>
          </p:cNvPr>
          <p:cNvSpPr txBox="1"/>
          <p:nvPr/>
        </p:nvSpPr>
        <p:spPr>
          <a:xfrm>
            <a:off x="8394700" y="1854199"/>
            <a:ext cx="3175000" cy="533400"/>
          </a:xfrm>
          <a:prstGeom prst="rect">
            <a:avLst/>
          </a:prstGeom>
          <a:noFill/>
        </p:spPr>
        <p:txBody>
          <a:bodyPr vert="horz" lIns="0" tIns="0" rIns="0" bIns="0" rtlCol="0">
            <a:noAutofit/>
          </a:bodyPr>
          <a:lstStyle/>
          <a:p>
            <a:r>
              <a:rPr lang="it-IT" sz="2000" b="1">
                <a:solidFill>
                  <a:srgbClr val="C08000"/>
                </a:solidFill>
                <a:latin typeface="Aptos" panose="020B0004020202020204" pitchFamily="34" charset="0"/>
              </a:rPr>
              <a:t>FERMA IL LOOP</a:t>
            </a:r>
          </a:p>
        </p:txBody>
      </p:sp>
      <p:sp>
        <p:nvSpPr>
          <p:cNvPr id="14" name="CasellaDiTesto 13">
            <a:extLst>
              <a:ext uri="{FF2B5EF4-FFF2-40B4-BE49-F238E27FC236}">
                <a16:creationId xmlns:a16="http://schemas.microsoft.com/office/drawing/2014/main" id="{09B631CF-921C-20FD-0EA4-6B393636153E}"/>
              </a:ext>
            </a:extLst>
          </p:cNvPr>
          <p:cNvSpPr txBox="1"/>
          <p:nvPr/>
        </p:nvSpPr>
        <p:spPr>
          <a:xfrm>
            <a:off x="839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Budget di chiamate e output.</a:t>
            </a:r>
          </a:p>
          <a:p>
            <a:r>
              <a:rPr lang="it-IT" sz="2000">
                <a:solidFill>
                  <a:srgbClr val="303030"/>
                </a:solidFill>
                <a:latin typeface="Aptos" panose="020B0004020202020204" pitchFamily="34" charset="0"/>
              </a:rPr>
              <a:t>Timeout / cancellazione.</a:t>
            </a:r>
          </a:p>
          <a:p>
            <a:r>
              <a:rPr lang="it-IT" sz="2000">
                <a:solidFill>
                  <a:srgbClr val="303030"/>
                </a:solidFill>
                <a:latin typeface="Aptos" panose="020B0004020202020204" pitchFamily="34" charset="0"/>
              </a:rPr>
              <a:t>Retry solo quando utili.</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Stop verificato nel codice.</a:t>
            </a:r>
          </a:p>
        </p:txBody>
      </p:sp>
      <p:sp>
        <p:nvSpPr>
          <p:cNvPr id="15" name="CasellaDiTesto 14">
            <a:extLst>
              <a:ext uri="{FF2B5EF4-FFF2-40B4-BE49-F238E27FC236}">
                <a16:creationId xmlns:a16="http://schemas.microsoft.com/office/drawing/2014/main" id="{7CFCFD0D-47E2-195E-6A70-E0D4A9DBC49C}"/>
              </a:ext>
            </a:extLst>
          </p:cNvPr>
          <p:cNvSpPr txBox="1"/>
          <p:nvPr/>
        </p:nvSpPr>
        <p:spPr>
          <a:xfrm>
            <a:off x="571500" y="5626100"/>
            <a:ext cx="11201400" cy="660400"/>
          </a:xfrm>
          <a:prstGeom prst="rect">
            <a:avLst/>
          </a:prstGeom>
          <a:noFill/>
        </p:spPr>
        <p:txBody>
          <a:bodyPr vert="horz" lIns="0" tIns="0" rIns="0" bIns="0" rtlCol="0">
            <a:noAutofit/>
          </a:bodyPr>
          <a:lstStyle/>
          <a:p>
            <a:r>
              <a:rPr lang="it-IT" sz="2200" b="1">
                <a:solidFill>
                  <a:srgbClr val="303030"/>
                </a:solidFill>
                <a:latin typeface="Aptos" panose="020B0004020202020204" pitchFamily="34" charset="0"/>
              </a:rPr>
              <a:t>Riduci input ripetuti, giri inutili e output superfluo. Poi verifica la qualità.</a:t>
            </a:r>
          </a:p>
        </p:txBody>
      </p:sp>
    </p:spTree>
    <p:custDataLst>
      <p:tags r:id="rId1"/>
    </p:custDataLst>
    <p:extLst>
      <p:ext uri="{BB962C8B-B14F-4D97-AF65-F5344CB8AC3E}">
        <p14:creationId xmlns:p14="http://schemas.microsoft.com/office/powerpoint/2010/main" val="3310790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1EBE8DD3-C46C-DF2E-19B1-ED0E09AC795A}"/>
              </a:ext>
            </a:extLst>
          </p:cNvPr>
          <p:cNvSpPr txBox="1"/>
          <p:nvPr/>
        </p:nvSpPr>
        <p:spPr>
          <a:xfrm>
            <a:off x="1625600" y="317499"/>
            <a:ext cx="10160000" cy="685800"/>
          </a:xfrm>
          <a:prstGeom prst="rect">
            <a:avLst/>
          </a:prstGeom>
          <a:noFill/>
        </p:spPr>
        <p:txBody>
          <a:bodyPr vert="horz" lIns="0" tIns="0" rIns="0" bIns="0" rtlCol="0">
            <a:noAutofit/>
          </a:bodyPr>
          <a:lstStyle/>
          <a:p>
            <a:r>
              <a:rPr lang="it-IT" sz="2800" b="1">
                <a:solidFill>
                  <a:srgbClr val="303030"/>
                </a:solidFill>
                <a:latin typeface="Aptos" panose="020B0004020202020204" pitchFamily="34" charset="0"/>
              </a:rPr>
              <a:t>Tre scelte, un metodo di ottimizzazione</a:t>
            </a:r>
          </a:p>
        </p:txBody>
      </p:sp>
      <p:sp>
        <p:nvSpPr>
          <p:cNvPr id="6" name="Rettangolo con angoli arrotondati 5">
            <a:extLst>
              <a:ext uri="{FF2B5EF4-FFF2-40B4-BE49-F238E27FC236}">
                <a16:creationId xmlns:a16="http://schemas.microsoft.com/office/drawing/2014/main" id="{6E43B86E-111A-5F34-C304-02CC5B5F17BB}"/>
              </a:ext>
            </a:extLst>
          </p:cNvPr>
          <p:cNvSpPr/>
          <p:nvPr/>
        </p:nvSpPr>
        <p:spPr>
          <a:xfrm>
            <a:off x="571500" y="1651000"/>
            <a:ext cx="3581400" cy="3619500"/>
          </a:xfrm>
          <a:prstGeom prst="roundRect">
            <a:avLst/>
          </a:prstGeom>
          <a:solidFill>
            <a:srgbClr val="F2F2F2"/>
          </a:solidFill>
          <a:ln>
            <a:solidFill>
              <a:srgbClr val="0082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EE77625B-FD70-C715-29E6-9C9403912CD4}"/>
              </a:ext>
            </a:extLst>
          </p:cNvPr>
          <p:cNvSpPr txBox="1"/>
          <p:nvPr/>
        </p:nvSpPr>
        <p:spPr>
          <a:xfrm>
            <a:off x="774700" y="1854199"/>
            <a:ext cx="3175000" cy="533400"/>
          </a:xfrm>
          <a:prstGeom prst="rect">
            <a:avLst/>
          </a:prstGeom>
          <a:noFill/>
        </p:spPr>
        <p:txBody>
          <a:bodyPr vert="horz" lIns="0" tIns="0" rIns="0" bIns="0" rtlCol="0">
            <a:noAutofit/>
          </a:bodyPr>
          <a:lstStyle/>
          <a:p>
            <a:r>
              <a:rPr lang="it-IT" sz="2000" b="1">
                <a:solidFill>
                  <a:srgbClr val="008278"/>
                </a:solidFill>
                <a:latin typeface="Aptos" panose="020B0004020202020204" pitchFamily="34" charset="0"/>
              </a:rPr>
              <a:t>SCEGLI IL CONFINE</a:t>
            </a:r>
          </a:p>
        </p:txBody>
      </p:sp>
      <p:sp>
        <p:nvSpPr>
          <p:cNvPr id="8" name="CasellaDiTesto 7">
            <a:extLst>
              <a:ext uri="{FF2B5EF4-FFF2-40B4-BE49-F238E27FC236}">
                <a16:creationId xmlns:a16="http://schemas.microsoft.com/office/drawing/2014/main" id="{07725844-180F-8517-47CA-47B2CC1CB7C1}"/>
              </a:ext>
            </a:extLst>
          </p:cNvPr>
          <p:cNvSpPr txBox="1"/>
          <p:nvPr/>
        </p:nvSpPr>
        <p:spPr>
          <a:xfrm>
            <a:off x="77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MCP: operazione.</a:t>
            </a:r>
          </a:p>
          <a:p>
            <a:r>
              <a:rPr lang="it-IT" sz="2000">
                <a:solidFill>
                  <a:srgbClr val="303030"/>
                </a:solidFill>
                <a:latin typeface="Aptos" panose="020B0004020202020204" pitchFamily="34" charset="0"/>
              </a:rPr>
              <a:t>A2A: responsabilità.</a:t>
            </a:r>
          </a:p>
          <a:p>
            <a:r>
              <a:rPr lang="it-IT" sz="2000">
                <a:solidFill>
                  <a:srgbClr val="303030"/>
                </a:solidFill>
                <a:latin typeface="Aptos" panose="020B0004020202020204" pitchFamily="34" charset="0"/>
              </a:rPr>
              <a:t>Skill: procedura.</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Combinabili, non equivalenti.</a:t>
            </a:r>
          </a:p>
        </p:txBody>
      </p:sp>
      <p:sp>
        <p:nvSpPr>
          <p:cNvPr id="9" name="Rettangolo con angoli arrotondati 8">
            <a:extLst>
              <a:ext uri="{FF2B5EF4-FFF2-40B4-BE49-F238E27FC236}">
                <a16:creationId xmlns:a16="http://schemas.microsoft.com/office/drawing/2014/main" id="{A65C8BB1-A3EF-633D-DEE3-CFF6B9B21A50}"/>
              </a:ext>
            </a:extLst>
          </p:cNvPr>
          <p:cNvSpPr/>
          <p:nvPr/>
        </p:nvSpPr>
        <p:spPr>
          <a:xfrm>
            <a:off x="4381500" y="1651000"/>
            <a:ext cx="3581400" cy="3619500"/>
          </a:xfrm>
          <a:prstGeom prst="roundRect">
            <a:avLst/>
          </a:prstGeom>
          <a:solidFill>
            <a:srgbClr val="F2F2F2"/>
          </a:solidFill>
          <a:ln>
            <a:solidFill>
              <a:srgbClr val="C06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94154F62-4ED4-86F4-CE91-5E45F37B4425}"/>
              </a:ext>
            </a:extLst>
          </p:cNvPr>
          <p:cNvSpPr txBox="1"/>
          <p:nvPr/>
        </p:nvSpPr>
        <p:spPr>
          <a:xfrm>
            <a:off x="4584700" y="1854199"/>
            <a:ext cx="3175000" cy="533400"/>
          </a:xfrm>
          <a:prstGeom prst="rect">
            <a:avLst/>
          </a:prstGeom>
          <a:noFill/>
        </p:spPr>
        <p:txBody>
          <a:bodyPr vert="horz" lIns="0" tIns="0" rIns="0" bIns="0" rtlCol="0">
            <a:noAutofit/>
          </a:bodyPr>
          <a:lstStyle/>
          <a:p>
            <a:r>
              <a:rPr lang="it-IT" sz="2000" b="1">
                <a:solidFill>
                  <a:srgbClr val="C064AA"/>
                </a:solidFill>
                <a:latin typeface="Aptos" panose="020B0004020202020204" pitchFamily="34" charset="0"/>
              </a:rPr>
              <a:t>COMPONI IL CONTESTO</a:t>
            </a:r>
          </a:p>
        </p:txBody>
      </p:sp>
      <p:sp>
        <p:nvSpPr>
          <p:cNvPr id="11" name="CasellaDiTesto 10">
            <a:extLst>
              <a:ext uri="{FF2B5EF4-FFF2-40B4-BE49-F238E27FC236}">
                <a16:creationId xmlns:a16="http://schemas.microsoft.com/office/drawing/2014/main" id="{8F7425EF-623D-BFB6-BA6B-7442063E5AEE}"/>
              </a:ext>
            </a:extLst>
          </p:cNvPr>
          <p:cNvSpPr txBox="1"/>
          <p:nvPr/>
        </p:nvSpPr>
        <p:spPr>
          <a:xfrm>
            <a:off x="458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Instructions + history.</a:t>
            </a:r>
          </a:p>
          <a:p>
            <a:r>
              <a:rPr lang="it-IT" sz="2000">
                <a:solidFill>
                  <a:srgbClr val="303030"/>
                </a:solidFill>
                <a:latin typeface="Aptos" panose="020B0004020202020204" pitchFamily="34" charset="0"/>
              </a:rPr>
              <a:t>Tool schema + contesto.</a:t>
            </a:r>
          </a:p>
          <a:p>
            <a:r>
              <a:rPr lang="it-IT" sz="2000">
                <a:solidFill>
                  <a:srgbClr val="303030"/>
                </a:solidFill>
                <a:latin typeface="Aptos" panose="020B0004020202020204" pitchFamily="34" charset="0"/>
              </a:rPr>
              <a:t>Skill quando pertinente.</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MAF governa il ciclo.</a:t>
            </a:r>
          </a:p>
        </p:txBody>
      </p:sp>
      <p:sp>
        <p:nvSpPr>
          <p:cNvPr id="12" name="Rettangolo con angoli arrotondati 11">
            <a:extLst>
              <a:ext uri="{FF2B5EF4-FFF2-40B4-BE49-F238E27FC236}">
                <a16:creationId xmlns:a16="http://schemas.microsoft.com/office/drawing/2014/main" id="{E7AE566C-AE3C-2565-5BDB-A0E2553BE4BA}"/>
              </a:ext>
            </a:extLst>
          </p:cNvPr>
          <p:cNvSpPr/>
          <p:nvPr/>
        </p:nvSpPr>
        <p:spPr>
          <a:xfrm>
            <a:off x="8191500" y="1651000"/>
            <a:ext cx="3581400" cy="3619500"/>
          </a:xfrm>
          <a:prstGeom prst="roundRect">
            <a:avLst/>
          </a:prstGeom>
          <a:solidFill>
            <a:srgbClr val="F2F2F2"/>
          </a:solidFill>
          <a:ln>
            <a:solidFill>
              <a:srgbClr val="C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F493B1E3-82D1-3987-3C5B-F24DD82AFD31}"/>
              </a:ext>
            </a:extLst>
          </p:cNvPr>
          <p:cNvSpPr txBox="1"/>
          <p:nvPr/>
        </p:nvSpPr>
        <p:spPr>
          <a:xfrm>
            <a:off x="8394700" y="1854199"/>
            <a:ext cx="3175000" cy="533400"/>
          </a:xfrm>
          <a:prstGeom prst="rect">
            <a:avLst/>
          </a:prstGeom>
          <a:noFill/>
        </p:spPr>
        <p:txBody>
          <a:bodyPr vert="horz" lIns="0" tIns="0" rIns="0" bIns="0" rtlCol="0">
            <a:noAutofit/>
          </a:bodyPr>
          <a:lstStyle/>
          <a:p>
            <a:r>
              <a:rPr lang="it-IT" sz="2000" b="1">
                <a:solidFill>
                  <a:srgbClr val="C08000"/>
                </a:solidFill>
                <a:latin typeface="Aptos" panose="020B0004020202020204" pitchFamily="34" charset="0"/>
              </a:rPr>
              <a:t>MISURA IL RISULTATO</a:t>
            </a:r>
          </a:p>
        </p:txBody>
      </p:sp>
      <p:sp>
        <p:nvSpPr>
          <p:cNvPr id="14" name="CasellaDiTesto 13">
            <a:extLst>
              <a:ext uri="{FF2B5EF4-FFF2-40B4-BE49-F238E27FC236}">
                <a16:creationId xmlns:a16="http://schemas.microsoft.com/office/drawing/2014/main" id="{651F4303-7D55-2B0C-7AFB-D11BB832E3D3}"/>
              </a:ext>
            </a:extLst>
          </p:cNvPr>
          <p:cNvSpPr txBox="1"/>
          <p:nvPr/>
        </p:nvSpPr>
        <p:spPr>
          <a:xfrm>
            <a:off x="8394700" y="2552699"/>
            <a:ext cx="3175000" cy="2527300"/>
          </a:xfrm>
          <a:prstGeom prst="rect">
            <a:avLst/>
          </a:prstGeom>
          <a:noFill/>
        </p:spPr>
        <p:txBody>
          <a:bodyPr vert="horz" lIns="0" tIns="0" rIns="0" bIns="0" rtlCol="0">
            <a:noAutofit/>
          </a:bodyPr>
          <a:lstStyle/>
          <a:p>
            <a:r>
              <a:rPr lang="it-IT" sz="2000">
                <a:solidFill>
                  <a:srgbClr val="303030"/>
                </a:solidFill>
                <a:latin typeface="Aptos" panose="020B0004020202020204" pitchFamily="34" charset="0"/>
              </a:rPr>
              <a:t>Qualità e sicurezza.</a:t>
            </a:r>
          </a:p>
          <a:p>
            <a:r>
              <a:rPr lang="it-IT" sz="2000">
                <a:solidFill>
                  <a:srgbClr val="303030"/>
                </a:solidFill>
                <a:latin typeface="Aptos" panose="020B0004020202020204" pitchFamily="34" charset="0"/>
              </a:rPr>
              <a:t>Input / output / cache.</a:t>
            </a:r>
          </a:p>
          <a:p>
            <a:r>
              <a:rPr lang="it-IT" sz="2000">
                <a:solidFill>
                  <a:srgbClr val="303030"/>
                </a:solidFill>
                <a:latin typeface="Aptos" panose="020B0004020202020204" pitchFamily="34" charset="0"/>
              </a:rPr>
              <a:t>Latenza e numero di chat.</a:t>
            </a:r>
          </a:p>
          <a:p>
            <a:endParaRPr lang="it-IT" sz="2000">
              <a:solidFill>
                <a:srgbClr val="303030"/>
              </a:solidFill>
              <a:latin typeface="Aptos" panose="020B0004020202020204" pitchFamily="34" charset="0"/>
            </a:endParaRPr>
          </a:p>
          <a:p>
            <a:r>
              <a:rPr lang="it-IT" sz="2000">
                <a:solidFill>
                  <a:srgbClr val="303030"/>
                </a:solidFill>
                <a:latin typeface="Aptos" panose="020B0004020202020204" pitchFamily="34" charset="0"/>
              </a:rPr>
              <a:t>Costo per esito corretto.</a:t>
            </a:r>
          </a:p>
        </p:txBody>
      </p:sp>
      <p:sp>
        <p:nvSpPr>
          <p:cNvPr id="15" name="CasellaDiTesto 14">
            <a:extLst>
              <a:ext uri="{FF2B5EF4-FFF2-40B4-BE49-F238E27FC236}">
                <a16:creationId xmlns:a16="http://schemas.microsoft.com/office/drawing/2014/main" id="{5C1D07A4-E15E-9604-D17E-AC38339D23D6}"/>
              </a:ext>
            </a:extLst>
          </p:cNvPr>
          <p:cNvSpPr txBox="1"/>
          <p:nvPr/>
        </p:nvSpPr>
        <p:spPr>
          <a:xfrm>
            <a:off x="571500" y="5626100"/>
            <a:ext cx="11201400" cy="660400"/>
          </a:xfrm>
          <a:prstGeom prst="rect">
            <a:avLst/>
          </a:prstGeom>
          <a:noFill/>
        </p:spPr>
        <p:txBody>
          <a:bodyPr vert="horz" lIns="0" tIns="0" rIns="0" bIns="0" rtlCol="0">
            <a:noAutofit/>
          </a:bodyPr>
          <a:lstStyle/>
          <a:p>
            <a:r>
              <a:rPr lang="it-IT" sz="2200" b="1">
                <a:solidFill>
                  <a:srgbClr val="303030"/>
                </a:solidFill>
                <a:latin typeface="Aptos" panose="020B0004020202020204" pitchFamily="34" charset="0"/>
              </a:rPr>
              <a:t>Il sistema migliore non è quello con più agenti: è quello che svolge bene il lavoro utile.</a:t>
            </a:r>
          </a:p>
        </p:txBody>
      </p:sp>
    </p:spTree>
    <p:custDataLst>
      <p:tags r:id="rId1"/>
    </p:custDataLst>
    <p:extLst>
      <p:ext uri="{BB962C8B-B14F-4D97-AF65-F5344CB8AC3E}">
        <p14:creationId xmlns:p14="http://schemas.microsoft.com/office/powerpoint/2010/main" val="2598055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Questions Section Title"/>
          <p:cNvSpPr>
            <a:spLocks noGrp="1"/>
          </p:cNvSpPr>
          <p:nvPr>
            <p:ph type="title"/>
          </p:nvPr>
        </p:nvSpPr>
        <p:spPr/>
        <p:txBody>
          <a:bodyPr>
            <a:normAutofit fontScale="90000"/>
          </a:bodyPr>
          <a:lstStyle/>
          <a:p>
            <a:r>
              <a:t>Questions &amp; Discussion</a:t>
            </a:r>
          </a:p>
        </p:txBody>
      </p:sp>
      <p:sp>
        <p:nvSpPr>
          <p:cNvPr id="4" name="CasellaDiTesto 3">
            <a:extLst>
              <a:ext uri="{FF2B5EF4-FFF2-40B4-BE49-F238E27FC236}">
                <a16:creationId xmlns:a16="http://schemas.microsoft.com/office/drawing/2014/main" id="{5A907E41-1091-0F76-4EDB-D48C504D8461}"/>
              </a:ext>
            </a:extLst>
          </p:cNvPr>
          <p:cNvSpPr txBox="1"/>
          <p:nvPr/>
        </p:nvSpPr>
        <p:spPr>
          <a:xfrm>
            <a:off x="4473199" y="6088273"/>
            <a:ext cx="6094708" cy="369332"/>
          </a:xfrm>
          <a:prstGeom prst="rect">
            <a:avLst/>
          </a:prstGeom>
          <a:noFill/>
        </p:spPr>
        <p:txBody>
          <a:bodyPr wrap="square">
            <a:spAutoFit/>
          </a:bodyPr>
          <a:lstStyle/>
          <a:p>
            <a:r>
              <a:rPr lang="it-IT" dirty="0">
                <a:hlinkClick r:id="rId4"/>
              </a:rPr>
              <a:t>https://github.com/andreatosato/AzureDayTorino2026</a:t>
            </a:r>
            <a:r>
              <a:rPr lang="it-IT" dirty="0"/>
              <a:t> </a:t>
            </a: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QR Code for voting on MCP server, A2A, Skill, mamma mia che mal di testAI!" descr="temp_voteQr.png"/>
          <p:cNvPicPr>
            <a:picLocks noGrp="1" noChangeAspect="1"/>
          </p:cNvPicPr>
          <p:nvPr>
            <p:ph type="pic" idx="1"/>
          </p:nvPr>
        </p:nvPicPr>
        <p:blipFill>
          <a:blip r:embed="rId4"/>
          <a:srcRect t="3514" b="3514"/>
          <a:stretch>
            <a:fillRect/>
          </a:stretch>
        </p:blipFill>
        <p:spPr/>
      </p:pic>
      <p:sp>
        <p:nvSpPr>
          <p:cNvPr id="3" name="Voting Call to Action"/>
          <p:cNvSpPr>
            <a:spLocks noGrp="1"/>
          </p:cNvSpPr>
          <p:nvPr>
            <p:ph type="title"/>
          </p:nvPr>
        </p:nvSpPr>
        <p:spPr/>
        <p:txBody>
          <a:bodyPr/>
          <a:lstStyle/>
          <a:p>
            <a:r>
              <a:t>Please Vote for This Session</a:t>
            </a:r>
          </a:p>
        </p:txBody>
      </p:sp>
      <p:sp>
        <p:nvSpPr>
          <p:cNvPr id="4" name="Hidden Accessibility Title"/>
          <p:cNvSpPr txBox="1"/>
          <p:nvPr/>
        </p:nvSpPr>
        <p:spPr>
          <a:xfrm>
            <a:off x="-9144000" y="-914400"/>
            <a:ext cx="7315200" cy="457200"/>
          </a:xfrm>
          <a:prstGeom prst="rect">
            <a:avLst/>
          </a:prstGeom>
          <a:noFill/>
        </p:spPr>
        <p:txBody>
          <a:bodyPr wrap="none">
            <a:spAutoFit/>
          </a:bodyPr>
          <a:lstStyle/>
          <a:p>
            <a:pPr>
              <a:defRPr sz="1200">
                <a:solidFill>
                  <a:srgbClr val="000000"/>
                </a:solidFill>
              </a:defRPr>
            </a:pPr>
            <a:r>
              <a:t>Vote for Session - MCP server, A2A, Skill, mamma mia che mal di testAI!</a:t>
            </a:r>
          </a:p>
        </p:txBody>
      </p:sp>
      <p:sp>
        <p:nvSpPr>
          <p:cNvPr id="5" name="Alternative Voting URL"/>
          <p:cNvSpPr txBox="1"/>
          <p:nvPr/>
        </p:nvSpPr>
        <p:spPr>
          <a:xfrm>
            <a:off x="457200" y="6309360"/>
            <a:ext cx="11277600" cy="411480"/>
          </a:xfrm>
          <a:prstGeom prst="rect">
            <a:avLst/>
          </a:prstGeom>
          <a:noFill/>
        </p:spPr>
        <p:txBody>
          <a:bodyPr wrap="square">
            <a:spAutoFit/>
          </a:bodyPr>
          <a:lstStyle/>
          <a:p>
            <a:pPr algn="ctr">
              <a:defRPr sz="1800">
                <a:solidFill>
                  <a:srgbClr val="262626"/>
                </a:solidFill>
              </a:defRPr>
            </a:pPr>
            <a:r>
              <a:t>https://vote.dotnetdev.it/vote/l44tzzta/1304496</a:t>
            </a: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71500" y="1308100"/>
            <a:ext cx="11049000" cy="279400"/>
          </a:xfrm>
          <a:prstGeom prst="rect">
            <a:avLst/>
          </a:prstGeom>
          <a:noFill/>
          <a:ln/>
        </p:spPr>
        <p:txBody>
          <a:bodyPr wrap="square" lIns="0" tIns="0" rIns="0" bIns="0" rtlCol="0" anchor="ctr"/>
          <a:lstStyle/>
          <a:p>
            <a:pPr marL="0" indent="0">
              <a:buNone/>
            </a:pPr>
            <a:r>
              <a:rPr lang="en-US" sz="1000" b="1" kern="0" spc="220" dirty="0">
                <a:solidFill>
                  <a:srgbClr val="076B62"/>
                </a:solidFill>
              </a:rPr>
              <a:t>ECONOMIA DEI TOKEN</a:t>
            </a:r>
            <a:endParaRPr lang="en-US" sz="1000" dirty="0">
              <a:solidFill>
                <a:srgbClr val="076B62"/>
              </a:solidFill>
            </a:endParaRPr>
          </a:p>
        </p:txBody>
      </p:sp>
      <p:sp>
        <p:nvSpPr>
          <p:cNvPr id="4" name="Text 2"/>
          <p:cNvSpPr/>
          <p:nvPr/>
        </p:nvSpPr>
        <p:spPr>
          <a:xfrm>
            <a:off x="571500" y="1625600"/>
            <a:ext cx="11201400" cy="431800"/>
          </a:xfrm>
          <a:prstGeom prst="rect">
            <a:avLst/>
          </a:prstGeom>
          <a:noFill/>
          <a:ln/>
        </p:spPr>
        <p:txBody>
          <a:bodyPr wrap="square" lIns="0" tIns="0" rIns="0" bIns="0" rtlCol="0" anchor="ctr">
            <a:normAutofit/>
          </a:bodyPr>
          <a:lstStyle/>
          <a:p>
            <a:pPr marL="0" indent="0">
              <a:buNone/>
            </a:pPr>
            <a:r>
              <a:rPr lang="en-US" sz="1300" dirty="0">
                <a:solidFill>
                  <a:srgbClr val="526A76"/>
                </a:solidFill>
              </a:rPr>
              <a:t>Il ledger deve conservare contatori e tariffa applicata per ogni chiamata.</a:t>
            </a:r>
          </a:p>
        </p:txBody>
      </p:sp>
      <p:grpSp>
        <p:nvGrpSpPr>
          <p:cNvPr id="29" name="OriginalContent_17">
            <a:extLst>
              <a:ext uri="{FF2B5EF4-FFF2-40B4-BE49-F238E27FC236}">
                <a16:creationId xmlns:a16="http://schemas.microsoft.com/office/drawing/2014/main" id="{C2DCEA32-3CA8-B152-4E31-971BC3F07773}"/>
              </a:ext>
            </a:extLst>
          </p:cNvPr>
          <p:cNvGrpSpPr>
            <a:grpSpLocks noChangeAspect="1"/>
          </p:cNvGrpSpPr>
          <p:nvPr/>
        </p:nvGrpSpPr>
        <p:grpSpPr>
          <a:xfrm>
            <a:off x="685800" y="2120900"/>
            <a:ext cx="10972800" cy="3767328"/>
            <a:chOff x="594360" y="1755648"/>
            <a:chExt cx="10972800" cy="3767328"/>
          </a:xfrm>
        </p:grpSpPr>
        <p:sp>
          <p:nvSpPr>
            <p:cNvPr id="5" name="Shape 3"/>
            <p:cNvSpPr/>
            <p:nvPr/>
          </p:nvSpPr>
          <p:spPr>
            <a:xfrm>
              <a:off x="594360" y="1755648"/>
              <a:ext cx="10972800" cy="0"/>
            </a:xfrm>
            <a:prstGeom prst="line">
              <a:avLst/>
            </a:prstGeom>
            <a:noFill/>
            <a:ln w="12700">
              <a:solidFill>
                <a:srgbClr val="D6E0E4"/>
              </a:solidFill>
              <a:prstDash val="solid"/>
            </a:ln>
          </p:spPr>
          <p:txBody>
            <a:bodyPr/>
            <a:lstStyle/>
            <a:p>
              <a:endParaRPr lang="it-IT"/>
            </a:p>
          </p:txBody>
        </p:sp>
        <p:sp>
          <p:nvSpPr>
            <p:cNvPr id="6" name="Shape 4"/>
            <p:cNvSpPr/>
            <p:nvPr/>
          </p:nvSpPr>
          <p:spPr>
            <a:xfrm>
              <a:off x="731520" y="2240280"/>
              <a:ext cx="5029200" cy="960120"/>
            </a:xfrm>
            <a:prstGeom prst="rect">
              <a:avLst/>
            </a:prstGeom>
            <a:solidFill>
              <a:srgbClr val="2A6078"/>
            </a:solidFill>
            <a:ln w="25400">
              <a:solidFill>
                <a:srgbClr val="FFFFFF"/>
              </a:solidFill>
              <a:prstDash val="solid"/>
            </a:ln>
          </p:spPr>
          <p:txBody>
            <a:bodyPr/>
            <a:lstStyle/>
            <a:p>
              <a:endParaRPr lang="it-IT"/>
            </a:p>
          </p:txBody>
        </p:sp>
        <p:sp>
          <p:nvSpPr>
            <p:cNvPr id="7" name="Text 5"/>
            <p:cNvSpPr/>
            <p:nvPr/>
          </p:nvSpPr>
          <p:spPr>
            <a:xfrm>
              <a:off x="804672" y="2450592"/>
              <a:ext cx="4882896" cy="201168"/>
            </a:xfrm>
            <a:prstGeom prst="rect">
              <a:avLst/>
            </a:prstGeom>
            <a:noFill/>
            <a:ln/>
          </p:spPr>
          <p:txBody>
            <a:bodyPr wrap="square" lIns="0" tIns="0" rIns="0" bIns="0" rtlCol="0" anchor="ctr">
              <a:normAutofit/>
            </a:bodyPr>
            <a:lstStyle/>
            <a:p>
              <a:pPr marL="0" indent="0" algn="ctr">
                <a:buNone/>
              </a:pPr>
              <a:r>
                <a:rPr lang="en-US" sz="1100" b="1" dirty="0">
                  <a:solidFill>
                    <a:srgbClr val="303030"/>
                  </a:solidFill>
                </a:rPr>
                <a:t>INPUT NUOVO</a:t>
              </a:r>
              <a:endParaRPr lang="en-US" sz="1100" dirty="0">
                <a:solidFill>
                  <a:srgbClr val="303030"/>
                </a:solidFill>
              </a:endParaRPr>
            </a:p>
          </p:txBody>
        </p:sp>
        <p:sp>
          <p:nvSpPr>
            <p:cNvPr id="8" name="Text 6"/>
            <p:cNvSpPr/>
            <p:nvPr/>
          </p:nvSpPr>
          <p:spPr>
            <a:xfrm>
              <a:off x="731520" y="3401568"/>
              <a:ext cx="5029200" cy="502920"/>
            </a:xfrm>
            <a:prstGeom prst="rect">
              <a:avLst/>
            </a:prstGeom>
            <a:noFill/>
            <a:ln/>
          </p:spPr>
          <p:txBody>
            <a:bodyPr wrap="square" lIns="0" tIns="0" rIns="0" bIns="0" rtlCol="0" anchor="ctr">
              <a:normAutofit/>
            </a:bodyPr>
            <a:lstStyle/>
            <a:p>
              <a:pPr marL="0" indent="0" algn="ctr">
                <a:buNone/>
              </a:pPr>
              <a:r>
                <a:rPr lang="en-US" sz="1050" dirty="0">
                  <a:solidFill>
                    <a:srgbClr val="526A76"/>
                  </a:solidFill>
                </a:rPr>
                <a:t>istruzioni dinamiche · history · tool result</a:t>
              </a:r>
            </a:p>
          </p:txBody>
        </p:sp>
        <p:sp>
          <p:nvSpPr>
            <p:cNvPr id="9" name="Shape 7"/>
            <p:cNvSpPr/>
            <p:nvPr/>
          </p:nvSpPr>
          <p:spPr>
            <a:xfrm>
              <a:off x="5760720" y="2240280"/>
              <a:ext cx="1828800" cy="960120"/>
            </a:xfrm>
            <a:prstGeom prst="rect">
              <a:avLst/>
            </a:prstGeom>
            <a:solidFill>
              <a:srgbClr val="076B62"/>
            </a:solidFill>
            <a:ln w="25400">
              <a:solidFill>
                <a:srgbClr val="FFFFFF"/>
              </a:solidFill>
              <a:prstDash val="solid"/>
            </a:ln>
          </p:spPr>
          <p:txBody>
            <a:bodyPr/>
            <a:lstStyle/>
            <a:p>
              <a:endParaRPr lang="it-IT"/>
            </a:p>
          </p:txBody>
        </p:sp>
        <p:sp>
          <p:nvSpPr>
            <p:cNvPr id="10" name="Text 8"/>
            <p:cNvSpPr/>
            <p:nvPr/>
          </p:nvSpPr>
          <p:spPr>
            <a:xfrm>
              <a:off x="5833872" y="2450592"/>
              <a:ext cx="1682496" cy="201168"/>
            </a:xfrm>
            <a:prstGeom prst="rect">
              <a:avLst/>
            </a:prstGeom>
            <a:noFill/>
            <a:ln/>
          </p:spPr>
          <p:txBody>
            <a:bodyPr wrap="square" lIns="0" tIns="0" rIns="0" bIns="0" rtlCol="0" anchor="ctr">
              <a:normAutofit/>
            </a:bodyPr>
            <a:lstStyle/>
            <a:p>
              <a:pPr marL="0" indent="0" algn="ctr">
                <a:buNone/>
              </a:pPr>
              <a:r>
                <a:rPr lang="en-US" sz="1100" b="1" dirty="0">
                  <a:solidFill>
                    <a:srgbClr val="303030"/>
                  </a:solidFill>
                </a:rPr>
                <a:t>INPUT IN CACHE</a:t>
              </a:r>
              <a:endParaRPr lang="en-US" sz="1100" dirty="0">
                <a:solidFill>
                  <a:srgbClr val="303030"/>
                </a:solidFill>
              </a:endParaRPr>
            </a:p>
          </p:txBody>
        </p:sp>
        <p:sp>
          <p:nvSpPr>
            <p:cNvPr id="11" name="Text 9"/>
            <p:cNvSpPr/>
            <p:nvPr/>
          </p:nvSpPr>
          <p:spPr>
            <a:xfrm>
              <a:off x="5760720" y="3401568"/>
              <a:ext cx="1828800" cy="502920"/>
            </a:xfrm>
            <a:prstGeom prst="rect">
              <a:avLst/>
            </a:prstGeom>
            <a:noFill/>
            <a:ln/>
          </p:spPr>
          <p:txBody>
            <a:bodyPr wrap="square" lIns="0" tIns="0" rIns="0" bIns="0" rtlCol="0" anchor="ctr">
              <a:normAutofit/>
            </a:bodyPr>
            <a:lstStyle/>
            <a:p>
              <a:pPr marL="0" indent="0" algn="ctr">
                <a:buNone/>
              </a:pPr>
              <a:r>
                <a:rPr lang="en-US" sz="1050" dirty="0">
                  <a:solidFill>
                    <a:srgbClr val="526A76"/>
                  </a:solidFill>
                </a:rPr>
                <a:t>prefisso stabile riusato</a:t>
              </a:r>
            </a:p>
          </p:txBody>
        </p:sp>
        <p:sp>
          <p:nvSpPr>
            <p:cNvPr id="12" name="Shape 10"/>
            <p:cNvSpPr/>
            <p:nvPr/>
          </p:nvSpPr>
          <p:spPr>
            <a:xfrm>
              <a:off x="7589520" y="2240280"/>
              <a:ext cx="1097280" cy="960120"/>
            </a:xfrm>
            <a:prstGeom prst="rect">
              <a:avLst/>
            </a:prstGeom>
            <a:solidFill>
              <a:srgbClr val="BC6C07"/>
            </a:solidFill>
            <a:ln w="25400">
              <a:solidFill>
                <a:srgbClr val="FFFFFF"/>
              </a:solidFill>
              <a:prstDash val="solid"/>
            </a:ln>
          </p:spPr>
          <p:txBody>
            <a:bodyPr/>
            <a:lstStyle/>
            <a:p>
              <a:endParaRPr lang="it-IT"/>
            </a:p>
          </p:txBody>
        </p:sp>
        <p:sp>
          <p:nvSpPr>
            <p:cNvPr id="13" name="Text 11"/>
            <p:cNvSpPr/>
            <p:nvPr/>
          </p:nvSpPr>
          <p:spPr>
            <a:xfrm>
              <a:off x="7662672" y="2450592"/>
              <a:ext cx="950976" cy="201168"/>
            </a:xfrm>
            <a:prstGeom prst="rect">
              <a:avLst/>
            </a:prstGeom>
            <a:noFill/>
            <a:ln/>
          </p:spPr>
          <p:txBody>
            <a:bodyPr wrap="square" lIns="0" tIns="0" rIns="0" bIns="0" rtlCol="0" anchor="ctr">
              <a:normAutofit/>
            </a:bodyPr>
            <a:lstStyle/>
            <a:p>
              <a:pPr marL="0" indent="0" algn="ctr">
                <a:buNone/>
              </a:pPr>
              <a:r>
                <a:rPr lang="en-US" sz="850" b="1" dirty="0">
                  <a:solidFill>
                    <a:srgbClr val="303030"/>
                  </a:solidFill>
                </a:rPr>
                <a:t>CACHE WRITE</a:t>
              </a:r>
              <a:endParaRPr lang="en-US" sz="850" dirty="0">
                <a:solidFill>
                  <a:srgbClr val="303030"/>
                </a:solidFill>
              </a:endParaRPr>
            </a:p>
          </p:txBody>
        </p:sp>
        <p:sp>
          <p:nvSpPr>
            <p:cNvPr id="14" name="Text 12"/>
            <p:cNvSpPr/>
            <p:nvPr/>
          </p:nvSpPr>
          <p:spPr>
            <a:xfrm>
              <a:off x="7589520" y="3401568"/>
              <a:ext cx="1097280" cy="502920"/>
            </a:xfrm>
            <a:prstGeom prst="rect">
              <a:avLst/>
            </a:prstGeom>
            <a:noFill/>
            <a:ln/>
          </p:spPr>
          <p:txBody>
            <a:bodyPr wrap="square" lIns="0" tIns="0" rIns="0" bIns="0" rtlCol="0" anchor="ctr">
              <a:normAutofit/>
            </a:bodyPr>
            <a:lstStyle/>
            <a:p>
              <a:pPr marL="0" indent="0" algn="ctr">
                <a:buNone/>
              </a:pPr>
              <a:r>
                <a:rPr lang="en-US" sz="1050" dirty="0">
                  <a:solidFill>
                    <a:srgbClr val="526A76"/>
                  </a:solidFill>
                </a:rPr>
                <a:t>prefisso scritto</a:t>
              </a:r>
            </a:p>
          </p:txBody>
        </p:sp>
        <p:sp>
          <p:nvSpPr>
            <p:cNvPr id="15" name="Shape 13"/>
            <p:cNvSpPr/>
            <p:nvPr/>
          </p:nvSpPr>
          <p:spPr>
            <a:xfrm>
              <a:off x="8686800" y="2240280"/>
              <a:ext cx="2057400" cy="960120"/>
            </a:xfrm>
            <a:prstGeom prst="rect">
              <a:avLst/>
            </a:prstGeom>
            <a:solidFill>
              <a:srgbClr val="A12A28"/>
            </a:solidFill>
            <a:ln w="25400">
              <a:solidFill>
                <a:srgbClr val="FFFFFF"/>
              </a:solidFill>
              <a:prstDash val="solid"/>
            </a:ln>
          </p:spPr>
          <p:txBody>
            <a:bodyPr/>
            <a:lstStyle/>
            <a:p>
              <a:endParaRPr lang="it-IT"/>
            </a:p>
          </p:txBody>
        </p:sp>
        <p:sp>
          <p:nvSpPr>
            <p:cNvPr id="16" name="Text 14"/>
            <p:cNvSpPr/>
            <p:nvPr/>
          </p:nvSpPr>
          <p:spPr>
            <a:xfrm>
              <a:off x="8759952" y="2450592"/>
              <a:ext cx="1911096" cy="201168"/>
            </a:xfrm>
            <a:prstGeom prst="rect">
              <a:avLst/>
            </a:prstGeom>
            <a:noFill/>
            <a:ln/>
          </p:spPr>
          <p:txBody>
            <a:bodyPr wrap="square" lIns="0" tIns="0" rIns="0" bIns="0" rtlCol="0" anchor="ctr">
              <a:normAutofit/>
            </a:bodyPr>
            <a:lstStyle/>
            <a:p>
              <a:pPr marL="0" indent="0" algn="ctr">
                <a:buNone/>
              </a:pPr>
              <a:r>
                <a:rPr lang="en-US" sz="1100" b="1" dirty="0">
                  <a:solidFill>
                    <a:srgbClr val="303030"/>
                  </a:solidFill>
                </a:rPr>
                <a:t>OUTPUT</a:t>
              </a:r>
              <a:endParaRPr lang="en-US" sz="1100" dirty="0">
                <a:solidFill>
                  <a:srgbClr val="303030"/>
                </a:solidFill>
              </a:endParaRPr>
            </a:p>
          </p:txBody>
        </p:sp>
        <p:sp>
          <p:nvSpPr>
            <p:cNvPr id="17" name="Text 15"/>
            <p:cNvSpPr/>
            <p:nvPr/>
          </p:nvSpPr>
          <p:spPr>
            <a:xfrm>
              <a:off x="8686800" y="3401568"/>
              <a:ext cx="2057400" cy="502920"/>
            </a:xfrm>
            <a:prstGeom prst="rect">
              <a:avLst/>
            </a:prstGeom>
            <a:noFill/>
            <a:ln/>
          </p:spPr>
          <p:txBody>
            <a:bodyPr wrap="square" lIns="0" tIns="0" rIns="0" bIns="0" rtlCol="0" anchor="ctr">
              <a:normAutofit/>
            </a:bodyPr>
            <a:lstStyle/>
            <a:p>
              <a:pPr marL="0" indent="0" algn="ctr">
                <a:buNone/>
              </a:pPr>
              <a:r>
                <a:rPr lang="en-US" sz="1050" dirty="0">
                  <a:solidFill>
                    <a:srgbClr val="526A76"/>
                  </a:solidFill>
                </a:rPr>
                <a:t>risposta + reasoning incluso</a:t>
              </a:r>
            </a:p>
          </p:txBody>
        </p:sp>
        <p:sp>
          <p:nvSpPr>
            <p:cNvPr id="18" name="Shape 16"/>
            <p:cNvSpPr/>
            <p:nvPr/>
          </p:nvSpPr>
          <p:spPr>
            <a:xfrm>
              <a:off x="749808" y="4224528"/>
              <a:ext cx="3429000" cy="1298448"/>
            </a:xfrm>
            <a:prstGeom prst="roundRect">
              <a:avLst>
                <a:gd name="adj" fmla="val 5634"/>
              </a:avLst>
            </a:prstGeom>
            <a:solidFill>
              <a:srgbClr val="E6F4F0"/>
            </a:solidFill>
            <a:ln w="12700">
              <a:solidFill>
                <a:srgbClr val="076B62"/>
              </a:solidFill>
              <a:prstDash val="solid"/>
            </a:ln>
          </p:spPr>
          <p:txBody>
            <a:bodyPr/>
            <a:lstStyle/>
            <a:p>
              <a:endParaRPr lang="it-IT"/>
            </a:p>
          </p:txBody>
        </p:sp>
        <p:sp>
          <p:nvSpPr>
            <p:cNvPr id="19" name="Text 17"/>
            <p:cNvSpPr/>
            <p:nvPr/>
          </p:nvSpPr>
          <p:spPr>
            <a:xfrm>
              <a:off x="950976" y="4443984"/>
              <a:ext cx="3026664" cy="347472"/>
            </a:xfrm>
            <a:prstGeom prst="rect">
              <a:avLst/>
            </a:prstGeom>
            <a:noFill/>
            <a:ln/>
          </p:spPr>
          <p:txBody>
            <a:bodyPr wrap="square" lIns="0" tIns="0" rIns="0" bIns="0" rtlCol="0" anchor="ctr">
              <a:normAutofit/>
            </a:bodyPr>
            <a:lstStyle/>
            <a:p>
              <a:pPr marL="0" indent="0">
                <a:buNone/>
              </a:pPr>
              <a:r>
                <a:rPr lang="en-US" sz="1500" b="1" dirty="0">
                  <a:solidFill>
                    <a:srgbClr val="173342"/>
                  </a:solidFill>
                </a:rPr>
                <a:t>Cache hit</a:t>
              </a:r>
              <a:endParaRPr lang="en-US" sz="1500" dirty="0">
                <a:solidFill>
                  <a:srgbClr val="173342"/>
                </a:solidFill>
              </a:endParaRPr>
            </a:p>
          </p:txBody>
        </p:sp>
        <p:sp>
          <p:nvSpPr>
            <p:cNvPr id="20" name="Text 18"/>
            <p:cNvSpPr/>
            <p:nvPr/>
          </p:nvSpPr>
          <p:spPr>
            <a:xfrm>
              <a:off x="950976" y="4910328"/>
              <a:ext cx="3026664" cy="448056"/>
            </a:xfrm>
            <a:prstGeom prst="rect">
              <a:avLst/>
            </a:prstGeom>
            <a:noFill/>
            <a:ln/>
          </p:spPr>
          <p:txBody>
            <a:bodyPr wrap="square" lIns="254" tIns="254" rIns="254" bIns="254" rtlCol="0" anchor="t">
              <a:normAutofit/>
            </a:bodyPr>
            <a:lstStyle/>
            <a:p>
              <a:pPr marL="0" indent="0">
                <a:buNone/>
              </a:pPr>
              <a:r>
                <a:rPr lang="en-US" sz="1050" dirty="0">
                  <a:solidFill>
                    <a:srgbClr val="526A76"/>
                  </a:solidFill>
                </a:rPr>
                <a:t>Riduce il costo del prefisso già noto. Non riduce automaticamente output, tool o retry.</a:t>
              </a:r>
            </a:p>
          </p:txBody>
        </p:sp>
        <p:sp>
          <p:nvSpPr>
            <p:cNvPr id="21" name="Shape 19"/>
            <p:cNvSpPr/>
            <p:nvPr/>
          </p:nvSpPr>
          <p:spPr>
            <a:xfrm>
              <a:off x="4389120" y="4224528"/>
              <a:ext cx="3429000" cy="1298448"/>
            </a:xfrm>
            <a:prstGeom prst="roundRect">
              <a:avLst>
                <a:gd name="adj" fmla="val 5634"/>
              </a:avLst>
            </a:prstGeom>
            <a:solidFill>
              <a:srgbClr val="FFF4D6"/>
            </a:solidFill>
            <a:ln w="12700">
              <a:solidFill>
                <a:srgbClr val="BC6C07"/>
              </a:solidFill>
              <a:prstDash val="solid"/>
            </a:ln>
          </p:spPr>
          <p:txBody>
            <a:bodyPr/>
            <a:lstStyle/>
            <a:p>
              <a:endParaRPr lang="it-IT"/>
            </a:p>
          </p:txBody>
        </p:sp>
        <p:sp>
          <p:nvSpPr>
            <p:cNvPr id="22" name="Text 20"/>
            <p:cNvSpPr/>
            <p:nvPr/>
          </p:nvSpPr>
          <p:spPr>
            <a:xfrm>
              <a:off x="4590288" y="4443984"/>
              <a:ext cx="3026664" cy="347472"/>
            </a:xfrm>
            <a:prstGeom prst="rect">
              <a:avLst/>
            </a:prstGeom>
            <a:noFill/>
            <a:ln/>
          </p:spPr>
          <p:txBody>
            <a:bodyPr wrap="square" lIns="0" tIns="0" rIns="0" bIns="0" rtlCol="0" anchor="ctr">
              <a:normAutofit/>
            </a:bodyPr>
            <a:lstStyle/>
            <a:p>
              <a:pPr marL="0" indent="0">
                <a:buNone/>
              </a:pPr>
              <a:r>
                <a:rPr lang="en-US" sz="1500" b="1" dirty="0">
                  <a:solidFill>
                    <a:srgbClr val="173342"/>
                  </a:solidFill>
                </a:rPr>
                <a:t>Cache write</a:t>
              </a:r>
              <a:endParaRPr lang="en-US" sz="1500" dirty="0">
                <a:solidFill>
                  <a:srgbClr val="173342"/>
                </a:solidFill>
              </a:endParaRPr>
            </a:p>
          </p:txBody>
        </p:sp>
        <p:sp>
          <p:nvSpPr>
            <p:cNvPr id="23" name="Text 21"/>
            <p:cNvSpPr/>
            <p:nvPr/>
          </p:nvSpPr>
          <p:spPr>
            <a:xfrm>
              <a:off x="4590288" y="4910328"/>
              <a:ext cx="3026664" cy="448056"/>
            </a:xfrm>
            <a:prstGeom prst="rect">
              <a:avLst/>
            </a:prstGeom>
            <a:noFill/>
            <a:ln/>
          </p:spPr>
          <p:txBody>
            <a:bodyPr wrap="square" lIns="254" tIns="254" rIns="254" bIns="254" rtlCol="0" anchor="t">
              <a:normAutofit/>
            </a:bodyPr>
            <a:lstStyle/>
            <a:p>
              <a:pPr marL="0" indent="0">
                <a:buNone/>
              </a:pPr>
              <a:r>
                <a:rPr lang="en-US" sz="1050" dirty="0">
                  <a:solidFill>
                    <a:srgbClr val="526A76"/>
                  </a:solidFill>
                </a:rPr>
                <a:t>Può avere una tariffa propria. Nel ledger Sol sostituisce il normale costo input.</a:t>
              </a:r>
            </a:p>
          </p:txBody>
        </p:sp>
        <p:sp>
          <p:nvSpPr>
            <p:cNvPr id="24" name="Shape 22"/>
            <p:cNvSpPr/>
            <p:nvPr/>
          </p:nvSpPr>
          <p:spPr>
            <a:xfrm>
              <a:off x="8028432" y="4224528"/>
              <a:ext cx="3429000" cy="1298448"/>
            </a:xfrm>
            <a:prstGeom prst="roundRect">
              <a:avLst>
                <a:gd name="adj" fmla="val 5634"/>
              </a:avLst>
            </a:prstGeom>
            <a:solidFill>
              <a:srgbClr val="FFF1ED"/>
            </a:solidFill>
            <a:ln w="12700">
              <a:solidFill>
                <a:srgbClr val="A12A28"/>
              </a:solidFill>
              <a:prstDash val="solid"/>
            </a:ln>
          </p:spPr>
          <p:txBody>
            <a:bodyPr/>
            <a:lstStyle/>
            <a:p>
              <a:endParaRPr lang="it-IT"/>
            </a:p>
          </p:txBody>
        </p:sp>
        <p:sp>
          <p:nvSpPr>
            <p:cNvPr id="25" name="Text 23"/>
            <p:cNvSpPr/>
            <p:nvPr/>
          </p:nvSpPr>
          <p:spPr>
            <a:xfrm>
              <a:off x="8229600" y="4443984"/>
              <a:ext cx="3026664" cy="347472"/>
            </a:xfrm>
            <a:prstGeom prst="rect">
              <a:avLst/>
            </a:prstGeom>
            <a:noFill/>
            <a:ln/>
          </p:spPr>
          <p:txBody>
            <a:bodyPr wrap="square" lIns="0" tIns="0" rIns="0" bIns="0" rtlCol="0" anchor="ctr">
              <a:normAutofit/>
            </a:bodyPr>
            <a:lstStyle/>
            <a:p>
              <a:pPr marL="0" indent="0">
                <a:buNone/>
              </a:pPr>
              <a:r>
                <a:rPr lang="en-US" sz="1500" b="1" dirty="0">
                  <a:solidFill>
                    <a:srgbClr val="173342"/>
                  </a:solidFill>
                </a:rPr>
                <a:t>Reasoning</a:t>
              </a:r>
              <a:endParaRPr lang="en-US" sz="1500" dirty="0">
                <a:solidFill>
                  <a:srgbClr val="173342"/>
                </a:solidFill>
              </a:endParaRPr>
            </a:p>
          </p:txBody>
        </p:sp>
        <p:sp>
          <p:nvSpPr>
            <p:cNvPr id="26" name="Text 24"/>
            <p:cNvSpPr/>
            <p:nvPr/>
          </p:nvSpPr>
          <p:spPr>
            <a:xfrm>
              <a:off x="8229600" y="4910328"/>
              <a:ext cx="3026664" cy="448056"/>
            </a:xfrm>
            <a:prstGeom prst="rect">
              <a:avLst/>
            </a:prstGeom>
            <a:noFill/>
            <a:ln/>
          </p:spPr>
          <p:txBody>
            <a:bodyPr wrap="square" lIns="254" tIns="254" rIns="254" bIns="254" rtlCol="0" anchor="t">
              <a:normAutofit/>
            </a:bodyPr>
            <a:lstStyle/>
            <a:p>
              <a:pPr marL="0" indent="0">
                <a:buNone/>
              </a:pPr>
              <a:r>
                <a:rPr lang="en-US" sz="1050" dirty="0">
                  <a:solidFill>
                    <a:srgbClr val="526A76"/>
                  </a:solidFill>
                </a:rPr>
                <a:t>È un sottoinsieme dell’output: non sommarlo una seconda volta.</a:t>
              </a:r>
            </a:p>
          </p:txBody>
        </p:sp>
      </p:grpSp>
      <p:sp>
        <p:nvSpPr>
          <p:cNvPr id="27" name="Titolo 26">
            <a:extLst>
              <a:ext uri="{FF2B5EF4-FFF2-40B4-BE49-F238E27FC236}">
                <a16:creationId xmlns:a16="http://schemas.microsoft.com/office/drawing/2014/main" id="{BD68A9DB-4C48-F157-3FDA-C27ED64AF6B4}"/>
              </a:ext>
            </a:extLst>
          </p:cNvPr>
          <p:cNvSpPr>
            <a:spLocks noGrp="1"/>
          </p:cNvSpPr>
          <p:nvPr>
            <p:ph type="title"/>
          </p:nvPr>
        </p:nvSpPr>
        <p:spPr>
          <a:xfrm>
            <a:off x="1625600" y="317500"/>
            <a:ext cx="10160000" cy="660400"/>
          </a:xfrm>
        </p:spPr>
        <p:txBody>
          <a:bodyPr>
            <a:normAutofit/>
          </a:bodyPr>
          <a:lstStyle/>
          <a:p>
            <a:r>
              <a:rPr lang="it-IT" sz="2800">
                <a:solidFill>
                  <a:srgbClr val="303030"/>
                </a:solidFill>
                <a:latin typeface="Calibri" panose="020F0502020204030204" pitchFamily="34" charset="0"/>
              </a:rPr>
              <a:t>Input, cache e output non costano allo stesso modo</a:t>
            </a:r>
          </a:p>
        </p:txBody>
      </p:sp>
      <p:sp>
        <p:nvSpPr>
          <p:cNvPr id="30" name="CreatedText_30">
            <a:extLst>
              <a:ext uri="{FF2B5EF4-FFF2-40B4-BE49-F238E27FC236}">
                <a16:creationId xmlns:a16="http://schemas.microsoft.com/office/drawing/2014/main" id="{A3A6F5AD-16DC-3604-74DD-B72180DDC856}"/>
              </a:ext>
            </a:extLst>
          </p:cNvPr>
          <p:cNvSpPr txBox="1"/>
          <p:nvPr/>
        </p:nvSpPr>
        <p:spPr>
          <a:xfrm>
            <a:off x="571500" y="6540500"/>
            <a:ext cx="11201400" cy="190500"/>
          </a:xfrm>
          <a:prstGeom prst="rect">
            <a:avLst/>
          </a:prstGeom>
          <a:noFill/>
        </p:spPr>
        <p:txBody>
          <a:bodyPr vert="horz" wrap="square" lIns="0" tIns="0" rIns="0" bIns="0" rtlCol="0">
            <a:noAutofit/>
          </a:bodyPr>
          <a:lstStyle/>
          <a:p>
            <a:pPr>
              <a:spcAft>
                <a:spcPts val="600"/>
              </a:spcAft>
            </a:pPr>
            <a:r>
              <a:rPr lang="it-IT" sz="900">
                <a:solidFill>
                  <a:srgbClr val="4E5F6E"/>
                </a:solidFill>
                <a:latin typeface="Calibri" panose="020F0502020204030204" pitchFamily="34" charset="0"/>
              </a:rPr>
              <a:t>1nn0vAI · materiale originale · scenario distinto dalla demo Azure Day</a:t>
            </a:r>
          </a:p>
        </p:txBody>
      </p:sp>
    </p:spTree>
    <p:custDataLst>
      <p:tags r:id="rId1"/>
    </p:custDataLst>
    <p:extLst>
      <p:ext uri="{BB962C8B-B14F-4D97-AF65-F5344CB8AC3E}">
        <p14:creationId xmlns:p14="http://schemas.microsoft.com/office/powerpoint/2010/main" val="32457690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71500" y="1308100"/>
            <a:ext cx="11049000" cy="279400"/>
          </a:xfrm>
          <a:prstGeom prst="rect">
            <a:avLst/>
          </a:prstGeom>
          <a:noFill/>
          <a:ln/>
        </p:spPr>
        <p:txBody>
          <a:bodyPr wrap="square" lIns="0" tIns="0" rIns="0" bIns="0" rtlCol="0" anchor="ctr"/>
          <a:lstStyle/>
          <a:p>
            <a:pPr marL="0" indent="0">
              <a:buNone/>
            </a:pPr>
            <a:r>
              <a:rPr lang="en-US" sz="1000" b="1" kern="0" spc="220" dirty="0">
                <a:solidFill>
                  <a:srgbClr val="076B62"/>
                </a:solidFill>
              </a:rPr>
              <a:t>PROMPT CACHING</a:t>
            </a:r>
            <a:endParaRPr lang="en-US" sz="1000" dirty="0">
              <a:solidFill>
                <a:srgbClr val="076B62"/>
              </a:solidFill>
            </a:endParaRPr>
          </a:p>
        </p:txBody>
      </p:sp>
      <p:sp>
        <p:nvSpPr>
          <p:cNvPr id="4" name="Text 2"/>
          <p:cNvSpPr/>
          <p:nvPr/>
        </p:nvSpPr>
        <p:spPr>
          <a:xfrm>
            <a:off x="571500" y="1625600"/>
            <a:ext cx="11201400" cy="431800"/>
          </a:xfrm>
          <a:prstGeom prst="rect">
            <a:avLst/>
          </a:prstGeom>
          <a:noFill/>
          <a:ln/>
        </p:spPr>
        <p:txBody>
          <a:bodyPr wrap="square" lIns="0" tIns="0" rIns="0" bIns="0" rtlCol="0" anchor="ctr">
            <a:normAutofit/>
          </a:bodyPr>
          <a:lstStyle/>
          <a:p>
            <a:pPr marL="0" indent="0">
              <a:buNone/>
            </a:pPr>
            <a:r>
              <a:rPr lang="en-US" sz="1300" dirty="0">
                <a:solidFill>
                  <a:srgbClr val="526A76"/>
                </a:solidFill>
              </a:rPr>
              <a:t>Metti il contenuto stabile prima; sposta il dinamico dopo.</a:t>
            </a:r>
          </a:p>
        </p:txBody>
      </p:sp>
      <p:grpSp>
        <p:nvGrpSpPr>
          <p:cNvPr id="33" name="OriginalContent_18">
            <a:extLst>
              <a:ext uri="{FF2B5EF4-FFF2-40B4-BE49-F238E27FC236}">
                <a16:creationId xmlns:a16="http://schemas.microsoft.com/office/drawing/2014/main" id="{99B133E7-33BE-379F-CA3D-130AEB44C298}"/>
              </a:ext>
            </a:extLst>
          </p:cNvPr>
          <p:cNvGrpSpPr>
            <a:grpSpLocks noChangeAspect="1"/>
          </p:cNvGrpSpPr>
          <p:nvPr/>
        </p:nvGrpSpPr>
        <p:grpSpPr>
          <a:xfrm>
            <a:off x="553212" y="2120900"/>
            <a:ext cx="11237976" cy="3602736"/>
            <a:chOff x="594360" y="1755648"/>
            <a:chExt cx="11237976" cy="3602736"/>
          </a:xfrm>
        </p:grpSpPr>
        <p:sp>
          <p:nvSpPr>
            <p:cNvPr id="5" name="Shape 3"/>
            <p:cNvSpPr/>
            <p:nvPr/>
          </p:nvSpPr>
          <p:spPr>
            <a:xfrm>
              <a:off x="594360" y="1755648"/>
              <a:ext cx="10972800" cy="0"/>
            </a:xfrm>
            <a:prstGeom prst="line">
              <a:avLst/>
            </a:prstGeom>
            <a:noFill/>
            <a:ln w="12700">
              <a:solidFill>
                <a:srgbClr val="D6E0E4"/>
              </a:solidFill>
              <a:prstDash val="solid"/>
            </a:ln>
          </p:spPr>
          <p:txBody>
            <a:bodyPr/>
            <a:lstStyle/>
            <a:p>
              <a:endParaRPr lang="it-IT"/>
            </a:p>
          </p:txBody>
        </p:sp>
        <p:sp>
          <p:nvSpPr>
            <p:cNvPr id="6" name="Shape 4"/>
            <p:cNvSpPr/>
            <p:nvPr/>
          </p:nvSpPr>
          <p:spPr>
            <a:xfrm>
              <a:off x="1097280" y="2395728"/>
              <a:ext cx="2057400" cy="777240"/>
            </a:xfrm>
            <a:prstGeom prst="roundRect">
              <a:avLst>
                <a:gd name="adj" fmla="val 3529"/>
              </a:avLst>
            </a:prstGeom>
            <a:solidFill>
              <a:srgbClr val="076B62"/>
            </a:solidFill>
            <a:ln w="25400">
              <a:solidFill>
                <a:srgbClr val="FFFFFF"/>
              </a:solidFill>
              <a:prstDash val="solid"/>
            </a:ln>
          </p:spPr>
          <p:txBody>
            <a:bodyPr/>
            <a:lstStyle/>
            <a:p>
              <a:endParaRPr lang="it-IT"/>
            </a:p>
          </p:txBody>
        </p:sp>
        <p:sp>
          <p:nvSpPr>
            <p:cNvPr id="7" name="Text 5"/>
            <p:cNvSpPr/>
            <p:nvPr/>
          </p:nvSpPr>
          <p:spPr>
            <a:xfrm>
              <a:off x="1133856" y="2670048"/>
              <a:ext cx="1984248" cy="164592"/>
            </a:xfrm>
            <a:prstGeom prst="rect">
              <a:avLst/>
            </a:prstGeom>
            <a:noFill/>
            <a:ln/>
          </p:spPr>
          <p:txBody>
            <a:bodyPr wrap="square" lIns="0" tIns="0" rIns="0" bIns="0" rtlCol="0" anchor="ctr">
              <a:normAutofit/>
            </a:bodyPr>
            <a:lstStyle/>
            <a:p>
              <a:pPr marL="0" indent="0" algn="ctr">
                <a:buNone/>
              </a:pPr>
              <a:r>
                <a:rPr lang="en-US" sz="900" b="1" dirty="0">
                  <a:solidFill>
                    <a:srgbClr val="303030"/>
                  </a:solidFill>
                </a:rPr>
                <a:t>SYSTEM / POLICY</a:t>
              </a:r>
              <a:endParaRPr lang="en-US" sz="900" dirty="0">
                <a:solidFill>
                  <a:srgbClr val="303030"/>
                </a:solidFill>
              </a:endParaRPr>
            </a:p>
          </p:txBody>
        </p:sp>
        <p:sp>
          <p:nvSpPr>
            <p:cNvPr id="8" name="Shape 6"/>
            <p:cNvSpPr/>
            <p:nvPr/>
          </p:nvSpPr>
          <p:spPr>
            <a:xfrm>
              <a:off x="3154680" y="2395728"/>
              <a:ext cx="1097280" cy="777240"/>
            </a:xfrm>
            <a:prstGeom prst="roundRect">
              <a:avLst>
                <a:gd name="adj" fmla="val 3529"/>
              </a:avLst>
            </a:prstGeom>
            <a:solidFill>
              <a:srgbClr val="076B62"/>
            </a:solidFill>
            <a:ln w="25400">
              <a:solidFill>
                <a:srgbClr val="FFFFFF"/>
              </a:solidFill>
              <a:prstDash val="solid"/>
            </a:ln>
          </p:spPr>
          <p:txBody>
            <a:bodyPr/>
            <a:lstStyle/>
            <a:p>
              <a:endParaRPr lang="it-IT"/>
            </a:p>
          </p:txBody>
        </p:sp>
        <p:sp>
          <p:nvSpPr>
            <p:cNvPr id="9" name="Text 7"/>
            <p:cNvSpPr/>
            <p:nvPr/>
          </p:nvSpPr>
          <p:spPr>
            <a:xfrm>
              <a:off x="3191256" y="2670048"/>
              <a:ext cx="1024128" cy="164592"/>
            </a:xfrm>
            <a:prstGeom prst="rect">
              <a:avLst/>
            </a:prstGeom>
            <a:noFill/>
            <a:ln/>
          </p:spPr>
          <p:txBody>
            <a:bodyPr wrap="square" lIns="0" tIns="0" rIns="0" bIns="0" rtlCol="0" anchor="ctr">
              <a:normAutofit/>
            </a:bodyPr>
            <a:lstStyle/>
            <a:p>
              <a:pPr marL="0" indent="0" algn="ctr">
                <a:buNone/>
              </a:pPr>
              <a:r>
                <a:rPr lang="en-US" sz="900" b="1" dirty="0">
                  <a:solidFill>
                    <a:srgbClr val="303030"/>
                  </a:solidFill>
                </a:rPr>
                <a:t>TOOLS</a:t>
              </a:r>
              <a:endParaRPr lang="en-US" sz="900" dirty="0">
                <a:solidFill>
                  <a:srgbClr val="303030"/>
                </a:solidFill>
              </a:endParaRPr>
            </a:p>
          </p:txBody>
        </p:sp>
        <p:sp>
          <p:nvSpPr>
            <p:cNvPr id="10" name="Shape 8"/>
            <p:cNvSpPr/>
            <p:nvPr/>
          </p:nvSpPr>
          <p:spPr>
            <a:xfrm>
              <a:off x="4251960" y="2395728"/>
              <a:ext cx="1828800" cy="777240"/>
            </a:xfrm>
            <a:prstGeom prst="roundRect">
              <a:avLst>
                <a:gd name="adj" fmla="val 3529"/>
              </a:avLst>
            </a:prstGeom>
            <a:solidFill>
              <a:srgbClr val="076B62"/>
            </a:solidFill>
            <a:ln w="25400">
              <a:solidFill>
                <a:srgbClr val="FFFFFF"/>
              </a:solidFill>
              <a:prstDash val="solid"/>
            </a:ln>
          </p:spPr>
          <p:txBody>
            <a:bodyPr/>
            <a:lstStyle/>
            <a:p>
              <a:endParaRPr lang="it-IT"/>
            </a:p>
          </p:txBody>
        </p:sp>
        <p:sp>
          <p:nvSpPr>
            <p:cNvPr id="11" name="Text 9"/>
            <p:cNvSpPr/>
            <p:nvPr/>
          </p:nvSpPr>
          <p:spPr>
            <a:xfrm>
              <a:off x="4288536" y="2670048"/>
              <a:ext cx="1755648" cy="164592"/>
            </a:xfrm>
            <a:prstGeom prst="rect">
              <a:avLst/>
            </a:prstGeom>
            <a:noFill/>
            <a:ln/>
          </p:spPr>
          <p:txBody>
            <a:bodyPr wrap="square" lIns="0" tIns="0" rIns="0" bIns="0" rtlCol="0" anchor="ctr">
              <a:normAutofit/>
            </a:bodyPr>
            <a:lstStyle/>
            <a:p>
              <a:pPr marL="0" indent="0" algn="ctr">
                <a:buNone/>
              </a:pPr>
              <a:r>
                <a:rPr lang="en-US" sz="900" b="1" dirty="0">
                  <a:solidFill>
                    <a:srgbClr val="303030"/>
                  </a:solidFill>
                </a:rPr>
                <a:t>ESEMPI STABILI</a:t>
              </a:r>
              <a:endParaRPr lang="en-US" sz="900" dirty="0">
                <a:solidFill>
                  <a:srgbClr val="303030"/>
                </a:solidFill>
              </a:endParaRPr>
            </a:p>
          </p:txBody>
        </p:sp>
        <p:sp>
          <p:nvSpPr>
            <p:cNvPr id="12" name="Shape 10"/>
            <p:cNvSpPr/>
            <p:nvPr/>
          </p:nvSpPr>
          <p:spPr>
            <a:xfrm>
              <a:off x="6080760" y="2395728"/>
              <a:ext cx="2011680" cy="777240"/>
            </a:xfrm>
            <a:prstGeom prst="roundRect">
              <a:avLst>
                <a:gd name="adj" fmla="val 3529"/>
              </a:avLst>
            </a:prstGeom>
            <a:solidFill>
              <a:srgbClr val="2A6078"/>
            </a:solidFill>
            <a:ln w="25400">
              <a:solidFill>
                <a:srgbClr val="FFFFFF"/>
              </a:solidFill>
              <a:prstDash val="solid"/>
            </a:ln>
          </p:spPr>
          <p:txBody>
            <a:bodyPr/>
            <a:lstStyle/>
            <a:p>
              <a:endParaRPr lang="it-IT"/>
            </a:p>
          </p:txBody>
        </p:sp>
        <p:sp>
          <p:nvSpPr>
            <p:cNvPr id="13" name="Text 11"/>
            <p:cNvSpPr/>
            <p:nvPr/>
          </p:nvSpPr>
          <p:spPr>
            <a:xfrm>
              <a:off x="6117336" y="2670048"/>
              <a:ext cx="1938528" cy="164592"/>
            </a:xfrm>
            <a:prstGeom prst="rect">
              <a:avLst/>
            </a:prstGeom>
            <a:noFill/>
            <a:ln/>
          </p:spPr>
          <p:txBody>
            <a:bodyPr wrap="square" lIns="0" tIns="0" rIns="0" bIns="0" rtlCol="0" anchor="ctr">
              <a:normAutofit/>
            </a:bodyPr>
            <a:lstStyle/>
            <a:p>
              <a:pPr marL="0" indent="0" algn="ctr">
                <a:buNone/>
              </a:pPr>
              <a:r>
                <a:rPr lang="en-US" sz="900" b="1" dirty="0">
                  <a:solidFill>
                    <a:srgbClr val="303030"/>
                  </a:solidFill>
                </a:rPr>
                <a:t>HISTORY</a:t>
              </a:r>
              <a:endParaRPr lang="en-US" sz="900" dirty="0">
                <a:solidFill>
                  <a:srgbClr val="303030"/>
                </a:solidFill>
              </a:endParaRPr>
            </a:p>
          </p:txBody>
        </p:sp>
        <p:sp>
          <p:nvSpPr>
            <p:cNvPr id="14" name="Shape 12"/>
            <p:cNvSpPr/>
            <p:nvPr/>
          </p:nvSpPr>
          <p:spPr>
            <a:xfrm>
              <a:off x="8092440" y="2395728"/>
              <a:ext cx="1463040" cy="777240"/>
            </a:xfrm>
            <a:prstGeom prst="roundRect">
              <a:avLst>
                <a:gd name="adj" fmla="val 3529"/>
              </a:avLst>
            </a:prstGeom>
            <a:solidFill>
              <a:srgbClr val="BC6C07"/>
            </a:solidFill>
            <a:ln w="25400">
              <a:solidFill>
                <a:srgbClr val="FFFFFF"/>
              </a:solidFill>
              <a:prstDash val="solid"/>
            </a:ln>
          </p:spPr>
          <p:txBody>
            <a:bodyPr/>
            <a:lstStyle/>
            <a:p>
              <a:endParaRPr lang="it-IT"/>
            </a:p>
          </p:txBody>
        </p:sp>
        <p:sp>
          <p:nvSpPr>
            <p:cNvPr id="15" name="Text 13"/>
            <p:cNvSpPr/>
            <p:nvPr/>
          </p:nvSpPr>
          <p:spPr>
            <a:xfrm>
              <a:off x="8129016" y="2670048"/>
              <a:ext cx="1389888" cy="164592"/>
            </a:xfrm>
            <a:prstGeom prst="rect">
              <a:avLst/>
            </a:prstGeom>
            <a:noFill/>
            <a:ln/>
          </p:spPr>
          <p:txBody>
            <a:bodyPr wrap="square" lIns="0" tIns="0" rIns="0" bIns="0" rtlCol="0" anchor="ctr">
              <a:normAutofit/>
            </a:bodyPr>
            <a:lstStyle/>
            <a:p>
              <a:pPr marL="0" indent="0" algn="ctr">
                <a:buNone/>
              </a:pPr>
              <a:r>
                <a:rPr lang="en-US" sz="900" b="1" dirty="0">
                  <a:solidFill>
                    <a:srgbClr val="303030"/>
                  </a:solidFill>
                </a:rPr>
                <a:t>DOMANDA</a:t>
              </a:r>
              <a:endParaRPr lang="en-US" sz="900" dirty="0">
                <a:solidFill>
                  <a:srgbClr val="303030"/>
                </a:solidFill>
              </a:endParaRPr>
            </a:p>
          </p:txBody>
        </p:sp>
        <p:sp>
          <p:nvSpPr>
            <p:cNvPr id="16" name="Shape 14"/>
            <p:cNvSpPr/>
            <p:nvPr/>
          </p:nvSpPr>
          <p:spPr>
            <a:xfrm>
              <a:off x="1143000" y="3456432"/>
              <a:ext cx="4892040" cy="0"/>
            </a:xfrm>
            <a:prstGeom prst="line">
              <a:avLst/>
            </a:prstGeom>
            <a:noFill/>
            <a:ln w="38100">
              <a:solidFill>
                <a:srgbClr val="076B62"/>
              </a:solidFill>
              <a:prstDash val="solid"/>
              <a:headEnd type="none"/>
              <a:tailEnd type="triangle"/>
            </a:ln>
          </p:spPr>
          <p:txBody>
            <a:bodyPr/>
            <a:lstStyle/>
            <a:p>
              <a:endParaRPr lang="it-IT"/>
            </a:p>
          </p:txBody>
        </p:sp>
        <p:sp>
          <p:nvSpPr>
            <p:cNvPr id="17" name="Text 15"/>
            <p:cNvSpPr/>
            <p:nvPr/>
          </p:nvSpPr>
          <p:spPr>
            <a:xfrm>
              <a:off x="2468880" y="3639312"/>
              <a:ext cx="2286000" cy="201168"/>
            </a:xfrm>
            <a:prstGeom prst="rect">
              <a:avLst/>
            </a:prstGeom>
            <a:noFill/>
            <a:ln/>
          </p:spPr>
          <p:txBody>
            <a:bodyPr wrap="square" lIns="0" tIns="0" rIns="0" bIns="0" rtlCol="0" anchor="ctr"/>
            <a:lstStyle/>
            <a:p>
              <a:pPr marL="0" indent="0" algn="ctr">
                <a:buNone/>
              </a:pPr>
              <a:r>
                <a:rPr lang="en-US" sz="1000" b="1" kern="0" spc="100" dirty="0">
                  <a:solidFill>
                    <a:srgbClr val="076B62"/>
                  </a:solidFill>
                </a:rPr>
                <a:t>PREFISSO RIUSABILE</a:t>
              </a:r>
              <a:endParaRPr lang="en-US" sz="1000" dirty="0">
                <a:solidFill>
                  <a:srgbClr val="076B62"/>
                </a:solidFill>
              </a:endParaRPr>
            </a:p>
          </p:txBody>
        </p:sp>
        <p:sp>
          <p:nvSpPr>
            <p:cNvPr id="18" name="Shape 16"/>
            <p:cNvSpPr/>
            <p:nvPr/>
          </p:nvSpPr>
          <p:spPr>
            <a:xfrm>
              <a:off x="685800" y="4279392"/>
              <a:ext cx="2560320" cy="1078992"/>
            </a:xfrm>
            <a:prstGeom prst="roundRect">
              <a:avLst>
                <a:gd name="adj" fmla="val 6780"/>
              </a:avLst>
            </a:prstGeom>
            <a:solidFill>
              <a:srgbClr val="FFFFFF"/>
            </a:solidFill>
            <a:ln w="12700">
              <a:solidFill>
                <a:srgbClr val="D6E0E4"/>
              </a:solidFill>
              <a:prstDash val="solid"/>
            </a:ln>
          </p:spPr>
          <p:txBody>
            <a:bodyPr/>
            <a:lstStyle/>
            <a:p>
              <a:endParaRPr lang="it-IT"/>
            </a:p>
          </p:txBody>
        </p:sp>
        <p:sp>
          <p:nvSpPr>
            <p:cNvPr id="19" name="Text 17"/>
            <p:cNvSpPr/>
            <p:nvPr/>
          </p:nvSpPr>
          <p:spPr>
            <a:xfrm>
              <a:off x="886968" y="4498848"/>
              <a:ext cx="2157984" cy="347472"/>
            </a:xfrm>
            <a:prstGeom prst="rect">
              <a:avLst/>
            </a:prstGeom>
            <a:noFill/>
            <a:ln/>
          </p:spPr>
          <p:txBody>
            <a:bodyPr wrap="square" lIns="0" tIns="0" rIns="0" bIns="0" rtlCol="0" anchor="ctr">
              <a:normAutofit/>
            </a:bodyPr>
            <a:lstStyle/>
            <a:p>
              <a:pPr marL="0" indent="0">
                <a:buNone/>
              </a:pPr>
              <a:r>
                <a:rPr lang="en-US" sz="1350" b="1" dirty="0">
                  <a:solidFill>
                    <a:srgbClr val="173342"/>
                  </a:solidFill>
                </a:rPr>
                <a:t>Stabile</a:t>
              </a:r>
              <a:endParaRPr lang="en-US" sz="1350" dirty="0">
                <a:solidFill>
                  <a:srgbClr val="173342"/>
                </a:solidFill>
              </a:endParaRPr>
            </a:p>
          </p:txBody>
        </p:sp>
        <p:sp>
          <p:nvSpPr>
            <p:cNvPr id="20" name="Text 18"/>
            <p:cNvSpPr/>
            <p:nvPr/>
          </p:nvSpPr>
          <p:spPr>
            <a:xfrm>
              <a:off x="886968" y="4965192"/>
              <a:ext cx="2157984" cy="228600"/>
            </a:xfrm>
            <a:prstGeom prst="rect">
              <a:avLst/>
            </a:prstGeom>
            <a:noFill/>
            <a:ln/>
          </p:spPr>
          <p:txBody>
            <a:bodyPr wrap="square" lIns="254" tIns="254" rIns="254" bIns="254" rtlCol="0" anchor="t">
              <a:normAutofit/>
            </a:bodyPr>
            <a:lstStyle/>
            <a:p>
              <a:pPr marL="0" indent="0">
                <a:buNone/>
              </a:pPr>
              <a:r>
                <a:rPr lang="en-US" sz="1000" dirty="0">
                  <a:solidFill>
                    <a:srgbClr val="526A76"/>
                  </a:solidFill>
                </a:rPr>
                <a:t>system, policy e tool schema</a:t>
              </a:r>
            </a:p>
          </p:txBody>
        </p:sp>
        <p:sp>
          <p:nvSpPr>
            <p:cNvPr id="21" name="Shape 19"/>
            <p:cNvSpPr/>
            <p:nvPr/>
          </p:nvSpPr>
          <p:spPr>
            <a:xfrm>
              <a:off x="3547872" y="4279392"/>
              <a:ext cx="2560320" cy="1078992"/>
            </a:xfrm>
            <a:prstGeom prst="roundRect">
              <a:avLst>
                <a:gd name="adj" fmla="val 6780"/>
              </a:avLst>
            </a:prstGeom>
            <a:solidFill>
              <a:srgbClr val="FFFFFF"/>
            </a:solidFill>
            <a:ln w="12700">
              <a:solidFill>
                <a:srgbClr val="D6E0E4"/>
              </a:solidFill>
              <a:prstDash val="solid"/>
            </a:ln>
          </p:spPr>
          <p:txBody>
            <a:bodyPr/>
            <a:lstStyle/>
            <a:p>
              <a:endParaRPr lang="it-IT"/>
            </a:p>
          </p:txBody>
        </p:sp>
        <p:sp>
          <p:nvSpPr>
            <p:cNvPr id="22" name="Text 20"/>
            <p:cNvSpPr/>
            <p:nvPr/>
          </p:nvSpPr>
          <p:spPr>
            <a:xfrm>
              <a:off x="3749040" y="4498848"/>
              <a:ext cx="2157984" cy="347472"/>
            </a:xfrm>
            <a:prstGeom prst="rect">
              <a:avLst/>
            </a:prstGeom>
            <a:noFill/>
            <a:ln/>
          </p:spPr>
          <p:txBody>
            <a:bodyPr wrap="square" lIns="0" tIns="0" rIns="0" bIns="0" rtlCol="0" anchor="ctr">
              <a:normAutofit/>
            </a:bodyPr>
            <a:lstStyle/>
            <a:p>
              <a:pPr marL="0" indent="0">
                <a:buNone/>
              </a:pPr>
              <a:r>
                <a:rPr lang="en-US" sz="1350" b="1" dirty="0">
                  <a:solidFill>
                    <a:srgbClr val="173342"/>
                  </a:solidFill>
                </a:rPr>
                <a:t>Identico</a:t>
              </a:r>
              <a:endParaRPr lang="en-US" sz="1350" dirty="0">
                <a:solidFill>
                  <a:srgbClr val="173342"/>
                </a:solidFill>
              </a:endParaRPr>
            </a:p>
          </p:txBody>
        </p:sp>
        <p:sp>
          <p:nvSpPr>
            <p:cNvPr id="23" name="Text 21"/>
            <p:cNvSpPr/>
            <p:nvPr/>
          </p:nvSpPr>
          <p:spPr>
            <a:xfrm>
              <a:off x="3749040" y="4965192"/>
              <a:ext cx="2157984" cy="228600"/>
            </a:xfrm>
            <a:prstGeom prst="rect">
              <a:avLst/>
            </a:prstGeom>
            <a:noFill/>
            <a:ln/>
          </p:spPr>
          <p:txBody>
            <a:bodyPr wrap="square" lIns="254" tIns="254" rIns="254" bIns="254" rtlCol="0" anchor="t">
              <a:normAutofit/>
            </a:bodyPr>
            <a:lstStyle/>
            <a:p>
              <a:pPr marL="0" indent="0">
                <a:buNone/>
              </a:pPr>
              <a:r>
                <a:rPr lang="en-US" sz="1000" dirty="0">
                  <a:solidFill>
                    <a:srgbClr val="526A76"/>
                  </a:solidFill>
                </a:rPr>
                <a:t>non cambiare spazi/versioni inutilmente</a:t>
              </a:r>
            </a:p>
          </p:txBody>
        </p:sp>
        <p:sp>
          <p:nvSpPr>
            <p:cNvPr id="24" name="Shape 22"/>
            <p:cNvSpPr/>
            <p:nvPr/>
          </p:nvSpPr>
          <p:spPr>
            <a:xfrm>
              <a:off x="6409944" y="4279392"/>
              <a:ext cx="2560320" cy="1078992"/>
            </a:xfrm>
            <a:prstGeom prst="roundRect">
              <a:avLst>
                <a:gd name="adj" fmla="val 6780"/>
              </a:avLst>
            </a:prstGeom>
            <a:solidFill>
              <a:srgbClr val="FFFFFF"/>
            </a:solidFill>
            <a:ln w="12700">
              <a:solidFill>
                <a:srgbClr val="D6E0E4"/>
              </a:solidFill>
              <a:prstDash val="solid"/>
            </a:ln>
          </p:spPr>
          <p:txBody>
            <a:bodyPr/>
            <a:lstStyle/>
            <a:p>
              <a:endParaRPr lang="it-IT"/>
            </a:p>
          </p:txBody>
        </p:sp>
        <p:sp>
          <p:nvSpPr>
            <p:cNvPr id="25" name="Text 23"/>
            <p:cNvSpPr/>
            <p:nvPr/>
          </p:nvSpPr>
          <p:spPr>
            <a:xfrm>
              <a:off x="6611112" y="4498848"/>
              <a:ext cx="2157984" cy="347472"/>
            </a:xfrm>
            <a:prstGeom prst="rect">
              <a:avLst/>
            </a:prstGeom>
            <a:noFill/>
            <a:ln/>
          </p:spPr>
          <p:txBody>
            <a:bodyPr wrap="square" lIns="0" tIns="0" rIns="0" bIns="0" rtlCol="0" anchor="ctr">
              <a:normAutofit/>
            </a:bodyPr>
            <a:lstStyle/>
            <a:p>
              <a:pPr marL="0" indent="0">
                <a:buNone/>
              </a:pPr>
              <a:r>
                <a:rPr lang="en-US" sz="1350" b="1" dirty="0">
                  <a:solidFill>
                    <a:srgbClr val="173342"/>
                  </a:solidFill>
                </a:rPr>
                <a:t>Lungo abbastanza</a:t>
              </a:r>
              <a:endParaRPr lang="en-US" sz="1350" dirty="0">
                <a:solidFill>
                  <a:srgbClr val="173342"/>
                </a:solidFill>
              </a:endParaRPr>
            </a:p>
          </p:txBody>
        </p:sp>
        <p:sp>
          <p:nvSpPr>
            <p:cNvPr id="26" name="Text 24"/>
            <p:cNvSpPr/>
            <p:nvPr/>
          </p:nvSpPr>
          <p:spPr>
            <a:xfrm>
              <a:off x="6611112" y="4965192"/>
              <a:ext cx="2157984" cy="228600"/>
            </a:xfrm>
            <a:prstGeom prst="rect">
              <a:avLst/>
            </a:prstGeom>
            <a:noFill/>
            <a:ln/>
          </p:spPr>
          <p:txBody>
            <a:bodyPr wrap="square" lIns="254" tIns="254" rIns="254" bIns="254" rtlCol="0" anchor="t">
              <a:normAutofit fontScale="92500"/>
            </a:bodyPr>
            <a:lstStyle/>
            <a:p>
              <a:pPr marL="0" indent="0">
                <a:buNone/>
              </a:pPr>
              <a:r>
                <a:rPr lang="en-US" sz="1000" dirty="0">
                  <a:solidFill>
                    <a:srgbClr val="526A76"/>
                  </a:solidFill>
                </a:rPr>
                <a:t>verificare soglie e comportamento provider</a:t>
              </a:r>
            </a:p>
          </p:txBody>
        </p:sp>
        <p:sp>
          <p:nvSpPr>
            <p:cNvPr id="27" name="Shape 25"/>
            <p:cNvSpPr/>
            <p:nvPr/>
          </p:nvSpPr>
          <p:spPr>
            <a:xfrm>
              <a:off x="9272016" y="4279392"/>
              <a:ext cx="2560320" cy="1078992"/>
            </a:xfrm>
            <a:prstGeom prst="roundRect">
              <a:avLst>
                <a:gd name="adj" fmla="val 6780"/>
              </a:avLst>
            </a:prstGeom>
            <a:solidFill>
              <a:srgbClr val="FFFFFF"/>
            </a:solidFill>
            <a:ln w="12700">
              <a:solidFill>
                <a:srgbClr val="D6E0E4"/>
              </a:solidFill>
              <a:prstDash val="solid"/>
            </a:ln>
          </p:spPr>
          <p:txBody>
            <a:bodyPr/>
            <a:lstStyle/>
            <a:p>
              <a:endParaRPr lang="it-IT"/>
            </a:p>
          </p:txBody>
        </p:sp>
        <p:sp>
          <p:nvSpPr>
            <p:cNvPr id="28" name="Text 26"/>
            <p:cNvSpPr/>
            <p:nvPr/>
          </p:nvSpPr>
          <p:spPr>
            <a:xfrm>
              <a:off x="9473184" y="4498848"/>
              <a:ext cx="2157984" cy="347472"/>
            </a:xfrm>
            <a:prstGeom prst="rect">
              <a:avLst/>
            </a:prstGeom>
            <a:noFill/>
            <a:ln/>
          </p:spPr>
          <p:txBody>
            <a:bodyPr wrap="square" lIns="0" tIns="0" rIns="0" bIns="0" rtlCol="0" anchor="ctr">
              <a:normAutofit/>
            </a:bodyPr>
            <a:lstStyle/>
            <a:p>
              <a:pPr marL="0" indent="0">
                <a:buNone/>
              </a:pPr>
              <a:r>
                <a:rPr lang="en-US" sz="1350" b="1" dirty="0">
                  <a:solidFill>
                    <a:srgbClr val="173342"/>
                  </a:solidFill>
                </a:rPr>
                <a:t>Misurato</a:t>
              </a:r>
              <a:endParaRPr lang="en-US" sz="1350" dirty="0">
                <a:solidFill>
                  <a:srgbClr val="173342"/>
                </a:solidFill>
              </a:endParaRPr>
            </a:p>
          </p:txBody>
        </p:sp>
        <p:sp>
          <p:nvSpPr>
            <p:cNvPr id="29" name="Text 27"/>
            <p:cNvSpPr/>
            <p:nvPr/>
          </p:nvSpPr>
          <p:spPr>
            <a:xfrm>
              <a:off x="9473184" y="4965192"/>
              <a:ext cx="2157984" cy="228600"/>
            </a:xfrm>
            <a:prstGeom prst="rect">
              <a:avLst/>
            </a:prstGeom>
            <a:noFill/>
            <a:ln/>
          </p:spPr>
          <p:txBody>
            <a:bodyPr wrap="square" lIns="254" tIns="254" rIns="254" bIns="254" rtlCol="0" anchor="t">
              <a:normAutofit/>
            </a:bodyPr>
            <a:lstStyle/>
            <a:p>
              <a:pPr marL="0" indent="0">
                <a:buNone/>
              </a:pPr>
              <a:r>
                <a:rPr lang="en-US" sz="1000" dirty="0">
                  <a:solidFill>
                    <a:srgbClr val="526A76"/>
                  </a:solidFill>
                </a:rPr>
                <a:t>cache hit rate, costo e latenza</a:t>
              </a:r>
            </a:p>
          </p:txBody>
        </p:sp>
        <p:sp>
          <p:nvSpPr>
            <p:cNvPr id="30" name="Text 28"/>
            <p:cNvSpPr/>
            <p:nvPr/>
          </p:nvSpPr>
          <p:spPr>
            <a:xfrm>
              <a:off x="7772400" y="3474720"/>
              <a:ext cx="3017520" cy="320040"/>
            </a:xfrm>
            <a:prstGeom prst="rect">
              <a:avLst/>
            </a:prstGeom>
            <a:noFill/>
            <a:ln/>
          </p:spPr>
          <p:txBody>
            <a:bodyPr wrap="square" lIns="0" tIns="0" rIns="0" bIns="0" rtlCol="0" anchor="ctr"/>
            <a:lstStyle/>
            <a:p>
              <a:pPr marL="0" indent="0" algn="ctr">
                <a:buNone/>
              </a:pPr>
              <a:r>
                <a:rPr lang="en-US" sz="1600" b="1" dirty="0">
                  <a:solidFill>
                    <a:srgbClr val="173342"/>
                  </a:solidFill>
                </a:rPr>
                <a:t>Cache miss ≠ bug. È un segnale da spiegare.</a:t>
              </a:r>
              <a:endParaRPr lang="en-US" sz="1600" dirty="0">
                <a:solidFill>
                  <a:srgbClr val="173342"/>
                </a:solidFill>
              </a:endParaRPr>
            </a:p>
          </p:txBody>
        </p:sp>
      </p:grpSp>
      <p:sp>
        <p:nvSpPr>
          <p:cNvPr id="31" name="Titolo 30">
            <a:extLst>
              <a:ext uri="{FF2B5EF4-FFF2-40B4-BE49-F238E27FC236}">
                <a16:creationId xmlns:a16="http://schemas.microsoft.com/office/drawing/2014/main" id="{53DA6D38-EC8E-9999-7648-A33DF27910AF}"/>
              </a:ext>
            </a:extLst>
          </p:cNvPr>
          <p:cNvSpPr>
            <a:spLocks noGrp="1"/>
          </p:cNvSpPr>
          <p:nvPr>
            <p:ph type="title"/>
          </p:nvPr>
        </p:nvSpPr>
        <p:spPr>
          <a:xfrm>
            <a:off x="1625600" y="317500"/>
            <a:ext cx="10160000" cy="660400"/>
          </a:xfrm>
        </p:spPr>
        <p:txBody>
          <a:bodyPr>
            <a:normAutofit/>
          </a:bodyPr>
          <a:lstStyle/>
          <a:p>
            <a:r>
              <a:rPr lang="it-IT" sz="2800">
                <a:solidFill>
                  <a:srgbClr val="303030"/>
                </a:solidFill>
                <a:latin typeface="Calibri" panose="020F0502020204030204" pitchFamily="34" charset="0"/>
              </a:rPr>
              <a:t>La cache premia la stabilità del prefisso</a:t>
            </a:r>
          </a:p>
        </p:txBody>
      </p:sp>
      <p:sp>
        <p:nvSpPr>
          <p:cNvPr id="34" name="CreatedText_34">
            <a:extLst>
              <a:ext uri="{FF2B5EF4-FFF2-40B4-BE49-F238E27FC236}">
                <a16:creationId xmlns:a16="http://schemas.microsoft.com/office/drawing/2014/main" id="{674E9765-8E60-7F91-2E8C-5001C937832E}"/>
              </a:ext>
            </a:extLst>
          </p:cNvPr>
          <p:cNvSpPr txBox="1"/>
          <p:nvPr/>
        </p:nvSpPr>
        <p:spPr>
          <a:xfrm>
            <a:off x="571500" y="6540500"/>
            <a:ext cx="11201400" cy="190500"/>
          </a:xfrm>
          <a:prstGeom prst="rect">
            <a:avLst/>
          </a:prstGeom>
          <a:noFill/>
        </p:spPr>
        <p:txBody>
          <a:bodyPr vert="horz" wrap="square" lIns="0" tIns="0" rIns="0" bIns="0" rtlCol="0">
            <a:noAutofit/>
          </a:bodyPr>
          <a:lstStyle/>
          <a:p>
            <a:pPr>
              <a:spcAft>
                <a:spcPts val="600"/>
              </a:spcAft>
            </a:pPr>
            <a:r>
              <a:rPr lang="it-IT" sz="900">
                <a:solidFill>
                  <a:srgbClr val="4E5F6E"/>
                </a:solidFill>
                <a:latin typeface="Calibri" panose="020F0502020204030204" pitchFamily="34" charset="0"/>
              </a:rPr>
              <a:t>1nn0vAI · materiale originale · scenario distinto dalla demo Azure Day</a:t>
            </a:r>
          </a:p>
        </p:txBody>
      </p:sp>
    </p:spTree>
    <p:custDataLst>
      <p:tags r:id="rId1"/>
    </p:custDataLst>
    <p:extLst>
      <p:ext uri="{BB962C8B-B14F-4D97-AF65-F5344CB8AC3E}">
        <p14:creationId xmlns:p14="http://schemas.microsoft.com/office/powerpoint/2010/main" val="29510861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71500" y="1308100"/>
            <a:ext cx="11049000" cy="279400"/>
          </a:xfrm>
          <a:prstGeom prst="rect">
            <a:avLst/>
          </a:prstGeom>
          <a:noFill/>
          <a:ln/>
        </p:spPr>
        <p:txBody>
          <a:bodyPr wrap="square" lIns="0" tIns="0" rIns="0" bIns="0" rtlCol="0" anchor="ctr"/>
          <a:lstStyle/>
          <a:p>
            <a:pPr marL="0" indent="0">
              <a:buNone/>
            </a:pPr>
            <a:r>
              <a:rPr lang="en-US" sz="1000" b="1" kern="0" spc="220" dirty="0">
                <a:solidFill>
                  <a:srgbClr val="076B62"/>
                </a:solidFill>
              </a:rPr>
              <a:t>LATENZA</a:t>
            </a:r>
            <a:endParaRPr lang="en-US" sz="1000" dirty="0">
              <a:solidFill>
                <a:srgbClr val="076B62"/>
              </a:solidFill>
            </a:endParaRPr>
          </a:p>
        </p:txBody>
      </p:sp>
      <p:sp>
        <p:nvSpPr>
          <p:cNvPr id="4" name="Text 2"/>
          <p:cNvSpPr/>
          <p:nvPr/>
        </p:nvSpPr>
        <p:spPr>
          <a:xfrm>
            <a:off x="571500" y="1625600"/>
            <a:ext cx="11201400" cy="431800"/>
          </a:xfrm>
          <a:prstGeom prst="rect">
            <a:avLst/>
          </a:prstGeom>
          <a:noFill/>
          <a:ln/>
        </p:spPr>
        <p:txBody>
          <a:bodyPr wrap="square" lIns="0" tIns="0" rIns="0" bIns="0" rtlCol="0" anchor="ctr">
            <a:normAutofit/>
          </a:bodyPr>
          <a:lstStyle/>
          <a:p>
            <a:pPr marL="0" indent="0">
              <a:buNone/>
            </a:pPr>
            <a:r>
              <a:rPr lang="en-US" sz="1300" dirty="0">
                <a:solidFill>
                  <a:srgbClr val="526A76"/>
                </a:solidFill>
              </a:rPr>
              <a:t>La durata end-to-end è composta da più segmenti.</a:t>
            </a:r>
          </a:p>
        </p:txBody>
      </p:sp>
      <p:grpSp>
        <p:nvGrpSpPr>
          <p:cNvPr id="29" name="OriginalContent_19">
            <a:extLst>
              <a:ext uri="{FF2B5EF4-FFF2-40B4-BE49-F238E27FC236}">
                <a16:creationId xmlns:a16="http://schemas.microsoft.com/office/drawing/2014/main" id="{D1DF580F-3E90-4A8C-A8A3-66DAE665B64C}"/>
              </a:ext>
            </a:extLst>
          </p:cNvPr>
          <p:cNvGrpSpPr>
            <a:grpSpLocks noChangeAspect="1"/>
          </p:cNvGrpSpPr>
          <p:nvPr/>
        </p:nvGrpSpPr>
        <p:grpSpPr>
          <a:xfrm>
            <a:off x="544068" y="2120900"/>
            <a:ext cx="11256264" cy="4187952"/>
            <a:chOff x="594360" y="1755648"/>
            <a:chExt cx="11256264" cy="4187952"/>
          </a:xfrm>
        </p:grpSpPr>
        <p:sp>
          <p:nvSpPr>
            <p:cNvPr id="5" name="Shape 3"/>
            <p:cNvSpPr/>
            <p:nvPr/>
          </p:nvSpPr>
          <p:spPr>
            <a:xfrm>
              <a:off x="594360" y="1755648"/>
              <a:ext cx="10972800" cy="0"/>
            </a:xfrm>
            <a:prstGeom prst="line">
              <a:avLst/>
            </a:prstGeom>
            <a:noFill/>
            <a:ln w="12700">
              <a:solidFill>
                <a:srgbClr val="D6E0E4"/>
              </a:solidFill>
              <a:prstDash val="solid"/>
            </a:ln>
          </p:spPr>
          <p:txBody>
            <a:bodyPr/>
            <a:lstStyle/>
            <a:p>
              <a:endParaRPr lang="it-IT"/>
            </a:p>
          </p:txBody>
        </p:sp>
        <p:sp>
          <p:nvSpPr>
            <p:cNvPr id="6" name="Shape 4"/>
            <p:cNvSpPr/>
            <p:nvPr/>
          </p:nvSpPr>
          <p:spPr>
            <a:xfrm>
              <a:off x="1143000" y="2240280"/>
              <a:ext cx="822960" cy="658368"/>
            </a:xfrm>
            <a:prstGeom prst="rect">
              <a:avLst/>
            </a:prstGeom>
            <a:solidFill>
              <a:srgbClr val="526A76"/>
            </a:solidFill>
            <a:ln w="19050">
              <a:solidFill>
                <a:srgbClr val="FFFFFF"/>
              </a:solidFill>
              <a:prstDash val="solid"/>
            </a:ln>
          </p:spPr>
          <p:txBody>
            <a:bodyPr/>
            <a:lstStyle/>
            <a:p>
              <a:endParaRPr lang="it-IT"/>
            </a:p>
          </p:txBody>
        </p:sp>
        <p:sp>
          <p:nvSpPr>
            <p:cNvPr id="7" name="Text 5"/>
            <p:cNvSpPr/>
            <p:nvPr/>
          </p:nvSpPr>
          <p:spPr>
            <a:xfrm>
              <a:off x="1143000" y="2478024"/>
              <a:ext cx="822960" cy="146304"/>
            </a:xfrm>
            <a:prstGeom prst="rect">
              <a:avLst/>
            </a:prstGeom>
            <a:noFill/>
            <a:ln/>
          </p:spPr>
          <p:txBody>
            <a:bodyPr wrap="square" lIns="0" tIns="0" rIns="0" bIns="0" rtlCol="0" anchor="ctr">
              <a:normAutofit/>
            </a:bodyPr>
            <a:lstStyle/>
            <a:p>
              <a:pPr marL="0" indent="0" algn="ctr">
                <a:buNone/>
              </a:pPr>
              <a:r>
                <a:rPr lang="en-US" sz="900" b="1" dirty="0">
                  <a:solidFill>
                    <a:srgbClr val="303030"/>
                  </a:solidFill>
                </a:rPr>
                <a:t>QUEUE</a:t>
              </a:r>
              <a:endParaRPr lang="en-US" sz="900" dirty="0">
                <a:solidFill>
                  <a:srgbClr val="303030"/>
                </a:solidFill>
              </a:endParaRPr>
            </a:p>
          </p:txBody>
        </p:sp>
        <p:sp>
          <p:nvSpPr>
            <p:cNvPr id="8" name="Shape 6"/>
            <p:cNvSpPr/>
            <p:nvPr/>
          </p:nvSpPr>
          <p:spPr>
            <a:xfrm>
              <a:off x="1965960" y="2240280"/>
              <a:ext cx="2103120" cy="658368"/>
            </a:xfrm>
            <a:prstGeom prst="rect">
              <a:avLst/>
            </a:prstGeom>
            <a:solidFill>
              <a:srgbClr val="2A6078"/>
            </a:solidFill>
            <a:ln w="19050">
              <a:solidFill>
                <a:srgbClr val="FFFFFF"/>
              </a:solidFill>
              <a:prstDash val="solid"/>
            </a:ln>
          </p:spPr>
          <p:txBody>
            <a:bodyPr/>
            <a:lstStyle/>
            <a:p>
              <a:endParaRPr lang="it-IT"/>
            </a:p>
          </p:txBody>
        </p:sp>
        <p:sp>
          <p:nvSpPr>
            <p:cNvPr id="9" name="Text 7"/>
            <p:cNvSpPr/>
            <p:nvPr/>
          </p:nvSpPr>
          <p:spPr>
            <a:xfrm>
              <a:off x="1965960" y="2478024"/>
              <a:ext cx="2103120" cy="146304"/>
            </a:xfrm>
            <a:prstGeom prst="rect">
              <a:avLst/>
            </a:prstGeom>
            <a:noFill/>
            <a:ln/>
          </p:spPr>
          <p:txBody>
            <a:bodyPr wrap="square" lIns="0" tIns="0" rIns="0" bIns="0" rtlCol="0" anchor="ctr">
              <a:normAutofit/>
            </a:bodyPr>
            <a:lstStyle/>
            <a:p>
              <a:pPr marL="0" indent="0" algn="ctr">
                <a:buNone/>
              </a:pPr>
              <a:r>
                <a:rPr lang="en-US" sz="900" b="1" dirty="0">
                  <a:solidFill>
                    <a:srgbClr val="303030"/>
                  </a:solidFill>
                </a:rPr>
                <a:t>INPUT</a:t>
              </a:r>
              <a:endParaRPr lang="en-US" sz="900" dirty="0">
                <a:solidFill>
                  <a:srgbClr val="303030"/>
                </a:solidFill>
              </a:endParaRPr>
            </a:p>
          </p:txBody>
        </p:sp>
        <p:sp>
          <p:nvSpPr>
            <p:cNvPr id="10" name="Shape 8"/>
            <p:cNvSpPr/>
            <p:nvPr/>
          </p:nvSpPr>
          <p:spPr>
            <a:xfrm>
              <a:off x="4069080" y="2240280"/>
              <a:ext cx="1737360" cy="658368"/>
            </a:xfrm>
            <a:prstGeom prst="rect">
              <a:avLst/>
            </a:prstGeom>
            <a:solidFill>
              <a:srgbClr val="BC6C07"/>
            </a:solidFill>
            <a:ln w="19050">
              <a:solidFill>
                <a:srgbClr val="FFFFFF"/>
              </a:solidFill>
              <a:prstDash val="solid"/>
            </a:ln>
          </p:spPr>
          <p:txBody>
            <a:bodyPr/>
            <a:lstStyle/>
            <a:p>
              <a:endParaRPr lang="it-IT"/>
            </a:p>
          </p:txBody>
        </p:sp>
        <p:sp>
          <p:nvSpPr>
            <p:cNvPr id="11" name="Text 9"/>
            <p:cNvSpPr/>
            <p:nvPr/>
          </p:nvSpPr>
          <p:spPr>
            <a:xfrm>
              <a:off x="4069080" y="2478024"/>
              <a:ext cx="1737360" cy="146304"/>
            </a:xfrm>
            <a:prstGeom prst="rect">
              <a:avLst/>
            </a:prstGeom>
            <a:noFill/>
            <a:ln/>
          </p:spPr>
          <p:txBody>
            <a:bodyPr wrap="square" lIns="0" tIns="0" rIns="0" bIns="0" rtlCol="0" anchor="ctr">
              <a:normAutofit/>
            </a:bodyPr>
            <a:lstStyle/>
            <a:p>
              <a:pPr marL="0" indent="0" algn="ctr">
                <a:buNone/>
              </a:pPr>
              <a:r>
                <a:rPr lang="en-US" sz="900" b="1" dirty="0">
                  <a:solidFill>
                    <a:srgbClr val="303030"/>
                  </a:solidFill>
                </a:rPr>
                <a:t>REASONING</a:t>
              </a:r>
              <a:endParaRPr lang="en-US" sz="900" dirty="0">
                <a:solidFill>
                  <a:srgbClr val="303030"/>
                </a:solidFill>
              </a:endParaRPr>
            </a:p>
          </p:txBody>
        </p:sp>
        <p:sp>
          <p:nvSpPr>
            <p:cNvPr id="12" name="Shape 10"/>
            <p:cNvSpPr/>
            <p:nvPr/>
          </p:nvSpPr>
          <p:spPr>
            <a:xfrm>
              <a:off x="5806440" y="2240280"/>
              <a:ext cx="2377440" cy="658368"/>
            </a:xfrm>
            <a:prstGeom prst="rect">
              <a:avLst/>
            </a:prstGeom>
            <a:solidFill>
              <a:srgbClr val="076B62"/>
            </a:solidFill>
            <a:ln w="19050">
              <a:solidFill>
                <a:srgbClr val="FFFFFF"/>
              </a:solidFill>
              <a:prstDash val="solid"/>
            </a:ln>
          </p:spPr>
          <p:txBody>
            <a:bodyPr/>
            <a:lstStyle/>
            <a:p>
              <a:endParaRPr lang="it-IT"/>
            </a:p>
          </p:txBody>
        </p:sp>
        <p:sp>
          <p:nvSpPr>
            <p:cNvPr id="13" name="Text 11"/>
            <p:cNvSpPr/>
            <p:nvPr/>
          </p:nvSpPr>
          <p:spPr>
            <a:xfrm>
              <a:off x="5806440" y="2478024"/>
              <a:ext cx="2377440" cy="146304"/>
            </a:xfrm>
            <a:prstGeom prst="rect">
              <a:avLst/>
            </a:prstGeom>
            <a:noFill/>
            <a:ln/>
          </p:spPr>
          <p:txBody>
            <a:bodyPr wrap="square" lIns="0" tIns="0" rIns="0" bIns="0" rtlCol="0" anchor="ctr">
              <a:normAutofit/>
            </a:bodyPr>
            <a:lstStyle/>
            <a:p>
              <a:pPr marL="0" indent="0" algn="ctr">
                <a:buNone/>
              </a:pPr>
              <a:r>
                <a:rPr lang="en-US" sz="900" b="1" dirty="0">
                  <a:solidFill>
                    <a:srgbClr val="303030"/>
                  </a:solidFill>
                </a:rPr>
                <a:t>TOOLS</a:t>
              </a:r>
              <a:endParaRPr lang="en-US" sz="900" dirty="0">
                <a:solidFill>
                  <a:srgbClr val="303030"/>
                </a:solidFill>
              </a:endParaRPr>
            </a:p>
          </p:txBody>
        </p:sp>
        <p:sp>
          <p:nvSpPr>
            <p:cNvPr id="14" name="Shape 12"/>
            <p:cNvSpPr/>
            <p:nvPr/>
          </p:nvSpPr>
          <p:spPr>
            <a:xfrm>
              <a:off x="8183880" y="2240280"/>
              <a:ext cx="1325880" cy="658368"/>
            </a:xfrm>
            <a:prstGeom prst="rect">
              <a:avLst/>
            </a:prstGeom>
            <a:solidFill>
              <a:srgbClr val="A12A28"/>
            </a:solidFill>
            <a:ln w="19050">
              <a:solidFill>
                <a:srgbClr val="FFFFFF"/>
              </a:solidFill>
              <a:prstDash val="solid"/>
            </a:ln>
          </p:spPr>
          <p:txBody>
            <a:bodyPr/>
            <a:lstStyle/>
            <a:p>
              <a:endParaRPr lang="it-IT"/>
            </a:p>
          </p:txBody>
        </p:sp>
        <p:sp>
          <p:nvSpPr>
            <p:cNvPr id="15" name="Text 13"/>
            <p:cNvSpPr/>
            <p:nvPr/>
          </p:nvSpPr>
          <p:spPr>
            <a:xfrm>
              <a:off x="8183880" y="2478024"/>
              <a:ext cx="1325880" cy="146304"/>
            </a:xfrm>
            <a:prstGeom prst="rect">
              <a:avLst/>
            </a:prstGeom>
            <a:noFill/>
            <a:ln/>
          </p:spPr>
          <p:txBody>
            <a:bodyPr wrap="square" lIns="0" tIns="0" rIns="0" bIns="0" rtlCol="0" anchor="ctr">
              <a:normAutofit/>
            </a:bodyPr>
            <a:lstStyle/>
            <a:p>
              <a:pPr marL="0" indent="0" algn="ctr">
                <a:buNone/>
              </a:pPr>
              <a:r>
                <a:rPr lang="en-US" sz="900" b="1" dirty="0">
                  <a:solidFill>
                    <a:srgbClr val="303030"/>
                  </a:solidFill>
                </a:rPr>
                <a:t>OUTPUT</a:t>
              </a:r>
              <a:endParaRPr lang="en-US" sz="900" dirty="0">
                <a:solidFill>
                  <a:srgbClr val="303030"/>
                </a:solidFill>
              </a:endParaRPr>
            </a:p>
          </p:txBody>
        </p:sp>
        <p:sp>
          <p:nvSpPr>
            <p:cNvPr id="16" name="Text 14"/>
            <p:cNvSpPr/>
            <p:nvPr/>
          </p:nvSpPr>
          <p:spPr>
            <a:xfrm>
              <a:off x="1143000" y="3108960"/>
              <a:ext cx="8366760" cy="201168"/>
            </a:xfrm>
            <a:prstGeom prst="rect">
              <a:avLst/>
            </a:prstGeom>
            <a:noFill/>
            <a:ln/>
          </p:spPr>
          <p:txBody>
            <a:bodyPr wrap="square" lIns="0" tIns="0" rIns="0" bIns="0" rtlCol="0" anchor="ctr"/>
            <a:lstStyle/>
            <a:p>
              <a:pPr marL="0" indent="0" algn="ctr">
                <a:buNone/>
              </a:pPr>
              <a:r>
                <a:rPr lang="en-US" sz="1000" b="1" kern="0" spc="120" dirty="0">
                  <a:solidFill>
                    <a:srgbClr val="526A76"/>
                  </a:solidFill>
                </a:rPr>
                <a:t>tempo end-to-end</a:t>
              </a:r>
              <a:endParaRPr lang="en-US" sz="1000" dirty="0">
                <a:solidFill>
                  <a:srgbClr val="526A76"/>
                </a:solidFill>
              </a:endParaRPr>
            </a:p>
          </p:txBody>
        </p:sp>
        <p:sp>
          <p:nvSpPr>
            <p:cNvPr id="17" name="Shape 15"/>
            <p:cNvSpPr/>
            <p:nvPr/>
          </p:nvSpPr>
          <p:spPr>
            <a:xfrm>
              <a:off x="804672" y="4041648"/>
              <a:ext cx="3401568" cy="1325880"/>
            </a:xfrm>
            <a:prstGeom prst="roundRect">
              <a:avLst>
                <a:gd name="adj" fmla="val 5517"/>
              </a:avLst>
            </a:prstGeom>
            <a:solidFill>
              <a:srgbClr val="FFFFFF"/>
            </a:solidFill>
            <a:ln w="12700">
              <a:solidFill>
                <a:srgbClr val="D6E0E4"/>
              </a:solidFill>
              <a:prstDash val="solid"/>
            </a:ln>
          </p:spPr>
          <p:txBody>
            <a:bodyPr/>
            <a:lstStyle/>
            <a:p>
              <a:endParaRPr lang="it-IT"/>
            </a:p>
          </p:txBody>
        </p:sp>
        <p:sp>
          <p:nvSpPr>
            <p:cNvPr id="18" name="Text 16"/>
            <p:cNvSpPr/>
            <p:nvPr/>
          </p:nvSpPr>
          <p:spPr>
            <a:xfrm>
              <a:off x="1005840" y="4261104"/>
              <a:ext cx="2999232" cy="347472"/>
            </a:xfrm>
            <a:prstGeom prst="rect">
              <a:avLst/>
            </a:prstGeom>
            <a:noFill/>
            <a:ln/>
          </p:spPr>
          <p:txBody>
            <a:bodyPr wrap="square" lIns="0" tIns="0" rIns="0" bIns="0" rtlCol="0" anchor="ctr">
              <a:normAutofit/>
            </a:bodyPr>
            <a:lstStyle/>
            <a:p>
              <a:pPr marL="0" indent="0">
                <a:buNone/>
              </a:pPr>
              <a:r>
                <a:rPr lang="en-US" sz="1500" b="1" dirty="0">
                  <a:solidFill>
                    <a:srgbClr val="173342"/>
                  </a:solidFill>
                </a:rPr>
                <a:t>Più contesto</a:t>
              </a:r>
              <a:endParaRPr lang="en-US" sz="1500" dirty="0">
                <a:solidFill>
                  <a:srgbClr val="173342"/>
                </a:solidFill>
              </a:endParaRPr>
            </a:p>
          </p:txBody>
        </p:sp>
        <p:sp>
          <p:nvSpPr>
            <p:cNvPr id="19" name="Text 17"/>
            <p:cNvSpPr/>
            <p:nvPr/>
          </p:nvSpPr>
          <p:spPr>
            <a:xfrm>
              <a:off x="1005840" y="4727448"/>
              <a:ext cx="2999232" cy="475488"/>
            </a:xfrm>
            <a:prstGeom prst="rect">
              <a:avLst/>
            </a:prstGeom>
            <a:noFill/>
            <a:ln/>
          </p:spPr>
          <p:txBody>
            <a:bodyPr wrap="square" lIns="254" tIns="254" rIns="254" bIns="254" rtlCol="0" anchor="t">
              <a:normAutofit/>
            </a:bodyPr>
            <a:lstStyle/>
            <a:p>
              <a:pPr marL="0" indent="0">
                <a:buNone/>
              </a:pPr>
              <a:r>
                <a:rPr lang="en-US" sz="1150" dirty="0">
                  <a:solidFill>
                    <a:srgbClr val="526A76"/>
                  </a:solidFill>
                </a:rPr>
                <a:t>+ prefill · + costo</a:t>
              </a:r>
            </a:p>
            <a:p>
              <a:pPr marL="0" indent="0">
                <a:buNone/>
              </a:pPr>
              <a:r>
                <a:rPr lang="en-US" sz="1150" dirty="0">
                  <a:solidFill>
                    <a:srgbClr val="526A76"/>
                  </a:solidFill>
                </a:rPr>
                <a:t>ma meno lookup mancanti?</a:t>
              </a:r>
              <a:endParaRPr lang="en-US" sz="1150" dirty="0"/>
            </a:p>
          </p:txBody>
        </p:sp>
        <p:sp>
          <p:nvSpPr>
            <p:cNvPr id="20" name="Shape 18"/>
            <p:cNvSpPr/>
            <p:nvPr/>
          </p:nvSpPr>
          <p:spPr>
            <a:xfrm>
              <a:off x="4626864" y="4041648"/>
              <a:ext cx="3401568" cy="1325880"/>
            </a:xfrm>
            <a:prstGeom prst="roundRect">
              <a:avLst>
                <a:gd name="adj" fmla="val 5517"/>
              </a:avLst>
            </a:prstGeom>
            <a:solidFill>
              <a:srgbClr val="FFFFFF"/>
            </a:solidFill>
            <a:ln w="12700">
              <a:solidFill>
                <a:srgbClr val="D6E0E4"/>
              </a:solidFill>
              <a:prstDash val="solid"/>
            </a:ln>
          </p:spPr>
          <p:txBody>
            <a:bodyPr/>
            <a:lstStyle/>
            <a:p>
              <a:endParaRPr lang="it-IT"/>
            </a:p>
          </p:txBody>
        </p:sp>
        <p:sp>
          <p:nvSpPr>
            <p:cNvPr id="21" name="Text 19"/>
            <p:cNvSpPr/>
            <p:nvPr/>
          </p:nvSpPr>
          <p:spPr>
            <a:xfrm>
              <a:off x="4828032" y="4261104"/>
              <a:ext cx="2999232" cy="347472"/>
            </a:xfrm>
            <a:prstGeom prst="rect">
              <a:avLst/>
            </a:prstGeom>
            <a:noFill/>
            <a:ln/>
          </p:spPr>
          <p:txBody>
            <a:bodyPr wrap="square" lIns="0" tIns="0" rIns="0" bIns="0" rtlCol="0" anchor="ctr">
              <a:normAutofit/>
            </a:bodyPr>
            <a:lstStyle/>
            <a:p>
              <a:pPr marL="0" indent="0">
                <a:buNone/>
              </a:pPr>
              <a:r>
                <a:rPr lang="en-US" sz="1500" b="1" dirty="0">
                  <a:solidFill>
                    <a:srgbClr val="173342"/>
                  </a:solidFill>
                </a:rPr>
                <a:t>Più spiegazione</a:t>
              </a:r>
              <a:endParaRPr lang="en-US" sz="1500" dirty="0">
                <a:solidFill>
                  <a:srgbClr val="173342"/>
                </a:solidFill>
              </a:endParaRPr>
            </a:p>
          </p:txBody>
        </p:sp>
        <p:sp>
          <p:nvSpPr>
            <p:cNvPr id="22" name="Text 20"/>
            <p:cNvSpPr/>
            <p:nvPr/>
          </p:nvSpPr>
          <p:spPr>
            <a:xfrm>
              <a:off x="4828032" y="4727448"/>
              <a:ext cx="2999232" cy="475488"/>
            </a:xfrm>
            <a:prstGeom prst="rect">
              <a:avLst/>
            </a:prstGeom>
            <a:noFill/>
            <a:ln/>
          </p:spPr>
          <p:txBody>
            <a:bodyPr wrap="square" lIns="254" tIns="254" rIns="254" bIns="254" rtlCol="0" anchor="t">
              <a:normAutofit/>
            </a:bodyPr>
            <a:lstStyle/>
            <a:p>
              <a:pPr marL="0" indent="0">
                <a:buNone/>
              </a:pPr>
              <a:r>
                <a:rPr lang="en-US" sz="1150" dirty="0">
                  <a:solidFill>
                    <a:srgbClr val="526A76"/>
                  </a:solidFill>
                </a:rPr>
                <a:t>+ output · + tempo</a:t>
              </a:r>
            </a:p>
            <a:p>
              <a:pPr marL="0" indent="0">
                <a:buNone/>
              </a:pPr>
              <a:r>
                <a:rPr lang="en-US" sz="1150" dirty="0">
                  <a:solidFill>
                    <a:srgbClr val="526A76"/>
                  </a:solidFill>
                </a:rPr>
                <a:t>ma più chiarezza?</a:t>
              </a:r>
              <a:endParaRPr lang="en-US" sz="1150" dirty="0"/>
            </a:p>
          </p:txBody>
        </p:sp>
        <p:sp>
          <p:nvSpPr>
            <p:cNvPr id="23" name="Shape 21"/>
            <p:cNvSpPr/>
            <p:nvPr/>
          </p:nvSpPr>
          <p:spPr>
            <a:xfrm>
              <a:off x="8449056" y="4041648"/>
              <a:ext cx="3401568" cy="1325880"/>
            </a:xfrm>
            <a:prstGeom prst="roundRect">
              <a:avLst>
                <a:gd name="adj" fmla="val 5517"/>
              </a:avLst>
            </a:prstGeom>
            <a:solidFill>
              <a:srgbClr val="FFFFFF"/>
            </a:solidFill>
            <a:ln w="12700">
              <a:solidFill>
                <a:srgbClr val="D6E0E4"/>
              </a:solidFill>
              <a:prstDash val="solid"/>
            </a:ln>
          </p:spPr>
          <p:txBody>
            <a:bodyPr/>
            <a:lstStyle/>
            <a:p>
              <a:endParaRPr lang="it-IT"/>
            </a:p>
          </p:txBody>
        </p:sp>
        <p:sp>
          <p:nvSpPr>
            <p:cNvPr id="24" name="Text 22"/>
            <p:cNvSpPr/>
            <p:nvPr/>
          </p:nvSpPr>
          <p:spPr>
            <a:xfrm>
              <a:off x="8650224" y="4261104"/>
              <a:ext cx="2999232" cy="347472"/>
            </a:xfrm>
            <a:prstGeom prst="rect">
              <a:avLst/>
            </a:prstGeom>
            <a:noFill/>
            <a:ln/>
          </p:spPr>
          <p:txBody>
            <a:bodyPr wrap="square" lIns="0" tIns="0" rIns="0" bIns="0" rtlCol="0" anchor="ctr">
              <a:normAutofit/>
            </a:bodyPr>
            <a:lstStyle/>
            <a:p>
              <a:pPr marL="0" indent="0">
                <a:buNone/>
              </a:pPr>
              <a:r>
                <a:rPr lang="en-US" sz="1500" b="1" dirty="0">
                  <a:solidFill>
                    <a:srgbClr val="173342"/>
                  </a:solidFill>
                </a:rPr>
                <a:t>Più autonomia</a:t>
              </a:r>
              <a:endParaRPr lang="en-US" sz="1500" dirty="0">
                <a:solidFill>
                  <a:srgbClr val="173342"/>
                </a:solidFill>
              </a:endParaRPr>
            </a:p>
          </p:txBody>
        </p:sp>
        <p:sp>
          <p:nvSpPr>
            <p:cNvPr id="25" name="Text 23"/>
            <p:cNvSpPr/>
            <p:nvPr/>
          </p:nvSpPr>
          <p:spPr>
            <a:xfrm>
              <a:off x="8650224" y="4727448"/>
              <a:ext cx="2999232" cy="475488"/>
            </a:xfrm>
            <a:prstGeom prst="rect">
              <a:avLst/>
            </a:prstGeom>
            <a:noFill/>
            <a:ln/>
          </p:spPr>
          <p:txBody>
            <a:bodyPr wrap="square" lIns="254" tIns="254" rIns="254" bIns="254" rtlCol="0" anchor="t">
              <a:normAutofit/>
            </a:bodyPr>
            <a:lstStyle/>
            <a:p>
              <a:pPr marL="0" indent="0">
                <a:buNone/>
              </a:pPr>
              <a:r>
                <a:rPr lang="en-US" sz="1150" dirty="0">
                  <a:solidFill>
                    <a:srgbClr val="526A76"/>
                  </a:solidFill>
                </a:rPr>
                <a:t>+ tool/retry possibili</a:t>
              </a:r>
            </a:p>
            <a:p>
              <a:pPr marL="0" indent="0">
                <a:buNone/>
              </a:pPr>
              <a:r>
                <a:rPr lang="en-US" sz="1150" dirty="0">
                  <a:solidFill>
                    <a:srgbClr val="526A76"/>
                  </a:solidFill>
                </a:rPr>
                <a:t>ma meno handoff umano?</a:t>
              </a:r>
              <a:endParaRPr lang="en-US" sz="1150" dirty="0"/>
            </a:p>
          </p:txBody>
        </p:sp>
        <p:sp>
          <p:nvSpPr>
            <p:cNvPr id="26" name="Text 24"/>
            <p:cNvSpPr/>
            <p:nvPr/>
          </p:nvSpPr>
          <p:spPr>
            <a:xfrm>
              <a:off x="1965960" y="5669280"/>
              <a:ext cx="8321040" cy="274320"/>
            </a:xfrm>
            <a:prstGeom prst="rect">
              <a:avLst/>
            </a:prstGeom>
            <a:noFill/>
            <a:ln/>
          </p:spPr>
          <p:txBody>
            <a:bodyPr wrap="square" lIns="0" tIns="0" rIns="0" bIns="0" rtlCol="0" anchor="ctr"/>
            <a:lstStyle/>
            <a:p>
              <a:pPr marL="0" indent="0" algn="ctr">
                <a:buNone/>
              </a:pPr>
              <a:r>
                <a:rPr lang="en-US" sz="1300" b="1" dirty="0">
                  <a:solidFill>
                    <a:srgbClr val="A12A28"/>
                  </a:solidFill>
                </a:rPr>
                <a:t>Nella demo la “prima risposta” è bufferizzata: non chiamarla TTFT del provider.</a:t>
              </a:r>
              <a:endParaRPr lang="en-US" sz="1300" dirty="0">
                <a:solidFill>
                  <a:srgbClr val="A12A28"/>
                </a:solidFill>
              </a:endParaRPr>
            </a:p>
          </p:txBody>
        </p:sp>
      </p:grpSp>
      <p:sp>
        <p:nvSpPr>
          <p:cNvPr id="27" name="Titolo 26">
            <a:extLst>
              <a:ext uri="{FF2B5EF4-FFF2-40B4-BE49-F238E27FC236}">
                <a16:creationId xmlns:a16="http://schemas.microsoft.com/office/drawing/2014/main" id="{D3C0EF22-4F89-5CC8-C556-839D23468D86}"/>
              </a:ext>
            </a:extLst>
          </p:cNvPr>
          <p:cNvSpPr>
            <a:spLocks noGrp="1"/>
          </p:cNvSpPr>
          <p:nvPr>
            <p:ph type="title"/>
          </p:nvPr>
        </p:nvSpPr>
        <p:spPr>
          <a:xfrm>
            <a:off x="1625600" y="317500"/>
            <a:ext cx="10160000" cy="660400"/>
          </a:xfrm>
        </p:spPr>
        <p:txBody>
          <a:bodyPr>
            <a:normAutofit/>
          </a:bodyPr>
          <a:lstStyle/>
          <a:p>
            <a:r>
              <a:rPr lang="it-IT" sz="2800">
                <a:solidFill>
                  <a:srgbClr val="303030"/>
                </a:solidFill>
                <a:latin typeface="Calibri" panose="020F0502020204030204" pitchFamily="34" charset="0"/>
              </a:rPr>
              <a:t>Prompt lungo: costo certo, latenza da misurare</a:t>
            </a:r>
          </a:p>
        </p:txBody>
      </p:sp>
      <p:sp>
        <p:nvSpPr>
          <p:cNvPr id="30" name="CreatedText_30">
            <a:extLst>
              <a:ext uri="{FF2B5EF4-FFF2-40B4-BE49-F238E27FC236}">
                <a16:creationId xmlns:a16="http://schemas.microsoft.com/office/drawing/2014/main" id="{74523BEA-2CA1-A338-C31C-0F912B057633}"/>
              </a:ext>
            </a:extLst>
          </p:cNvPr>
          <p:cNvSpPr txBox="1"/>
          <p:nvPr/>
        </p:nvSpPr>
        <p:spPr>
          <a:xfrm>
            <a:off x="571500" y="6540500"/>
            <a:ext cx="11201400" cy="190500"/>
          </a:xfrm>
          <a:prstGeom prst="rect">
            <a:avLst/>
          </a:prstGeom>
          <a:noFill/>
        </p:spPr>
        <p:txBody>
          <a:bodyPr vert="horz" wrap="square" lIns="0" tIns="0" rIns="0" bIns="0" rtlCol="0">
            <a:noAutofit/>
          </a:bodyPr>
          <a:lstStyle/>
          <a:p>
            <a:pPr>
              <a:spcAft>
                <a:spcPts val="600"/>
              </a:spcAft>
            </a:pPr>
            <a:r>
              <a:rPr lang="it-IT" sz="900">
                <a:solidFill>
                  <a:srgbClr val="4E5F6E"/>
                </a:solidFill>
                <a:latin typeface="Calibri" panose="020F0502020204030204" pitchFamily="34" charset="0"/>
              </a:rPr>
              <a:t>1nn0vAI · materiale originale · scenario distinto dalla demo Azure Day</a:t>
            </a:r>
          </a:p>
        </p:txBody>
      </p:sp>
    </p:spTree>
    <p:custDataLst>
      <p:tags r:id="rId1"/>
    </p:custDataLst>
    <p:extLst>
      <p:ext uri="{BB962C8B-B14F-4D97-AF65-F5344CB8AC3E}">
        <p14:creationId xmlns:p14="http://schemas.microsoft.com/office/powerpoint/2010/main" val="25480456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LK_SECTION" val="MAIN"/>
</p:tagLst>
</file>

<file path=ppt/tags/tag2.xml><?xml version="1.0" encoding="utf-8"?>
<p:tagLst xmlns:a="http://schemas.openxmlformats.org/drawingml/2006/main" xmlns:r="http://schemas.openxmlformats.org/officeDocument/2006/relationships" xmlns:p="http://schemas.openxmlformats.org/presentationml/2006/main">
  <p:tag name="TALK_SECTION" val="MAIN"/>
</p:tagLst>
</file>

<file path=ppt/tags/tag3.xml><?xml version="1.0" encoding="utf-8"?>
<p:tagLst xmlns:a="http://schemas.openxmlformats.org/drawingml/2006/main" xmlns:r="http://schemas.openxmlformats.org/officeDocument/2006/relationships" xmlns:p="http://schemas.openxmlformats.org/presentationml/2006/main">
  <p:tag name="REVISION" val="FOCUSED_TALK_20261008"/>
  <p:tag name="TALK_SECTION" val="MAIN"/>
</p:tagLst>
</file>

<file path=ppt/tags/tag4.xml><?xml version="1.0" encoding="utf-8"?>
<p:tagLst xmlns:a="http://schemas.openxmlformats.org/drawingml/2006/main" xmlns:r="http://schemas.openxmlformats.org/officeDocument/2006/relationships" xmlns:p="http://schemas.openxmlformats.org/presentationml/2006/main">
  <p:tag name="CREATED_FOR" val="AZURE_DAY_TORINO_2026"/>
  <p:tag name="TALK_SECTION" val="MAIN"/>
</p:tagLst>
</file>

<file path=ppt/tags/tag5.xml><?xml version="1.0" encoding="utf-8"?>
<p:tagLst xmlns:a="http://schemas.openxmlformats.org/drawingml/2006/main" xmlns:r="http://schemas.openxmlformats.org/officeDocument/2006/relationships" xmlns:p="http://schemas.openxmlformats.org/presentationml/2006/main">
  <p:tag name="CREATED_FOR" val="AZURE_DAY_TORINO_2026"/>
  <p:tag name="TALK_SECTION" val="MAIN"/>
</p:tagLst>
</file>

<file path=ppt/tags/tag6.xml><?xml version="1.0" encoding="utf-8"?>
<p:tagLst xmlns:a="http://schemas.openxmlformats.org/drawingml/2006/main" xmlns:r="http://schemas.openxmlformats.org/officeDocument/2006/relationships" xmlns:p="http://schemas.openxmlformats.org/presentationml/2006/main">
  <p:tag name="REVISION" val="FOCUSED_TALK_20261008"/>
  <p:tag name="TALK_SECTION" val="MAIN"/>
</p:tagLst>
</file>

<file path=ppt/tags/tag7.xml><?xml version="1.0" encoding="utf-8"?>
<p:tagLst xmlns:a="http://schemas.openxmlformats.org/drawingml/2006/main" xmlns:r="http://schemas.openxmlformats.org/officeDocument/2006/relationships" xmlns:p="http://schemas.openxmlformats.org/presentationml/2006/main">
  <p:tag name="CREATED_FOR" val="AZURE_DAY_TORINO_2026"/>
  <p:tag name="TALK_SECTION" val="MAIN"/>
</p:tagLst>
</file>

<file path=ppt/tags/tag8.xml><?xml version="1.0" encoding="utf-8"?>
<p:tagLst xmlns:a="http://schemas.openxmlformats.org/drawingml/2006/main" xmlns:r="http://schemas.openxmlformats.org/officeDocument/2006/relationships" xmlns:p="http://schemas.openxmlformats.org/presentationml/2006/main">
  <p:tag name="REVISION" val="FOCUSED_TALK_20261008"/>
  <p:tag name="TALK_SECTION" val="MAIN"/>
</p:tagLst>
</file>

<file path=ppt/tags/tag9.xml><?xml version="1.0" encoding="utf-8"?>
<p:tagLst xmlns:a="http://schemas.openxmlformats.org/drawingml/2006/main" xmlns:r="http://schemas.openxmlformats.org/officeDocument/2006/relationships" xmlns:p="http://schemas.openxmlformats.org/presentationml/2006/main">
  <p:tag name="CREATED_FOR" val="AZURE_DAY_TORINO_2026"/>
  <p:tag name="TALK_SECTION" val="MAIN"/>
</p:tagLst>
</file>

<file path=ppt/tags/tag10.xml><?xml version="1.0" encoding="utf-8"?>
<p:tagLst xmlns:a="http://schemas.openxmlformats.org/drawingml/2006/main" xmlns:r="http://schemas.openxmlformats.org/officeDocument/2006/relationships" xmlns:p="http://schemas.openxmlformats.org/presentationml/2006/main">
  <p:tag name="REVISION" val="FOCUSED_TALK_20261008"/>
  <p:tag name="TALK_SECTION" val="MAIN"/>
</p:tagLst>
</file>

<file path=ppt/tags/tag11.xml><?xml version="1.0" encoding="utf-8"?>
<p:tagLst xmlns:a="http://schemas.openxmlformats.org/drawingml/2006/main" xmlns:r="http://schemas.openxmlformats.org/officeDocument/2006/relationships" xmlns:p="http://schemas.openxmlformats.org/presentationml/2006/main">
  <p:tag name="CREATED_FOR" val="AZURE_DAY_TORINO_2026"/>
  <p:tag name="TALK_SECTION" val="MAIN"/>
</p:tagLst>
</file>

<file path=ppt/tags/tag12.xml><?xml version="1.0" encoding="utf-8"?>
<p:tagLst xmlns:a="http://schemas.openxmlformats.org/drawingml/2006/main" xmlns:r="http://schemas.openxmlformats.org/officeDocument/2006/relationships" xmlns:p="http://schemas.openxmlformats.org/presentationml/2006/main">
  <p:tag name="REVISION" val="FOCUSED_TALK_20261008"/>
  <p:tag name="TALK_SECTION" val="MAIN"/>
</p:tagLst>
</file>

<file path=ppt/tags/tag13.xml><?xml version="1.0" encoding="utf-8"?>
<p:tagLst xmlns:a="http://schemas.openxmlformats.org/drawingml/2006/main" xmlns:r="http://schemas.openxmlformats.org/officeDocument/2006/relationships" xmlns:p="http://schemas.openxmlformats.org/presentationml/2006/main">
  <p:tag name="REVISION" val="FOCUSED_TALK_20261008"/>
  <p:tag name="TALK_SECTION" val="MAIN"/>
</p:tagLst>
</file>

<file path=ppt/tags/tag14.xml><?xml version="1.0" encoding="utf-8"?>
<p:tagLst xmlns:a="http://schemas.openxmlformats.org/drawingml/2006/main" xmlns:r="http://schemas.openxmlformats.org/officeDocument/2006/relationships" xmlns:p="http://schemas.openxmlformats.org/presentationml/2006/main">
  <p:tag name="REVISION" val="FOCUSED_TALK_20261008"/>
  <p:tag name="TALK_SECTION" val="MAIN"/>
</p:tagLst>
</file>

<file path=ppt/tags/tag15.xml><?xml version="1.0" encoding="utf-8"?>
<p:tagLst xmlns:a="http://schemas.openxmlformats.org/drawingml/2006/main" xmlns:r="http://schemas.openxmlformats.org/officeDocument/2006/relationships" xmlns:p="http://schemas.openxmlformats.org/presentationml/2006/main">
  <p:tag name="REVISION" val="FOCUSED_TALK_20261008"/>
  <p:tag name="TALK_SECTION" val="MAIN"/>
</p:tagLst>
</file>

<file path=ppt/tags/tag16.xml><?xml version="1.0" encoding="utf-8"?>
<p:tagLst xmlns:a="http://schemas.openxmlformats.org/drawingml/2006/main" xmlns:r="http://schemas.openxmlformats.org/officeDocument/2006/relationships" xmlns:p="http://schemas.openxmlformats.org/presentationml/2006/main">
  <p:tag name="REVISION" val="FOCUSED_TALK_20261008"/>
  <p:tag name="TALK_SECTION" val="MAIN"/>
</p:tagLst>
</file>

<file path=ppt/tags/tag17.xml><?xml version="1.0" encoding="utf-8"?>
<p:tagLst xmlns:a="http://schemas.openxmlformats.org/drawingml/2006/main" xmlns:r="http://schemas.openxmlformats.org/officeDocument/2006/relationships" xmlns:p="http://schemas.openxmlformats.org/presentationml/2006/main">
  <p:tag name="REVISION" val="FOCUSED_TALK_20261008"/>
  <p:tag name="TALK_SECTION" val="MAIN"/>
</p:tagLst>
</file>

<file path=ppt/tags/tag18.xml><?xml version="1.0" encoding="utf-8"?>
<p:tagLst xmlns:a="http://schemas.openxmlformats.org/drawingml/2006/main" xmlns:r="http://schemas.openxmlformats.org/officeDocument/2006/relationships" xmlns:p="http://schemas.openxmlformats.org/presentationml/2006/main">
  <p:tag name="REVISION" val="FOCUSED_TALK_20261008"/>
  <p:tag name="TALK_SECTION" val="MAIN"/>
</p:tagLst>
</file>

<file path=ppt/tags/tag19.xml><?xml version="1.0" encoding="utf-8"?>
<p:tagLst xmlns:a="http://schemas.openxmlformats.org/drawingml/2006/main" xmlns:r="http://schemas.openxmlformats.org/officeDocument/2006/relationships" xmlns:p="http://schemas.openxmlformats.org/presentationml/2006/main">
  <p:tag name="REVISION" val="FOCUSED_TALK_20261008"/>
  <p:tag name="TALK_SECTION" val="MAIN"/>
</p:tagLst>
</file>

<file path=ppt/tags/tag20.xml><?xml version="1.0" encoding="utf-8"?>
<p:tagLst xmlns:a="http://schemas.openxmlformats.org/drawingml/2006/main" xmlns:r="http://schemas.openxmlformats.org/officeDocument/2006/relationships" xmlns:p="http://schemas.openxmlformats.org/presentationml/2006/main">
  <p:tag name="SOURCE_DECK" val="1NN0VAI TEMPLATE"/>
  <p:tag name="SOURCE_SLIDE" val="16"/>
  <p:tag name="TALK_SECTION" val="MAIN"/>
</p:tagLst>
</file>

<file path=ppt/tags/tag21.xml><?xml version="1.0" encoding="utf-8"?>
<p:tagLst xmlns:a="http://schemas.openxmlformats.org/drawingml/2006/main" xmlns:r="http://schemas.openxmlformats.org/officeDocument/2006/relationships" xmlns:p="http://schemas.openxmlformats.org/presentationml/2006/main">
  <p:tag name="REVISION" val="FOCUSED_TALK_20261008"/>
  <p:tag name="TALK_SECTION" val="MAIN"/>
</p:tagLst>
</file>

<file path=ppt/tags/tag22.xml><?xml version="1.0" encoding="utf-8"?>
<p:tagLst xmlns:a="http://schemas.openxmlformats.org/drawingml/2006/main" xmlns:r="http://schemas.openxmlformats.org/officeDocument/2006/relationships" xmlns:p="http://schemas.openxmlformats.org/presentationml/2006/main">
  <p:tag name="REVISION" val="FOCUSED_TALK_20261008"/>
  <p:tag name="TALK_SECTION" val="MAIN"/>
</p:tagLst>
</file>

<file path=ppt/tags/tag23.xml><?xml version="1.0" encoding="utf-8"?>
<p:tagLst xmlns:a="http://schemas.openxmlformats.org/drawingml/2006/main" xmlns:r="http://schemas.openxmlformats.org/officeDocument/2006/relationships" xmlns:p="http://schemas.openxmlformats.org/presentationml/2006/main">
  <p:tag name="REVISION" val="FOCUSED_TALK_20261008"/>
  <p:tag name="TALK_SECTION" val="MAIN"/>
</p:tagLst>
</file>

<file path=ppt/tags/tag24.xml><?xml version="1.0" encoding="utf-8"?>
<p:tagLst xmlns:a="http://schemas.openxmlformats.org/drawingml/2006/main" xmlns:r="http://schemas.openxmlformats.org/officeDocument/2006/relationships" xmlns:p="http://schemas.openxmlformats.org/presentationml/2006/main">
  <p:tag name="TALK_SECTION" val="MAIN"/>
</p:tagLst>
</file>

<file path=ppt/tags/tag25.xml><?xml version="1.0" encoding="utf-8"?>
<p:tagLst xmlns:a="http://schemas.openxmlformats.org/drawingml/2006/main" xmlns:r="http://schemas.openxmlformats.org/officeDocument/2006/relationships" xmlns:p="http://schemas.openxmlformats.org/presentationml/2006/main">
  <p:tag name="TALK_SECTION" val="MAIN"/>
</p:tagLst>
</file>

<file path=ppt/tags/tag26.xml><?xml version="1.0" encoding="utf-8"?>
<p:tagLst xmlns:a="http://schemas.openxmlformats.org/drawingml/2006/main" xmlns:r="http://schemas.openxmlformats.org/officeDocument/2006/relationships" xmlns:p="http://schemas.openxmlformats.org/presentationml/2006/main">
  <p:tag name="SOURCE_DECK" val="1NN0VAI TEMPLATE"/>
  <p:tag name="SOURCE_SLIDE" val="17"/>
  <p:tag name="TALK_SECTION" val="APPENDIX"/>
</p:tagLst>
</file>

<file path=ppt/tags/tag27.xml><?xml version="1.0" encoding="utf-8"?>
<p:tagLst xmlns:a="http://schemas.openxmlformats.org/drawingml/2006/main" xmlns:r="http://schemas.openxmlformats.org/officeDocument/2006/relationships" xmlns:p="http://schemas.openxmlformats.org/presentationml/2006/main">
  <p:tag name="SOURCE_DECK" val="1NN0VAI TEMPLATE"/>
  <p:tag name="SOURCE_SLIDE" val="18"/>
  <p:tag name="TALK_SECTION" val="APPENDIX"/>
</p:tagLst>
</file>

<file path=ppt/tags/tag28.xml><?xml version="1.0" encoding="utf-8"?>
<p:tagLst xmlns:a="http://schemas.openxmlformats.org/drawingml/2006/main" xmlns:r="http://schemas.openxmlformats.org/officeDocument/2006/relationships" xmlns:p="http://schemas.openxmlformats.org/presentationml/2006/main">
  <p:tag name="SOURCE_DECK" val="1NN0VAI TEMPLATE"/>
  <p:tag name="SOURCE_SLIDE" val="19"/>
  <p:tag name="TALK_SECTION" val="APPENDIX"/>
</p:tagLst>
</file>

<file path=ppt/theme/theme1.xml><?xml version="1.0" encoding="utf-8"?>
<a:theme xmlns:a="http://schemas.openxmlformats.org/drawingml/2006/main" name="1_Personalizza struttur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Tema di Office">
  <a:themeElements>
    <a:clrScheme name="Torino">
      <a:dk1>
        <a:sysClr val="windowText" lastClr="000000"/>
      </a:dk1>
      <a:lt1>
        <a:sysClr val="window" lastClr="FFFFFF"/>
      </a:lt1>
      <a:dk2>
        <a:srgbClr val="44546A"/>
      </a:dk2>
      <a:lt2>
        <a:srgbClr val="E7E6E6"/>
      </a:lt2>
      <a:accent1>
        <a:srgbClr val="EFD485"/>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Personalizza struttur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FD6131E5EFD16140B6B7F4892B3B1EDF" ma:contentTypeVersion="12" ma:contentTypeDescription="Creare un nuovo documento." ma:contentTypeScope="" ma:versionID="63b5c12633394d46a5e8b3cee073cbf0">
  <xsd:schema xmlns:xsd="http://www.w3.org/2001/XMLSchema" xmlns:xs="http://www.w3.org/2001/XMLSchema" xmlns:p="http://schemas.microsoft.com/office/2006/metadata/properties" xmlns:ns2="d8121912-130d-4688-8a96-8cf2c237709c" xmlns:ns3="cef5da91-0831-42fa-860c-d84acea2b669" targetNamespace="http://schemas.microsoft.com/office/2006/metadata/properties" ma:root="true" ma:fieldsID="965fc1106bbd4197a92925fc0676d25d" ns2:_="" ns3:_="">
    <xsd:import namespace="d8121912-130d-4688-8a96-8cf2c237709c"/>
    <xsd:import namespace="cef5da91-0831-42fa-860c-d84acea2b66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121912-130d-4688-8a96-8cf2c23770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Tag immagine" ma:readOnly="false" ma:fieldId="{5cf76f15-5ced-4ddc-b409-7134ff3c332f}" ma:taxonomyMulti="true" ma:sspId="cb3eaf0a-ec7c-4c5b-b578-2d5a923ed711"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ef5da91-0831-42fa-860c-d84acea2b66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9dfd23f-fefb-4f7f-bb4d-3c7d3fc8a426}" ma:internalName="TaxCatchAll" ma:showField="CatchAllData" ma:web="cef5da91-0831-42fa-860c-d84acea2b66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F8E5EFD-CAD4-4277-A6A9-F2D818E316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8121912-130d-4688-8a96-8cf2c237709c"/>
    <ds:schemaRef ds:uri="cef5da91-0831-42fa-860c-d84acea2b6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F878534-5D58-47CF-96A0-6CC00164F916}">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11349</TotalTime>
  <Words>4310</Words>
  <Application>Microsoft Office PowerPoint</Application>
  <PresentationFormat>Widescreen</PresentationFormat>
  <Paragraphs>485</Paragraphs>
  <Slides>34</Slides>
  <Notes>28</Notes>
  <HiddenSlides>3</HiddenSlides>
  <MMClips>0</MMClips>
  <ScaleCrop>false</ScaleCrop>
  <HeadingPairs>
    <vt:vector size="6" baseType="variant">
      <vt:variant>
        <vt:lpstr>Caratteri utilizzati</vt:lpstr>
      </vt:variant>
      <vt:variant>
        <vt:i4>4</vt:i4>
      </vt:variant>
      <vt:variant>
        <vt:lpstr>Tema</vt:lpstr>
      </vt:variant>
      <vt:variant>
        <vt:i4>5</vt:i4>
      </vt:variant>
      <vt:variant>
        <vt:lpstr>Titoli diapositive</vt:lpstr>
      </vt:variant>
      <vt:variant>
        <vt:i4>34</vt:i4>
      </vt:variant>
    </vt:vector>
  </HeadingPairs>
  <TitlesOfParts>
    <vt:vector size="43" baseType="lpstr">
      <vt:lpstr>Aptos</vt:lpstr>
      <vt:lpstr>Arial</vt:lpstr>
      <vt:lpstr>Calibri</vt:lpstr>
      <vt:lpstr>Segoe UI</vt:lpstr>
      <vt:lpstr>1_Personalizza struttura</vt:lpstr>
      <vt:lpstr>4_Tema di Office</vt:lpstr>
      <vt:lpstr>3_Tema di Office</vt:lpstr>
      <vt:lpstr>2_Tema di Office</vt:lpstr>
      <vt:lpstr>Personalizza struttura</vt:lpstr>
      <vt:lpstr>Session Banner - MCP server, A2A, Skill, mamma mia che mal di testAI!</vt:lpstr>
      <vt:lpstr>Event Sponsors</vt:lpstr>
      <vt:lpstr>Presentazione standard di PowerPoint</vt:lpstr>
      <vt:lpstr>Tre domande prima di aggiungere componenti</vt:lpstr>
      <vt:lpstr>Presentazione standard di PowerPoint</vt:lpstr>
      <vt:lpstr>MCP: lʼagente usa uno strumento</vt:lpstr>
      <vt:lpstr>Presentazione standard di PowerPoint</vt:lpstr>
      <vt:lpstr>Presentazione standard di PowerPoint</vt:lpstr>
      <vt:lpstr>A2A: delego un task a uno specialista</vt:lpstr>
      <vt:lpstr>Presentazione standard di PowerPoint</vt:lpstr>
      <vt:lpstr>Presentazione standard di PowerPoint</vt:lpstr>
      <vt:lpstr>Skill: una procedura per lo stesso agente</vt:lpstr>
      <vt:lpstr>Presentazione standard di PowerPoint</vt:lpstr>
      <vt:lpstr>Non sono alternative equivalenti</vt:lpstr>
      <vt:lpstr>Riassumendo</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Un prompt utile è un contratto osservabile</vt:lpstr>
      <vt:lpstr>Presentazione standard di PowerPoint</vt:lpstr>
      <vt:lpstr>Presentazione standard di PowerPoint</vt:lpstr>
      <vt:lpstr>Presentazione standard di PowerPoint</vt:lpstr>
      <vt:lpstr>Questions &amp; Discussion</vt:lpstr>
      <vt:lpstr>Please Vote for This Session</vt:lpstr>
      <vt:lpstr>Input, cache e output non costano allo stesso modo</vt:lpstr>
      <vt:lpstr>La cache premia la stabilità del prefisso</vt:lpstr>
      <vt:lpstr>Prompt lungo: costo certo, latenza da misurare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for MCP server, A2A, Skill, mamma mia che mal di testAI!</dc:title>
  <dc:subject>Conference session: MCP server, A2A, Skill, mamma mia che mal di testAI!</dc:subject>
  <dc:creator>Congiu Luca</dc:creator>
  <cp:lastModifiedBy>Andrea Tosato</cp:lastModifiedBy>
  <cp:revision>53</cp:revision>
  <dcterms:created xsi:type="dcterms:W3CDTF">2019-05-12T19:24:58Z</dcterms:created>
  <dcterms:modified xsi:type="dcterms:W3CDTF">2026-10-10T05:38:30Z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bb815c3-1286-463b-8c37-10c6caafc5c1_Enabled">
    <vt:lpwstr>true</vt:lpwstr>
  </property>
  <property fmtid="{D5CDD505-2E9C-101B-9397-08002B2CF9AE}" pid="3" name="MSIP_Label_3bb815c3-1286-463b-8c37-10c6caafc5c1_SetDate">
    <vt:lpwstr>2025-10-09T22:55:31Z</vt:lpwstr>
  </property>
  <property fmtid="{D5CDD505-2E9C-101B-9397-08002B2CF9AE}" pid="4" name="MSIP_Label_3bb815c3-1286-463b-8c37-10c6caafc5c1_Method">
    <vt:lpwstr>Standard</vt:lpwstr>
  </property>
  <property fmtid="{D5CDD505-2E9C-101B-9397-08002B2CF9AE}" pid="5" name="MSIP_Label_3bb815c3-1286-463b-8c37-10c6caafc5c1_Name">
    <vt:lpwstr>Pubblico</vt:lpwstr>
  </property>
  <property fmtid="{D5CDD505-2E9C-101B-9397-08002B2CF9AE}" pid="6" name="MSIP_Label_3bb815c3-1286-463b-8c37-10c6caafc5c1_SiteId">
    <vt:lpwstr>65a566f1-3ead-40f7-b219-85bff9a7972e</vt:lpwstr>
  </property>
  <property fmtid="{D5CDD505-2E9C-101B-9397-08002B2CF9AE}" pid="7" name="MSIP_Label_3bb815c3-1286-463b-8c37-10c6caafc5c1_ActionId">
    <vt:lpwstr>d5f7cf35-f63a-4f74-9353-d4525a08efea</vt:lpwstr>
  </property>
  <property fmtid="{D5CDD505-2E9C-101B-9397-08002B2CF9AE}" pid="8" name="MSIP_Label_3bb815c3-1286-463b-8c37-10c6caafc5c1_ContentBits">
    <vt:lpwstr>0</vt:lpwstr>
  </property>
  <property fmtid="{D5CDD505-2E9C-101B-9397-08002B2CF9AE}" pid="9" name="MSIP_Label_3bb815c3-1286-463b-8c37-10c6caafc5c1_Tag">
    <vt:lpwstr>50, 3, 0, 1</vt:lpwstr>
  </property>
</Properties>
</file>